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 id="2147483656" r:id="rId5"/>
  </p:sldMasterIdLst>
  <p:notesMasterIdLst>
    <p:notesMasterId r:id="rId37"/>
  </p:notesMasterIdLst>
  <p:sldIdLst>
    <p:sldId id="257" r:id="rId6"/>
    <p:sldId id="258" r:id="rId7"/>
    <p:sldId id="259" r:id="rId8"/>
    <p:sldId id="274" r:id="rId9"/>
    <p:sldId id="275" r:id="rId10"/>
    <p:sldId id="276" r:id="rId11"/>
    <p:sldId id="277" r:id="rId12"/>
    <p:sldId id="278" r:id="rId13"/>
    <p:sldId id="279" r:id="rId14"/>
    <p:sldId id="280" r:id="rId15"/>
    <p:sldId id="281" r:id="rId16"/>
    <p:sldId id="289" r:id="rId17"/>
    <p:sldId id="290" r:id="rId18"/>
    <p:sldId id="291" r:id="rId19"/>
    <p:sldId id="292" r:id="rId20"/>
    <p:sldId id="293" r:id="rId21"/>
    <p:sldId id="294" r:id="rId22"/>
    <p:sldId id="295" r:id="rId23"/>
    <p:sldId id="296" r:id="rId24"/>
    <p:sldId id="297" r:id="rId25"/>
    <p:sldId id="298" r:id="rId26"/>
    <p:sldId id="299" r:id="rId27"/>
    <p:sldId id="300" r:id="rId28"/>
    <p:sldId id="302" r:id="rId29"/>
    <p:sldId id="303" r:id="rId30"/>
    <p:sldId id="304" r:id="rId31"/>
    <p:sldId id="301" r:id="rId32"/>
    <p:sldId id="270" r:id="rId33"/>
    <p:sldId id="271" r:id="rId34"/>
    <p:sldId id="272" r:id="rId35"/>
    <p:sldId id="273" r:id="rId36"/>
  </p:sldIdLst>
  <p:sldSz cx="12192000" cy="6858000"/>
  <p:notesSz cx="6858000" cy="9144000"/>
  <p:embeddedFontLst>
    <p:embeddedFont>
      <p:font typeface="Calibri" panose="020F0502020204030204" pitchFamily="34" charset="0"/>
      <p:regular r:id="rId38"/>
      <p:bold r:id="rId39"/>
      <p:italic r:id="rId40"/>
      <p:boldItalic r:id="rId41"/>
    </p:embeddedFont>
    <p:embeddedFont>
      <p:font typeface="Open Sans" panose="020B0604020202020204" charset="0"/>
      <p:regular r:id="rId42"/>
      <p:bold r:id="rId43"/>
      <p:italic r:id="rId44"/>
      <p:boldItalic r:id="rId45"/>
    </p:embeddedFont>
    <p:embeddedFont>
      <p:font typeface="Proxima Nova Black" panose="020B0604020202020204" charset="0"/>
      <p:bold r:id="rId46"/>
    </p:embeddedFont>
    <p:embeddedFont>
      <p:font typeface="Verdana" panose="020B0604030504040204" pitchFamily="34" charset="0"/>
      <p:regular r:id="rId47"/>
      <p:bold r:id="rId48"/>
      <p:italic r:id="rId49"/>
      <p:boldItalic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taliy Tkachuk" initials="VT" lastIdx="1" clrIdx="0">
    <p:extLst>
      <p:ext uri="{19B8F6BF-5375-455C-9EA6-DF929625EA0E}">
        <p15:presenceInfo xmlns:p15="http://schemas.microsoft.com/office/powerpoint/2012/main" userId="Vitaliy Tkachu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7456" autoAdjust="0"/>
  </p:normalViewPr>
  <p:slideViewPr>
    <p:cSldViewPr snapToGrid="0">
      <p:cViewPr varScale="1">
        <p:scale>
          <a:sx n="58" d="100"/>
          <a:sy n="58" d="100"/>
        </p:scale>
        <p:origin x="1646" y="8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2.fntdata"/><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font" Target="fonts/font1.fntdata"/><Relationship Id="rId46" Type="http://schemas.openxmlformats.org/officeDocument/2006/relationships/font" Target="fonts/font9.fntdata"/><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font" Target="fonts/font4.fntdata"/><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12.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7.fntdata"/><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3.xml"/><Relationship Id="rId51" Type="http://schemas.openxmlformats.org/officeDocument/2006/relationships/commentAuthors" Target="commentAuthors.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F06F39-0A18-46B4-9A36-1E720CA1A9D1}" type="datetimeFigureOut">
              <a:rPr lang="en-US" smtClean="0"/>
              <a:t>4/29/2019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4A2B90-4082-4F7F-9653-300136045793}" type="slidenum">
              <a:rPr lang="en-US" smtClean="0"/>
              <a:t>‹#›</a:t>
            </a:fld>
            <a:endParaRPr lang="en-US"/>
          </a:p>
        </p:txBody>
      </p:sp>
    </p:spTree>
    <p:extLst>
      <p:ext uri="{BB962C8B-B14F-4D97-AF65-F5344CB8AC3E}">
        <p14:creationId xmlns:p14="http://schemas.microsoft.com/office/powerpoint/2010/main" val="3110733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Environments</a:t>
            </a:r>
            <a:r>
              <a:rPr lang="en-US" sz="1200" b="0" i="0" kern="1200" dirty="0">
                <a:solidFill>
                  <a:schemeClr val="tx1"/>
                </a:solidFill>
                <a:effectLst/>
                <a:latin typeface="+mn-lt"/>
                <a:ea typeface="+mn-ea"/>
                <a:cs typeface="+mn-cs"/>
              </a:rPr>
              <a:t> - which environments your script is designed to run in. Each environment brings with it a certain set of predefined global variables.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Rules</a:t>
            </a:r>
            <a:r>
              <a:rPr lang="en-US" sz="1200" b="0" i="0" kern="1200" dirty="0">
                <a:solidFill>
                  <a:schemeClr val="tx1"/>
                </a:solidFill>
                <a:effectLst/>
                <a:latin typeface="+mn-lt"/>
                <a:ea typeface="+mn-ea"/>
                <a:cs typeface="+mn-cs"/>
              </a:rPr>
              <a:t> - which rules are enabled and at what error level.</a:t>
            </a:r>
          </a:p>
          <a:p>
            <a:endParaRPr lang="en-US" dirty="0"/>
          </a:p>
          <a:p>
            <a:endParaRPr lang="en-US" dirty="0"/>
          </a:p>
          <a:p>
            <a:r>
              <a:rPr lang="en-US" sz="1200" b="0" i="0" kern="1200" dirty="0">
                <a:solidFill>
                  <a:schemeClr val="tx1"/>
                </a:solidFill>
                <a:effectLst/>
                <a:latin typeface="+mn-lt"/>
                <a:ea typeface="+mn-ea"/>
                <a:cs typeface="+mn-cs"/>
              </a:rPr>
              <a:t>An environment defines global variables that are predefined. The available environments are:</a:t>
            </a:r>
          </a:p>
          <a:p>
            <a:r>
              <a:rPr lang="en-US" sz="1200" b="0" i="0" kern="1200" dirty="0">
                <a:solidFill>
                  <a:schemeClr val="tx1"/>
                </a:solidFill>
                <a:effectLst/>
                <a:latin typeface="+mn-lt"/>
                <a:ea typeface="+mn-ea"/>
                <a:cs typeface="+mn-cs"/>
              </a:rPr>
              <a:t>browser - browser global variables.</a:t>
            </a:r>
          </a:p>
          <a:p>
            <a:r>
              <a:rPr lang="en-US" sz="1200" b="0" i="0" kern="1200" dirty="0">
                <a:solidFill>
                  <a:schemeClr val="tx1"/>
                </a:solidFill>
                <a:effectLst/>
                <a:latin typeface="+mn-lt"/>
                <a:ea typeface="+mn-ea"/>
                <a:cs typeface="+mn-cs"/>
              </a:rPr>
              <a:t>node - Node.js global variables and Node.js scoping.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es6 - enable all ECMAScript 6 features except for modules (this automatically sets the </a:t>
            </a:r>
            <a:r>
              <a:rPr lang="en-US" sz="1200" b="0" i="0" kern="1200" dirty="0" err="1">
                <a:solidFill>
                  <a:schemeClr val="tx1"/>
                </a:solidFill>
                <a:effectLst/>
                <a:latin typeface="+mn-lt"/>
                <a:ea typeface="+mn-ea"/>
                <a:cs typeface="+mn-cs"/>
              </a:rPr>
              <a:t>ecmaVersion</a:t>
            </a:r>
            <a:r>
              <a:rPr lang="en-US" sz="1200" b="0" i="0" kern="1200" dirty="0">
                <a:solidFill>
                  <a:schemeClr val="tx1"/>
                </a:solidFill>
                <a:effectLst/>
                <a:latin typeface="+mn-lt"/>
                <a:ea typeface="+mn-ea"/>
                <a:cs typeface="+mn-cs"/>
              </a:rPr>
              <a:t> parser option to 6).</a:t>
            </a:r>
          </a:p>
          <a:p>
            <a:endParaRPr lang="en-US" dirty="0"/>
          </a:p>
          <a:p>
            <a:r>
              <a:rPr lang="en-US" dirty="0"/>
              <a:t>MORE: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jest - Jest global variables.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mocha - adds all of the Mocha testing global variables.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jquery</a:t>
            </a:r>
            <a:r>
              <a:rPr lang="en-US" sz="1200" b="0" i="0" kern="1200" dirty="0">
                <a:solidFill>
                  <a:schemeClr val="tx1"/>
                </a:solidFill>
                <a:effectLst/>
                <a:latin typeface="+mn-lt"/>
                <a:ea typeface="+mn-ea"/>
                <a:cs typeface="+mn-cs"/>
              </a:rPr>
              <a:t> - jQuery global variables.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mongo - MongoDB global variables.</a:t>
            </a:r>
          </a:p>
          <a:p>
            <a:endParaRPr lang="en-US" dirty="0"/>
          </a:p>
          <a:p>
            <a:endParaRPr lang="en-US" dirty="0"/>
          </a:p>
          <a:p>
            <a:r>
              <a:rPr lang="en-US" dirty="0"/>
              <a:t>It is also possible to download style rule sets from the web and extend them instead. See http://eslint.org/docs/user-guide/getting-started for more details about installation.</a:t>
            </a:r>
          </a:p>
          <a:p>
            <a:r>
              <a:rPr lang="en-US" dirty="0"/>
              <a:t>Also certain IDEs have built-in linting, which is convenient but not as customizable as </a:t>
            </a:r>
            <a:r>
              <a:rPr lang="en-US" dirty="0" err="1"/>
              <a:t>ESLint</a:t>
            </a:r>
            <a:r>
              <a:rPr lang="en-US" dirty="0"/>
              <a:t>.</a:t>
            </a:r>
          </a:p>
        </p:txBody>
      </p:sp>
      <p:sp>
        <p:nvSpPr>
          <p:cNvPr id="4" name="Slide Number Placeholder 3"/>
          <p:cNvSpPr>
            <a:spLocks noGrp="1"/>
          </p:cNvSpPr>
          <p:nvPr>
            <p:ph type="sldNum" sz="quarter" idx="5"/>
          </p:nvPr>
        </p:nvSpPr>
        <p:spPr/>
        <p:txBody>
          <a:bodyPr/>
          <a:lstStyle/>
          <a:p>
            <a:fld id="{B24A2B90-4082-4F7F-9653-300136045793}" type="slidenum">
              <a:rPr lang="en-US" smtClean="0"/>
              <a:t>27</a:t>
            </a:fld>
            <a:endParaRPr lang="en-US"/>
          </a:p>
        </p:txBody>
      </p:sp>
    </p:spTree>
    <p:extLst>
      <p:ext uri="{BB962C8B-B14F-4D97-AF65-F5344CB8AC3E}">
        <p14:creationId xmlns:p14="http://schemas.microsoft.com/office/powerpoint/2010/main" val="11280187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SLIDE-DARK-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08308" y="174928"/>
            <a:ext cx="12390783" cy="6683071"/>
          </a:xfrm>
          <a:prstGeom prst="rect">
            <a:avLst/>
          </a:prstGeom>
        </p:spPr>
        <p:txBody>
          <a:bodyPr anchor="t">
            <a:noAutofit/>
          </a:bodyPr>
          <a:lstStyle>
            <a:lvl1pPr>
              <a:lnSpc>
                <a:spcPts val="11000"/>
              </a:lnSpc>
              <a:defRPr sz="15000">
                <a:latin typeface="Proxima Nova Black" panose="02000506030000020004" pitchFamily="50" charset="0"/>
              </a:defRPr>
            </a:lvl1pPr>
          </a:lstStyle>
          <a:p>
            <a:r>
              <a:rPr lang="en-US" dirty="0"/>
              <a:t>TITLE</a:t>
            </a:r>
            <a:br>
              <a:rPr lang="uk-UA" dirty="0"/>
            </a:br>
            <a:r>
              <a:rPr lang="en-US" dirty="0"/>
              <a:t>TO</a:t>
            </a:r>
            <a:r>
              <a:rPr lang="uk-UA" dirty="0"/>
              <a:t> </a:t>
            </a:r>
            <a:r>
              <a:rPr lang="en-US" dirty="0"/>
              <a:t>BE</a:t>
            </a:r>
            <a:r>
              <a:rPr lang="uk-UA" dirty="0"/>
              <a:t> </a:t>
            </a:r>
            <a:r>
              <a:rPr lang="en-US" dirty="0"/>
              <a:t>CAPI</a:t>
            </a:r>
            <a:br>
              <a:rPr lang="uk-UA" dirty="0"/>
            </a:br>
            <a:r>
              <a:rPr lang="en-US" dirty="0"/>
              <a:t>TALIZED</a:t>
            </a:r>
          </a:p>
        </p:txBody>
      </p:sp>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by Speaker</a:t>
            </a:r>
          </a:p>
        </p:txBody>
      </p:sp>
    </p:spTree>
    <p:extLst>
      <p:ext uri="{BB962C8B-B14F-4D97-AF65-F5344CB8AC3E}">
        <p14:creationId xmlns:p14="http://schemas.microsoft.com/office/powerpoint/2010/main" val="570751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SLIDE-DARK-2">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latin typeface="Proxima Nova Black" panose="02000506030000020004" pitchFamily="50" charset="0"/>
              </a:defRPr>
            </a:lvl1pPr>
          </a:lstStyle>
          <a:p>
            <a:r>
              <a:rPr lang="en-US" dirty="0"/>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by Speaker</a:t>
            </a:r>
          </a:p>
        </p:txBody>
      </p:sp>
    </p:spTree>
    <p:extLst>
      <p:ext uri="{BB962C8B-B14F-4D97-AF65-F5344CB8AC3E}">
        <p14:creationId xmlns:p14="http://schemas.microsoft.com/office/powerpoint/2010/main" val="966486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ONE-COLUMN-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254637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TWO-COLUMNS-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1977726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THREE-COLUMNS-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660443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DESCRIPTION-SIDETEXT-DARK">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607881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IDETEXT-PROCESS-DARK">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77043"/>
            <a:ext cx="7124700" cy="2051957"/>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85800" y="1377043"/>
            <a:ext cx="3467100" cy="2051957"/>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4" name="Oval 3"/>
          <p:cNvSpPr/>
          <p:nvPr userDrawn="1"/>
        </p:nvSpPr>
        <p:spPr>
          <a:xfrm>
            <a:off x="917664"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userDrawn="1"/>
        </p:nvSpPr>
        <p:spPr>
          <a:xfrm>
            <a:off x="3113586"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userDrawn="1"/>
        </p:nvSpPr>
        <p:spPr>
          <a:xfrm>
            <a:off x="5309508"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userDrawn="1"/>
        </p:nvSpPr>
        <p:spPr>
          <a:xfrm>
            <a:off x="7505429"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userDrawn="1"/>
        </p:nvSpPr>
        <p:spPr>
          <a:xfrm>
            <a:off x="9701348" y="3638007"/>
            <a:ext cx="1598024" cy="1598024"/>
          </a:xfrm>
          <a:prstGeom prst="ellipse">
            <a:avLst/>
          </a:prstGeom>
          <a:noFill/>
          <a:ln w="28575">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p:nvPr userDrawn="1"/>
        </p:nvCxnSpPr>
        <p:spPr>
          <a:xfrm>
            <a:off x="2700337"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userDrawn="1"/>
        </p:nvCxnSpPr>
        <p:spPr>
          <a:xfrm>
            <a:off x="4896259"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userDrawn="1"/>
        </p:nvCxnSpPr>
        <p:spPr>
          <a:xfrm>
            <a:off x="7092181"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userDrawn="1"/>
        </p:nvCxnSpPr>
        <p:spPr>
          <a:xfrm>
            <a:off x="9288101"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sp>
        <p:nvSpPr>
          <p:cNvPr id="20" name="Text Placeholder 6"/>
          <p:cNvSpPr>
            <a:spLocks noGrp="1"/>
          </p:cNvSpPr>
          <p:nvPr>
            <p:ph type="body" sz="quarter" idx="13" hasCustomPrompt="1"/>
          </p:nvPr>
        </p:nvSpPr>
        <p:spPr>
          <a:xfrm>
            <a:off x="1045028"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2" name="Text Placeholder 6"/>
          <p:cNvSpPr>
            <a:spLocks noGrp="1"/>
          </p:cNvSpPr>
          <p:nvPr>
            <p:ph type="body" sz="quarter" idx="14" hasCustomPrompt="1"/>
          </p:nvPr>
        </p:nvSpPr>
        <p:spPr>
          <a:xfrm>
            <a:off x="3247481"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3" name="Text Placeholder 6"/>
          <p:cNvSpPr>
            <a:spLocks noGrp="1"/>
          </p:cNvSpPr>
          <p:nvPr>
            <p:ph type="body" sz="quarter" idx="15" hasCustomPrompt="1"/>
          </p:nvPr>
        </p:nvSpPr>
        <p:spPr>
          <a:xfrm>
            <a:off x="5433605"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4" name="Text Placeholder 6"/>
          <p:cNvSpPr>
            <a:spLocks noGrp="1"/>
          </p:cNvSpPr>
          <p:nvPr>
            <p:ph type="body" sz="quarter" idx="16" hasCustomPrompt="1"/>
          </p:nvPr>
        </p:nvSpPr>
        <p:spPr>
          <a:xfrm>
            <a:off x="7639324"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5" name="Text Placeholder 6"/>
          <p:cNvSpPr>
            <a:spLocks noGrp="1"/>
          </p:cNvSpPr>
          <p:nvPr>
            <p:ph type="body" sz="quarter" idx="17" hasCustomPrompt="1"/>
          </p:nvPr>
        </p:nvSpPr>
        <p:spPr>
          <a:xfrm>
            <a:off x="9825445"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6" name="TextBox 25"/>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562363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TIMELINE-DARK">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cxnSp>
        <p:nvCxnSpPr>
          <p:cNvPr id="6" name="Straight Connector 5"/>
          <p:cNvCxnSpPr/>
          <p:nvPr userDrawn="1"/>
        </p:nvCxnSpPr>
        <p:spPr>
          <a:xfrm>
            <a:off x="-28575" y="2743200"/>
            <a:ext cx="12252960" cy="0"/>
          </a:xfrm>
          <a:prstGeom prst="line">
            <a:avLst/>
          </a:prstGeom>
          <a:ln w="19050">
            <a:solidFill>
              <a:schemeClr val="bg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 name="Oval 6"/>
          <p:cNvSpPr/>
          <p:nvPr userDrawn="1"/>
        </p:nvSpPr>
        <p:spPr>
          <a:xfrm>
            <a:off x="6172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userDrawn="1"/>
        </p:nvSpPr>
        <p:spPr>
          <a:xfrm>
            <a:off x="28270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userDrawn="1"/>
        </p:nvSpPr>
        <p:spPr>
          <a:xfrm>
            <a:off x="50368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userDrawn="1"/>
        </p:nvSpPr>
        <p:spPr>
          <a:xfrm>
            <a:off x="72466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userDrawn="1"/>
        </p:nvSpPr>
        <p:spPr>
          <a:xfrm>
            <a:off x="9456420" y="2674620"/>
            <a:ext cx="137160" cy="137160"/>
          </a:xfrm>
          <a:prstGeom prst="ellipse">
            <a:avLst/>
          </a:prstGeom>
          <a:solidFill>
            <a:schemeClr val="bg1">
              <a:lumMod val="65000"/>
              <a:lumOff val="35000"/>
            </a:schemeClr>
          </a:solidFill>
          <a:ln>
            <a:solidFill>
              <a:schemeClr val="bg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 Placeholder 6"/>
          <p:cNvSpPr>
            <a:spLocks noGrp="1"/>
          </p:cNvSpPr>
          <p:nvPr>
            <p:ph type="body" sz="quarter" idx="18" hasCustomPrompt="1"/>
          </p:nvPr>
        </p:nvSpPr>
        <p:spPr>
          <a:xfrm>
            <a:off x="28956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1" name="Text Placeholder 6"/>
          <p:cNvSpPr>
            <a:spLocks noGrp="1"/>
          </p:cNvSpPr>
          <p:nvPr>
            <p:ph type="body" sz="quarter" idx="19" hasCustomPrompt="1"/>
          </p:nvPr>
        </p:nvSpPr>
        <p:spPr>
          <a:xfrm>
            <a:off x="5114925"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2" name="Text Placeholder 6"/>
          <p:cNvSpPr>
            <a:spLocks noGrp="1"/>
          </p:cNvSpPr>
          <p:nvPr>
            <p:ph type="body" sz="quarter" idx="20" hasCustomPrompt="1"/>
          </p:nvPr>
        </p:nvSpPr>
        <p:spPr>
          <a:xfrm>
            <a:off x="73152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3" name="Text Placeholder 6"/>
          <p:cNvSpPr>
            <a:spLocks noGrp="1"/>
          </p:cNvSpPr>
          <p:nvPr>
            <p:ph type="body" sz="quarter" idx="21" hasCustomPrompt="1"/>
          </p:nvPr>
        </p:nvSpPr>
        <p:spPr>
          <a:xfrm>
            <a:off x="9534525" y="207645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4" name="Text Placeholder 6"/>
          <p:cNvSpPr>
            <a:spLocks noGrp="1"/>
          </p:cNvSpPr>
          <p:nvPr>
            <p:ph type="body" sz="quarter" idx="12" hasCustomPrompt="1"/>
          </p:nvPr>
        </p:nvSpPr>
        <p:spPr>
          <a:xfrm>
            <a:off x="6858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5" name="Text Placeholder 6"/>
          <p:cNvSpPr>
            <a:spLocks noGrp="1"/>
          </p:cNvSpPr>
          <p:nvPr>
            <p:ph type="body" sz="quarter" idx="22" hasCustomPrompt="1"/>
          </p:nvPr>
        </p:nvSpPr>
        <p:spPr>
          <a:xfrm>
            <a:off x="28956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6" name="Text Placeholder 6"/>
          <p:cNvSpPr>
            <a:spLocks noGrp="1"/>
          </p:cNvSpPr>
          <p:nvPr>
            <p:ph type="body" sz="quarter" idx="23" hasCustomPrompt="1"/>
          </p:nvPr>
        </p:nvSpPr>
        <p:spPr>
          <a:xfrm>
            <a:off x="511492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7" name="Text Placeholder 6"/>
          <p:cNvSpPr>
            <a:spLocks noGrp="1"/>
          </p:cNvSpPr>
          <p:nvPr>
            <p:ph type="body" sz="quarter" idx="24" hasCustomPrompt="1"/>
          </p:nvPr>
        </p:nvSpPr>
        <p:spPr>
          <a:xfrm>
            <a:off x="73152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8" name="Text Placeholder 6"/>
          <p:cNvSpPr>
            <a:spLocks noGrp="1"/>
          </p:cNvSpPr>
          <p:nvPr>
            <p:ph type="body" sz="quarter" idx="25" hasCustomPrompt="1"/>
          </p:nvPr>
        </p:nvSpPr>
        <p:spPr>
          <a:xfrm>
            <a:off x="951547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9" name="TextBox 3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986282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HOTO-RIGHT-DARK">
    <p:spTree>
      <p:nvGrpSpPr>
        <p:cNvPr id="1" name=""/>
        <p:cNvGrpSpPr/>
        <p:nvPr/>
      </p:nvGrpSpPr>
      <p:grpSpPr>
        <a:xfrm>
          <a:off x="0" y="0"/>
          <a:ext cx="0" cy="0"/>
          <a:chOff x="0" y="0"/>
          <a:chExt cx="0" cy="0"/>
        </a:xfrm>
      </p:grpSpPr>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19" name="Text Placeholder 6"/>
          <p:cNvSpPr>
            <a:spLocks noGrp="1"/>
          </p:cNvSpPr>
          <p:nvPr>
            <p:ph type="body" sz="quarter" idx="10" hasCustomPrompt="1"/>
          </p:nvPr>
        </p:nvSpPr>
        <p:spPr>
          <a:xfrm>
            <a:off x="685800" y="2057400"/>
            <a:ext cx="52959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p:cNvSpPr>
            <a:spLocks noGrp="1"/>
          </p:cNvSpPr>
          <p:nvPr>
            <p:ph type="pic" sz="quarter" idx="11"/>
          </p:nvPr>
        </p:nvSpPr>
        <p:spPr>
          <a:xfrm>
            <a:off x="6219825" y="2057400"/>
            <a:ext cx="5286375" cy="3429000"/>
          </a:xfrm>
          <a:prstGeom prst="rect">
            <a:avLst/>
          </a:prstGeom>
        </p:spPr>
        <p:txBody>
          <a:bodyPr/>
          <a:lstStyle/>
          <a:p>
            <a:r>
              <a:rPr lang="en-US"/>
              <a:t>Click icon to add picture</a:t>
            </a:r>
          </a:p>
        </p:txBody>
      </p:sp>
      <p:sp>
        <p:nvSpPr>
          <p:cNvPr id="22" name="TextBox 21"/>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533767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WIDE-PHOTOT-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CLICK TO EDIT THE TITLE</a:t>
            </a:r>
          </a:p>
        </p:txBody>
      </p:sp>
      <p:sp>
        <p:nvSpPr>
          <p:cNvPr id="4" name="Picture Placeholder 3"/>
          <p:cNvSpPr>
            <a:spLocks noGrp="1"/>
          </p:cNvSpPr>
          <p:nvPr>
            <p:ph type="pic" sz="quarter" idx="10"/>
          </p:nvPr>
        </p:nvSpPr>
        <p:spPr>
          <a:xfrm>
            <a:off x="0" y="2057400"/>
            <a:ext cx="12192000" cy="4800600"/>
          </a:xfrm>
          <a:prstGeom prst="rect">
            <a:avLst/>
          </a:prstGeom>
        </p:spPr>
        <p:txBody>
          <a:bodyPr/>
          <a:lstStyle/>
          <a:p>
            <a:r>
              <a:rPr lang="en-US"/>
              <a:t>Click icon to add picture</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127396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LEFT-DARK">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r>
              <a:rPr lang="en-US"/>
              <a:t>Click icon to add picture</a:t>
            </a:r>
          </a:p>
        </p:txBody>
      </p:sp>
      <p:sp>
        <p:nvSpPr>
          <p:cNvPr id="7" name="TextBox 6"/>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802025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SCRIPTION-PHOTO-RIGHT-DARK">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a:t>
            </a:r>
            <a:r>
              <a:rPr lang="uk-UA" dirty="0"/>
              <a:t> С</a:t>
            </a:r>
            <a:r>
              <a:rPr lang="en-US" dirty="0"/>
              <a:t>APITA</a:t>
            </a:r>
            <a:br>
              <a:rPr lang="uk-UA" dirty="0"/>
            </a:br>
            <a:r>
              <a:rPr lang="en-US" dirty="0"/>
              <a:t>LIZED</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4" name="Picture Placeholder 3"/>
          <p:cNvSpPr>
            <a:spLocks noGrp="1"/>
          </p:cNvSpPr>
          <p:nvPr>
            <p:ph type="pic" sz="quarter" idx="14"/>
          </p:nvPr>
        </p:nvSpPr>
        <p:spPr>
          <a:xfrm>
            <a:off x="4381500" y="1371600"/>
            <a:ext cx="7124700" cy="4114800"/>
          </a:xfrm>
          <a:prstGeom prst="rect">
            <a:avLst/>
          </a:prstGeom>
        </p:spPr>
        <p:txBody>
          <a:bodyPr/>
          <a:lstStyle/>
          <a:p>
            <a:r>
              <a:rPr lang="en-US"/>
              <a:t>Click icon to add picture</a:t>
            </a:r>
          </a:p>
        </p:txBody>
      </p:sp>
      <p:sp>
        <p:nvSpPr>
          <p:cNvPr id="10" name="Text Placeholder 6"/>
          <p:cNvSpPr>
            <a:spLocks noGrp="1"/>
          </p:cNvSpPr>
          <p:nvPr>
            <p:ph type="body" sz="quarter" idx="12" hasCustomPrompt="1"/>
          </p:nvPr>
        </p:nvSpPr>
        <p:spPr>
          <a:xfrm>
            <a:off x="685800" y="3429000"/>
            <a:ext cx="3467100" cy="2057400"/>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Tree>
    <p:extLst>
      <p:ext uri="{BB962C8B-B14F-4D97-AF65-F5344CB8AC3E}">
        <p14:creationId xmlns:p14="http://schemas.microsoft.com/office/powerpoint/2010/main" val="37345149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IDE-CHART-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5" name="Chart Placeholder 4"/>
          <p:cNvSpPr>
            <a:spLocks noGrp="1"/>
          </p:cNvSpPr>
          <p:nvPr>
            <p:ph type="chart" sz="quarter" idx="11"/>
          </p:nvPr>
        </p:nvSpPr>
        <p:spPr>
          <a:xfrm>
            <a:off x="685800" y="2057400"/>
            <a:ext cx="10820400" cy="3429000"/>
          </a:xfrm>
          <a:prstGeom prst="rect">
            <a:avLst/>
          </a:prstGeom>
        </p:spPr>
        <p:txBody>
          <a:bodyPr/>
          <a:lstStyle/>
          <a:p>
            <a:r>
              <a:rPr lang="en-US"/>
              <a:t>Click icon to add chart</a:t>
            </a:r>
          </a:p>
        </p:txBody>
      </p:sp>
    </p:spTree>
    <p:extLst>
      <p:ext uri="{BB962C8B-B14F-4D97-AF65-F5344CB8AC3E}">
        <p14:creationId xmlns:p14="http://schemas.microsoft.com/office/powerpoint/2010/main" val="16854359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RT-LEFT-DARK">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10" name="Text Placeholder 6"/>
          <p:cNvSpPr>
            <a:spLocks noGrp="1"/>
          </p:cNvSpPr>
          <p:nvPr>
            <p:ph type="body" sz="quarter" idx="12" hasCustomPrompt="1"/>
          </p:nvPr>
        </p:nvSpPr>
        <p:spPr>
          <a:xfrm>
            <a:off x="685800" y="3429000"/>
            <a:ext cx="3467100" cy="2057400"/>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5" name="Chart Placeholder 4"/>
          <p:cNvSpPr>
            <a:spLocks noGrp="1"/>
          </p:cNvSpPr>
          <p:nvPr>
            <p:ph type="chart" sz="quarter" idx="13"/>
          </p:nvPr>
        </p:nvSpPr>
        <p:spPr>
          <a:xfrm>
            <a:off x="4381500" y="1371600"/>
            <a:ext cx="7124700" cy="4114800"/>
          </a:xfrm>
          <a:prstGeom prst="rect">
            <a:avLst/>
          </a:prstGeom>
        </p:spPr>
        <p:txBody>
          <a:bodyPr/>
          <a:lstStyle/>
          <a:p>
            <a:r>
              <a:rPr lang="en-US"/>
              <a:t>Click icon to add chart</a:t>
            </a:r>
          </a:p>
        </p:txBody>
      </p:sp>
    </p:spTree>
    <p:extLst>
      <p:ext uri="{BB962C8B-B14F-4D97-AF65-F5344CB8AC3E}">
        <p14:creationId xmlns:p14="http://schemas.microsoft.com/office/powerpoint/2010/main" val="4022539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SLIDE-LIGHT-1">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08308" y="174928"/>
            <a:ext cx="12390783" cy="6683071"/>
          </a:xfrm>
          <a:prstGeom prst="rect">
            <a:avLst/>
          </a:prstGeom>
        </p:spPr>
        <p:txBody>
          <a:bodyPr anchor="t">
            <a:noAutofit/>
          </a:bodyPr>
          <a:lstStyle>
            <a:lvl1pPr>
              <a:lnSpc>
                <a:spcPts val="11000"/>
              </a:lnSpc>
              <a:defRPr sz="15000">
                <a:latin typeface="Proxima Nova Black" panose="02000506030000020004" pitchFamily="50" charset="0"/>
              </a:defRPr>
            </a:lvl1pPr>
          </a:lstStyle>
          <a:p>
            <a:r>
              <a:rPr lang="en-US" dirty="0"/>
              <a:t>TITLE</a:t>
            </a:r>
            <a:br>
              <a:rPr lang="uk-UA" dirty="0"/>
            </a:br>
            <a:r>
              <a:rPr lang="en-US" dirty="0"/>
              <a:t>TO</a:t>
            </a:r>
            <a:r>
              <a:rPr lang="uk-UA" dirty="0"/>
              <a:t> </a:t>
            </a:r>
            <a:r>
              <a:rPr lang="en-US" dirty="0"/>
              <a:t>BE</a:t>
            </a:r>
            <a:r>
              <a:rPr lang="uk-UA" dirty="0"/>
              <a:t> </a:t>
            </a:r>
            <a:r>
              <a:rPr lang="en-US" dirty="0"/>
              <a:t>CAPI</a:t>
            </a:r>
            <a:br>
              <a:rPr lang="uk-UA" dirty="0"/>
            </a:br>
            <a:r>
              <a:rPr lang="en-US" dirty="0"/>
              <a:t>TALIZED</a:t>
            </a:r>
          </a:p>
        </p:txBody>
      </p:sp>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by Speaker</a:t>
            </a:r>
          </a:p>
        </p:txBody>
      </p:sp>
    </p:spTree>
    <p:extLst>
      <p:ext uri="{BB962C8B-B14F-4D97-AF65-F5344CB8AC3E}">
        <p14:creationId xmlns:p14="http://schemas.microsoft.com/office/powerpoint/2010/main" val="42424576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SLIDE-LIGHT-2">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latin typeface="Proxima Nova Black" panose="02000506030000020004" pitchFamily="50" charset="0"/>
              </a:defRPr>
            </a:lvl1pPr>
          </a:lstStyle>
          <a:p>
            <a:r>
              <a:rPr lang="en-US" dirty="0"/>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by Speaker</a:t>
            </a:r>
          </a:p>
        </p:txBody>
      </p:sp>
    </p:spTree>
    <p:extLst>
      <p:ext uri="{BB962C8B-B14F-4D97-AF65-F5344CB8AC3E}">
        <p14:creationId xmlns:p14="http://schemas.microsoft.com/office/powerpoint/2010/main" val="26677534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ONE-COLUMN-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7189386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TWO-COLUMNS-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7701686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THREE-COLUMNS-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141960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DESCRIPTION-SIDETEXT-LIGH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8868973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SIDETEXT-PROCESS-LIGH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77043"/>
            <a:ext cx="7124700" cy="2051957"/>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85800" y="1377043"/>
            <a:ext cx="3467100" cy="2051957"/>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4" name="Oval 3"/>
          <p:cNvSpPr/>
          <p:nvPr userDrawn="1"/>
        </p:nvSpPr>
        <p:spPr>
          <a:xfrm>
            <a:off x="917664"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userDrawn="1"/>
        </p:nvSpPr>
        <p:spPr>
          <a:xfrm>
            <a:off x="3113586"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userDrawn="1"/>
        </p:nvSpPr>
        <p:spPr>
          <a:xfrm>
            <a:off x="5309508"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userDrawn="1"/>
        </p:nvSpPr>
        <p:spPr>
          <a:xfrm>
            <a:off x="7505429"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userDrawn="1"/>
        </p:nvSpPr>
        <p:spPr>
          <a:xfrm>
            <a:off x="9701348" y="3638007"/>
            <a:ext cx="1598024" cy="159802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p:nvPr userDrawn="1"/>
        </p:nvCxnSpPr>
        <p:spPr>
          <a:xfrm>
            <a:off x="2700337"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userDrawn="1"/>
        </p:nvCxnSpPr>
        <p:spPr>
          <a:xfrm>
            <a:off x="4896259"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userDrawn="1"/>
        </p:nvCxnSpPr>
        <p:spPr>
          <a:xfrm>
            <a:off x="7092181"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userDrawn="1"/>
        </p:nvCxnSpPr>
        <p:spPr>
          <a:xfrm>
            <a:off x="9288101" y="4437019"/>
            <a:ext cx="228600" cy="0"/>
          </a:xfrm>
          <a:prstGeom prst="straightConnector1">
            <a:avLst/>
          </a:prstGeom>
          <a:ln w="19050">
            <a:solidFill>
              <a:schemeClr val="bg1">
                <a:lumMod val="65000"/>
                <a:lumOff val="35000"/>
              </a:schemeClr>
            </a:solidFill>
            <a:tailEnd type="arrow" w="lg" len="med"/>
          </a:ln>
        </p:spPr>
        <p:style>
          <a:lnRef idx="1">
            <a:schemeClr val="accent1"/>
          </a:lnRef>
          <a:fillRef idx="0">
            <a:schemeClr val="accent1"/>
          </a:fillRef>
          <a:effectRef idx="0">
            <a:schemeClr val="accent1"/>
          </a:effectRef>
          <a:fontRef idx="minor">
            <a:schemeClr val="tx1"/>
          </a:fontRef>
        </p:style>
      </p:cxnSp>
      <p:sp>
        <p:nvSpPr>
          <p:cNvPr id="20" name="Text Placeholder 6"/>
          <p:cNvSpPr>
            <a:spLocks noGrp="1"/>
          </p:cNvSpPr>
          <p:nvPr>
            <p:ph type="body" sz="quarter" idx="13" hasCustomPrompt="1"/>
          </p:nvPr>
        </p:nvSpPr>
        <p:spPr>
          <a:xfrm>
            <a:off x="1045028"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2" name="Text Placeholder 6"/>
          <p:cNvSpPr>
            <a:spLocks noGrp="1"/>
          </p:cNvSpPr>
          <p:nvPr>
            <p:ph type="body" sz="quarter" idx="14" hasCustomPrompt="1"/>
          </p:nvPr>
        </p:nvSpPr>
        <p:spPr>
          <a:xfrm>
            <a:off x="3247481"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3" name="Text Placeholder 6"/>
          <p:cNvSpPr>
            <a:spLocks noGrp="1"/>
          </p:cNvSpPr>
          <p:nvPr>
            <p:ph type="body" sz="quarter" idx="15" hasCustomPrompt="1"/>
          </p:nvPr>
        </p:nvSpPr>
        <p:spPr>
          <a:xfrm>
            <a:off x="5433605"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4" name="Text Placeholder 6"/>
          <p:cNvSpPr>
            <a:spLocks noGrp="1"/>
          </p:cNvSpPr>
          <p:nvPr>
            <p:ph type="body" sz="quarter" idx="16" hasCustomPrompt="1"/>
          </p:nvPr>
        </p:nvSpPr>
        <p:spPr>
          <a:xfrm>
            <a:off x="7639324"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5" name="Text Placeholder 6"/>
          <p:cNvSpPr>
            <a:spLocks noGrp="1"/>
          </p:cNvSpPr>
          <p:nvPr>
            <p:ph type="body" sz="quarter" idx="17" hasCustomPrompt="1"/>
          </p:nvPr>
        </p:nvSpPr>
        <p:spPr>
          <a:xfrm>
            <a:off x="9825445" y="4040777"/>
            <a:ext cx="1349829" cy="809897"/>
          </a:xfrm>
          <a:prstGeom prst="rect">
            <a:avLst/>
          </a:prstGeom>
        </p:spPr>
        <p:txBody>
          <a:bodyPr lIns="0"/>
          <a:lstStyle>
            <a:lvl1pPr marL="0" indent="0" algn="ctr">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21" name="TextBox 20"/>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874876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TIMELINE-LIGHT">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cxnSp>
        <p:nvCxnSpPr>
          <p:cNvPr id="6" name="Straight Connector 5"/>
          <p:cNvCxnSpPr/>
          <p:nvPr userDrawn="1"/>
        </p:nvCxnSpPr>
        <p:spPr>
          <a:xfrm>
            <a:off x="-28575" y="2743200"/>
            <a:ext cx="122529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p:cNvSpPr/>
          <p:nvPr userDrawn="1"/>
        </p:nvSpPr>
        <p:spPr>
          <a:xfrm>
            <a:off x="6172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userDrawn="1"/>
        </p:nvSpPr>
        <p:spPr>
          <a:xfrm>
            <a:off x="28270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userDrawn="1"/>
        </p:nvSpPr>
        <p:spPr>
          <a:xfrm>
            <a:off x="50368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userDrawn="1"/>
        </p:nvSpPr>
        <p:spPr>
          <a:xfrm>
            <a:off x="72466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userDrawn="1"/>
        </p:nvSpPr>
        <p:spPr>
          <a:xfrm>
            <a:off x="9456420" y="2674620"/>
            <a:ext cx="137160" cy="13716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 Placeholder 6"/>
          <p:cNvSpPr>
            <a:spLocks noGrp="1"/>
          </p:cNvSpPr>
          <p:nvPr>
            <p:ph type="body" sz="quarter" idx="18" hasCustomPrompt="1"/>
          </p:nvPr>
        </p:nvSpPr>
        <p:spPr>
          <a:xfrm>
            <a:off x="28956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1" name="Text Placeholder 6"/>
          <p:cNvSpPr>
            <a:spLocks noGrp="1"/>
          </p:cNvSpPr>
          <p:nvPr>
            <p:ph type="body" sz="quarter" idx="19" hasCustomPrompt="1"/>
          </p:nvPr>
        </p:nvSpPr>
        <p:spPr>
          <a:xfrm>
            <a:off x="5114925"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2" name="Text Placeholder 6"/>
          <p:cNvSpPr>
            <a:spLocks noGrp="1"/>
          </p:cNvSpPr>
          <p:nvPr>
            <p:ph type="body" sz="quarter" idx="20" hasCustomPrompt="1"/>
          </p:nvPr>
        </p:nvSpPr>
        <p:spPr>
          <a:xfrm>
            <a:off x="73152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3" name="Text Placeholder 6"/>
          <p:cNvSpPr>
            <a:spLocks noGrp="1"/>
          </p:cNvSpPr>
          <p:nvPr>
            <p:ph type="body" sz="quarter" idx="21" hasCustomPrompt="1"/>
          </p:nvPr>
        </p:nvSpPr>
        <p:spPr>
          <a:xfrm>
            <a:off x="9534525" y="207645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4" name="Text Placeholder 6"/>
          <p:cNvSpPr>
            <a:spLocks noGrp="1"/>
          </p:cNvSpPr>
          <p:nvPr>
            <p:ph type="body" sz="quarter" idx="12" hasCustomPrompt="1"/>
          </p:nvPr>
        </p:nvSpPr>
        <p:spPr>
          <a:xfrm>
            <a:off x="6858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5" name="Text Placeholder 6"/>
          <p:cNvSpPr>
            <a:spLocks noGrp="1"/>
          </p:cNvSpPr>
          <p:nvPr>
            <p:ph type="body" sz="quarter" idx="22" hasCustomPrompt="1"/>
          </p:nvPr>
        </p:nvSpPr>
        <p:spPr>
          <a:xfrm>
            <a:off x="28956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6" name="Text Placeholder 6"/>
          <p:cNvSpPr>
            <a:spLocks noGrp="1"/>
          </p:cNvSpPr>
          <p:nvPr>
            <p:ph type="body" sz="quarter" idx="23" hasCustomPrompt="1"/>
          </p:nvPr>
        </p:nvSpPr>
        <p:spPr>
          <a:xfrm>
            <a:off x="511492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7" name="Text Placeholder 6"/>
          <p:cNvSpPr>
            <a:spLocks noGrp="1"/>
          </p:cNvSpPr>
          <p:nvPr>
            <p:ph type="body" sz="quarter" idx="24" hasCustomPrompt="1"/>
          </p:nvPr>
        </p:nvSpPr>
        <p:spPr>
          <a:xfrm>
            <a:off x="73152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
        <p:nvSpPr>
          <p:cNvPr id="38" name="Text Placeholder 6"/>
          <p:cNvSpPr>
            <a:spLocks noGrp="1"/>
          </p:cNvSpPr>
          <p:nvPr>
            <p:ph type="body" sz="quarter" idx="25" hasCustomPrompt="1"/>
          </p:nvPr>
        </p:nvSpPr>
        <p:spPr>
          <a:xfrm>
            <a:off x="951547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a:t>
            </a:r>
          </a:p>
        </p:txBody>
      </p:sp>
    </p:spTree>
    <p:extLst>
      <p:ext uri="{BB962C8B-B14F-4D97-AF65-F5344CB8AC3E}">
        <p14:creationId xmlns:p14="http://schemas.microsoft.com/office/powerpoint/2010/main" val="11286899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RIGHT-LIGHT">
    <p:spTree>
      <p:nvGrpSpPr>
        <p:cNvPr id="1" name=""/>
        <p:cNvGrpSpPr/>
        <p:nvPr/>
      </p:nvGrpSpPr>
      <p:grpSpPr>
        <a:xfrm>
          <a:off x="0" y="0"/>
          <a:ext cx="0" cy="0"/>
          <a:chOff x="0" y="0"/>
          <a:chExt cx="0" cy="0"/>
        </a:xfrm>
      </p:grpSpPr>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19" name="Text Placeholder 6"/>
          <p:cNvSpPr>
            <a:spLocks noGrp="1"/>
          </p:cNvSpPr>
          <p:nvPr>
            <p:ph type="body" sz="quarter" idx="10" hasCustomPrompt="1"/>
          </p:nvPr>
        </p:nvSpPr>
        <p:spPr>
          <a:xfrm>
            <a:off x="685800" y="2057400"/>
            <a:ext cx="52959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p:cNvSpPr>
            <a:spLocks noGrp="1"/>
          </p:cNvSpPr>
          <p:nvPr>
            <p:ph type="pic" sz="quarter" idx="11"/>
          </p:nvPr>
        </p:nvSpPr>
        <p:spPr>
          <a:xfrm>
            <a:off x="6219825" y="2057400"/>
            <a:ext cx="5286375" cy="3429000"/>
          </a:xfrm>
          <a:prstGeom prst="rect">
            <a:avLst/>
          </a:prstGeom>
        </p:spPr>
        <p:txBody>
          <a:bodyPr/>
          <a:lstStyle/>
          <a:p>
            <a:endParaRPr lang="en-US"/>
          </a:p>
        </p:txBody>
      </p:sp>
      <p:sp>
        <p:nvSpPr>
          <p:cNvPr id="22" name="TextBox 21"/>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35842787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WIDE-PHOTO-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CLICK TO EDIT THE TITLE</a:t>
            </a:r>
          </a:p>
        </p:txBody>
      </p:sp>
      <p:sp>
        <p:nvSpPr>
          <p:cNvPr id="4" name="Picture Placeholder 3"/>
          <p:cNvSpPr>
            <a:spLocks noGrp="1"/>
          </p:cNvSpPr>
          <p:nvPr>
            <p:ph type="pic" sz="quarter" idx="10"/>
          </p:nvPr>
        </p:nvSpPr>
        <p:spPr>
          <a:xfrm>
            <a:off x="0" y="2057400"/>
            <a:ext cx="12192000" cy="4800600"/>
          </a:xfrm>
          <a:prstGeom prst="rect">
            <a:avLst/>
          </a:prstGeom>
        </p:spPr>
        <p:txBody>
          <a:bodyPr/>
          <a:lstStyle/>
          <a:p>
            <a:endParaRPr lang="en-US"/>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22855464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LEFT-LIGH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endParaRPr lang="en-US"/>
          </a:p>
        </p:txBody>
      </p:sp>
      <p:sp>
        <p:nvSpPr>
          <p:cNvPr id="7" name="TextBox 6"/>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Tree>
    <p:extLst>
      <p:ext uri="{BB962C8B-B14F-4D97-AF65-F5344CB8AC3E}">
        <p14:creationId xmlns:p14="http://schemas.microsoft.com/office/powerpoint/2010/main" val="5590467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ESCRIPTION-PHOTO-RIGHT-LIGHT">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a:t>
            </a:r>
            <a:r>
              <a:rPr lang="uk-UA" dirty="0"/>
              <a:t> С</a:t>
            </a:r>
            <a:r>
              <a:rPr lang="en-US" dirty="0"/>
              <a:t>APITA</a:t>
            </a:r>
            <a:br>
              <a:rPr lang="uk-UA" dirty="0"/>
            </a:br>
            <a:r>
              <a:rPr lang="en-US" dirty="0"/>
              <a:t>LIZED</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4" name="Picture Placeholder 3"/>
          <p:cNvSpPr>
            <a:spLocks noGrp="1"/>
          </p:cNvSpPr>
          <p:nvPr>
            <p:ph type="pic" sz="quarter" idx="14"/>
          </p:nvPr>
        </p:nvSpPr>
        <p:spPr>
          <a:xfrm>
            <a:off x="4381500" y="1371600"/>
            <a:ext cx="7124700" cy="4114800"/>
          </a:xfrm>
          <a:prstGeom prst="rect">
            <a:avLst/>
          </a:prstGeom>
        </p:spPr>
        <p:txBody>
          <a:bodyPr/>
          <a:lstStyle/>
          <a:p>
            <a:endParaRPr lang="en-US"/>
          </a:p>
        </p:txBody>
      </p:sp>
      <p:sp>
        <p:nvSpPr>
          <p:cNvPr id="10" name="Text Placeholder 6"/>
          <p:cNvSpPr>
            <a:spLocks noGrp="1"/>
          </p:cNvSpPr>
          <p:nvPr>
            <p:ph type="body" sz="quarter" idx="12" hasCustomPrompt="1"/>
          </p:nvPr>
        </p:nvSpPr>
        <p:spPr>
          <a:xfrm>
            <a:off x="685800" y="3429000"/>
            <a:ext cx="3467100" cy="2057400"/>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Tree>
    <p:extLst>
      <p:ext uri="{BB962C8B-B14F-4D97-AF65-F5344CB8AC3E}">
        <p14:creationId xmlns:p14="http://schemas.microsoft.com/office/powerpoint/2010/main" val="1780709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WIDE-CHART-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dirty="0"/>
              <a:t>TITLE TO BE CAPITALIZED</a:t>
            </a:r>
          </a:p>
        </p:txBody>
      </p:sp>
      <p:sp>
        <p:nvSpPr>
          <p:cNvPr id="8" name="TextBox 7"/>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5" name="Chart Placeholder 4"/>
          <p:cNvSpPr>
            <a:spLocks noGrp="1"/>
          </p:cNvSpPr>
          <p:nvPr>
            <p:ph type="chart" sz="quarter" idx="11"/>
          </p:nvPr>
        </p:nvSpPr>
        <p:spPr>
          <a:xfrm>
            <a:off x="685800" y="2057400"/>
            <a:ext cx="10820400" cy="3429000"/>
          </a:xfrm>
          <a:prstGeom prst="rect">
            <a:avLst/>
          </a:prstGeom>
        </p:spPr>
        <p:txBody>
          <a:bodyPr/>
          <a:lstStyle/>
          <a:p>
            <a:endParaRPr lang="en-US"/>
          </a:p>
        </p:txBody>
      </p:sp>
    </p:spTree>
    <p:extLst>
      <p:ext uri="{BB962C8B-B14F-4D97-AF65-F5344CB8AC3E}">
        <p14:creationId xmlns:p14="http://schemas.microsoft.com/office/powerpoint/2010/main" val="22989921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HART-LEFT-LIGHT">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dirty="0"/>
              <a:t>TITLE TO</a:t>
            </a:r>
            <a:br>
              <a:rPr lang="uk-UA" dirty="0"/>
            </a:br>
            <a:r>
              <a:rPr lang="en-US" dirty="0"/>
              <a:t>BE CAPITA</a:t>
            </a:r>
            <a:br>
              <a:rPr lang="uk-UA" dirty="0"/>
            </a:br>
            <a:r>
              <a:rPr lang="en-US" dirty="0"/>
              <a:t>LIZED</a:t>
            </a:r>
          </a:p>
        </p:txBody>
      </p:sp>
      <p:sp>
        <p:nvSpPr>
          <p:cNvPr id="9" name="TextBox 8"/>
          <p:cNvSpPr txBox="1"/>
          <p:nvPr userDrawn="1"/>
        </p:nvSpPr>
        <p:spPr>
          <a:xfrm>
            <a:off x="9486900" y="236808"/>
            <a:ext cx="2121626" cy="261610"/>
          </a:xfrm>
          <a:prstGeom prst="rect">
            <a:avLst/>
          </a:prstGeom>
          <a:noFill/>
        </p:spPr>
        <p:txBody>
          <a:bodyPr wrap="square" rtlCol="0">
            <a:spAutoFit/>
          </a:bodyPr>
          <a:lstStyle/>
          <a:p>
            <a:pPr algn="r"/>
            <a:r>
              <a:rPr lang="en-US" sz="1100" dirty="0">
                <a:latin typeface="Open Sans" panose="020B0606030504020204" pitchFamily="34" charset="0"/>
                <a:ea typeface="Open Sans" panose="020B0606030504020204" pitchFamily="34" charset="0"/>
                <a:cs typeface="Open Sans" panose="020B0606030504020204" pitchFamily="34" charset="0"/>
              </a:rPr>
              <a:t>SoftServe Confidential</a:t>
            </a:r>
          </a:p>
        </p:txBody>
      </p:sp>
      <p:sp>
        <p:nvSpPr>
          <p:cNvPr id="10" name="Text Placeholder 6"/>
          <p:cNvSpPr>
            <a:spLocks noGrp="1"/>
          </p:cNvSpPr>
          <p:nvPr>
            <p:ph type="body" sz="quarter" idx="12" hasCustomPrompt="1"/>
          </p:nvPr>
        </p:nvSpPr>
        <p:spPr>
          <a:xfrm>
            <a:off x="685800" y="3429000"/>
            <a:ext cx="3467100" cy="2057400"/>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edit the text </a:t>
            </a:r>
          </a:p>
        </p:txBody>
      </p:sp>
      <p:sp>
        <p:nvSpPr>
          <p:cNvPr id="5" name="Chart Placeholder 4"/>
          <p:cNvSpPr>
            <a:spLocks noGrp="1"/>
          </p:cNvSpPr>
          <p:nvPr>
            <p:ph type="chart" sz="quarter" idx="13"/>
          </p:nvPr>
        </p:nvSpPr>
        <p:spPr>
          <a:xfrm>
            <a:off x="4381500" y="1371600"/>
            <a:ext cx="7124700" cy="4114800"/>
          </a:xfrm>
          <a:prstGeom prst="rect">
            <a:avLst/>
          </a:prstGeom>
        </p:spPr>
        <p:txBody>
          <a:bodyPr/>
          <a:lstStyle/>
          <a:p>
            <a:endParaRPr lang="en-US"/>
          </a:p>
        </p:txBody>
      </p:sp>
    </p:spTree>
    <p:extLst>
      <p:ext uri="{BB962C8B-B14F-4D97-AF65-F5344CB8AC3E}">
        <p14:creationId xmlns:p14="http://schemas.microsoft.com/office/powerpoint/2010/main" val="1310242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image" Target="../media/image3.emf"/><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6"/>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1934738578"/>
      </p:ext>
    </p:extLst>
  </p:cSld>
  <p:clrMap bg1="dk1" tx1="lt1" bg2="dk2" tx2="lt2" accent1="accent1" accent2="accent2" accent3="accent3" accent4="accent4" accent5="accent5" accent6="accent6" hlink="hlink" folHlink="folHlink"/>
  <p:sldLayoutIdLst>
    <p:sldLayoutId id="2147483649" r:id="rId1"/>
    <p:sldLayoutId id="2147483674" r:id="rId2"/>
    <p:sldLayoutId id="2147483652" r:id="rId3"/>
    <p:sldLayoutId id="2147483654" r:id="rId4"/>
    <p:sldLayoutId id="2147483657" r:id="rId5"/>
    <p:sldLayoutId id="2147483661" r:id="rId6"/>
    <p:sldLayoutId id="2147483663" r:id="rId7"/>
    <p:sldLayoutId id="2147483665" r:id="rId8"/>
    <p:sldLayoutId id="2147483667" r:id="rId9"/>
    <p:sldLayoutId id="2147483670" r:id="rId10"/>
    <p:sldLayoutId id="2147483669" r:id="rId11"/>
    <p:sldLayoutId id="2147483671" r:id="rId12"/>
    <p:sldLayoutId id="2147483672" r:id="rId13"/>
    <p:sldLayoutId id="21474836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32" userDrawn="1">
          <p15:clr>
            <a:srgbClr val="F26B43"/>
          </p15:clr>
        </p15:guide>
        <p15:guide id="4" pos="7248" userDrawn="1">
          <p15:clr>
            <a:srgbClr val="F26B43"/>
          </p15:clr>
        </p15:guide>
        <p15:guide id="5" orient="horz" pos="432" userDrawn="1">
          <p15:clr>
            <a:srgbClr val="F26B43"/>
          </p15:clr>
        </p15:guide>
        <p15:guide id="6" orient="horz" pos="864" userDrawn="1">
          <p15:clr>
            <a:srgbClr val="F26B43"/>
          </p15:clr>
        </p15:guide>
        <p15:guide id="7" orient="horz" pos="3456" userDrawn="1">
          <p15:clr>
            <a:srgbClr val="F26B43"/>
          </p15:clr>
        </p15:guide>
        <p15:guide id="8" orient="horz" pos="3888" userDrawn="1">
          <p15:clr>
            <a:srgbClr val="F26B43"/>
          </p15:clr>
        </p15:guide>
        <p15:guide id="9" pos="1680" userDrawn="1">
          <p15:clr>
            <a:srgbClr val="F26B43"/>
          </p15:clr>
        </p15:guide>
        <p15:guide id="10" pos="1824" userDrawn="1">
          <p15:clr>
            <a:srgbClr val="F26B43"/>
          </p15:clr>
        </p15:guide>
        <p15:guide id="11" pos="2616" userDrawn="1">
          <p15:clr>
            <a:srgbClr val="F26B43"/>
          </p15:clr>
        </p15:guide>
        <p15:guide id="12" pos="3072" userDrawn="1">
          <p15:clr>
            <a:srgbClr val="F26B43"/>
          </p15:clr>
        </p15:guide>
        <p15:guide id="13" pos="2760" userDrawn="1">
          <p15:clr>
            <a:srgbClr val="F26B43"/>
          </p15:clr>
        </p15:guide>
        <p15:guide id="14" pos="3216" userDrawn="1">
          <p15:clr>
            <a:srgbClr val="F26B43"/>
          </p15:clr>
        </p15:guide>
        <p15:guide id="15" pos="4464" userDrawn="1">
          <p15:clr>
            <a:srgbClr val="F26B43"/>
          </p15:clr>
        </p15:guide>
        <p15:guide id="16" pos="4608" userDrawn="1">
          <p15:clr>
            <a:srgbClr val="F26B43"/>
          </p15:clr>
        </p15:guide>
        <p15:guide id="17" pos="4920" userDrawn="1">
          <p15:clr>
            <a:srgbClr val="F26B43"/>
          </p15:clr>
        </p15:guide>
        <p15:guide id="18" pos="5064" userDrawn="1">
          <p15:clr>
            <a:srgbClr val="F26B43"/>
          </p15:clr>
        </p15:guide>
        <p15:guide id="19" pos="5856" userDrawn="1">
          <p15:clr>
            <a:srgbClr val="F26B43"/>
          </p15:clr>
        </p15:guide>
        <p15:guide id="20" pos="6000" userDrawn="1">
          <p15:clr>
            <a:srgbClr val="F26B43"/>
          </p15:clr>
        </p15:guide>
        <p15:guide id="21" orient="horz" pos="1296" userDrawn="1">
          <p15:clr>
            <a:srgbClr val="F26B43"/>
          </p15:clr>
        </p15:guide>
        <p15:guide id="22" orient="horz" pos="1728" userDrawn="1">
          <p15:clr>
            <a:srgbClr val="F26B43"/>
          </p15:clr>
        </p15:guide>
        <p15:guide id="23" pos="3768" userDrawn="1">
          <p15:clr>
            <a:srgbClr val="F26B43"/>
          </p15:clr>
        </p15:guide>
        <p15:guide id="24" pos="391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6"/>
          <a:stretch>
            <a:fillRect/>
          </a:stretch>
        </p:blipFill>
        <p:spPr>
          <a:xfrm>
            <a:off x="9959145" y="5906728"/>
            <a:ext cx="1547053" cy="265471"/>
          </a:xfrm>
          <a:prstGeom prst="rect">
            <a:avLst/>
          </a:prstGeom>
        </p:spPr>
      </p:pic>
    </p:spTree>
    <p:extLst>
      <p:ext uri="{BB962C8B-B14F-4D97-AF65-F5344CB8AC3E}">
        <p14:creationId xmlns:p14="http://schemas.microsoft.com/office/powerpoint/2010/main" val="23213711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64" r:id="rId7"/>
    <p:sldLayoutId id="2147483666" r:id="rId8"/>
    <p:sldLayoutId id="2147483683" r:id="rId9"/>
    <p:sldLayoutId id="2147483684" r:id="rId10"/>
    <p:sldLayoutId id="2147483685" r:id="rId11"/>
    <p:sldLayoutId id="2147483686" r:id="rId12"/>
    <p:sldLayoutId id="2147483687" r:id="rId13"/>
    <p:sldLayoutId id="214748368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w3schools.com/js/js_function_closures.asp" TargetMode="Externa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6.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hyperlink" Target="https://www.w3schools.com/js/js_function_parameters.asp" TargetMode="External"/><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airbnb/javascript" TargetMode="External"/><Relationship Id="rId2" Type="http://schemas.openxmlformats.org/officeDocument/2006/relationships/hyperlink" Target="https://google.github.io/styleguide/jsguide.html" TargetMode="External"/><Relationship Id="rId1" Type="http://schemas.openxmlformats.org/officeDocument/2006/relationships/slideLayout" Target="../slideLayouts/slideLayout16.xml"/><Relationship Id="rId5" Type="http://schemas.openxmlformats.org/officeDocument/2006/relationships/hyperlink" Target="https://github.com/standard/standard" TargetMode="External"/><Relationship Id="rId4" Type="http://schemas.openxmlformats.org/officeDocument/2006/relationships/hyperlink" Target="https://github.com/rwaldron/idiomatic.j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jshint.com/" TargetMode="External"/><Relationship Id="rId2" Type="http://schemas.openxmlformats.org/officeDocument/2006/relationships/hyperlink" Target="http://www.jslint.com/" TargetMode="External"/><Relationship Id="rId1" Type="http://schemas.openxmlformats.org/officeDocument/2006/relationships/slideLayout" Target="../slideLayouts/slideLayout16.xml"/><Relationship Id="rId4" Type="http://schemas.openxmlformats.org/officeDocument/2006/relationships/hyperlink" Target="http://eslint.or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hyperlink" Target="https://nodejs.org/" TargetMode="External"/><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w3schools.com/js/js_best_practices.asp" TargetMode="External"/><Relationship Id="rId2" Type="http://schemas.openxmlformats.org/officeDocument/2006/relationships/hyperlink" Target="https://www.w3schools.com/js/js_conventions.asp" TargetMode="External"/><Relationship Id="rId1" Type="http://schemas.openxmlformats.org/officeDocument/2006/relationships/slideLayout" Target="../slideLayouts/slideLayout2.xml"/><Relationship Id="rId4" Type="http://schemas.openxmlformats.org/officeDocument/2006/relationships/hyperlink" Target="https://www.sitepoint.com/comparison-javascript-linting-tools/"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medium.freecodecamp.org/javascript-naming-conventions-dos-and-don-ts-99c0e2fdd78a" TargetMode="External"/><Relationship Id="rId2" Type="http://schemas.openxmlformats.org/officeDocument/2006/relationships/hyperlink" Target="https://www.w3schools.com/js/js_conventions.asp"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308" y="174928"/>
            <a:ext cx="12390783" cy="6683071"/>
          </a:xfrm>
        </p:spPr>
        <p:txBody>
          <a:bodyPr/>
          <a:lstStyle/>
          <a:p>
            <a:pPr>
              <a:spcBef>
                <a:spcPts val="0"/>
              </a:spcBef>
            </a:pPr>
            <a:r>
              <a:rPr lang="en-US" sz="12000" dirty="0"/>
              <a:t>JavaScript Code Convention, Linters</a:t>
            </a:r>
            <a:endParaRPr lang="en-US" sz="12000" dirty="0">
              <a:latin typeface="Proxima Nova Black" panose="02000506030000020004" pitchFamily="2" charset="0"/>
            </a:endParaRPr>
          </a:p>
        </p:txBody>
      </p:sp>
      <p:sp>
        <p:nvSpPr>
          <p:cNvPr id="3" name="Text Placeholder 2"/>
          <p:cNvSpPr>
            <a:spLocks noGrp="1"/>
          </p:cNvSpPr>
          <p:nvPr>
            <p:ph type="body" sz="quarter" idx="10"/>
          </p:nvPr>
        </p:nvSpPr>
        <p:spPr/>
        <p:txBody>
          <a:bodyPr/>
          <a:lstStyle/>
          <a:p>
            <a:r>
              <a:rPr lang="en-US" dirty="0"/>
              <a:t>by Vitaliy Tkachuk</a:t>
            </a:r>
          </a:p>
        </p:txBody>
      </p:sp>
    </p:spTree>
    <p:extLst>
      <p:ext uri="{BB962C8B-B14F-4D97-AF65-F5344CB8AC3E}">
        <p14:creationId xmlns:p14="http://schemas.microsoft.com/office/powerpoint/2010/main" val="1552756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5801" y="685800"/>
            <a:ext cx="10820400" cy="1714502"/>
          </a:xfrm>
        </p:spPr>
        <p:txBody>
          <a:bodyPr/>
          <a:lstStyle/>
          <a:p>
            <a:r>
              <a:rPr lang="en-US" dirty="0"/>
              <a:t>AGENDA</a:t>
            </a:r>
            <a:endParaRPr lang="uk-UA" dirty="0"/>
          </a:p>
        </p:txBody>
      </p:sp>
      <p:sp>
        <p:nvSpPr>
          <p:cNvPr id="5" name="Text Placeholder 4"/>
          <p:cNvSpPr>
            <a:spLocks noGrp="1"/>
          </p:cNvSpPr>
          <p:nvPr>
            <p:ph type="body" sz="quarter" idx="10"/>
          </p:nvPr>
        </p:nvSpPr>
        <p:spPr>
          <a:xfrm>
            <a:off x="685800" y="2400301"/>
            <a:ext cx="4274820" cy="3810000"/>
          </a:xfrm>
        </p:spPr>
        <p:txBody>
          <a:bodyPr/>
          <a:lstStyle/>
          <a:p>
            <a:pPr marL="342900" indent="-342900">
              <a:buFont typeface="Arial" panose="020B0604020202020204" pitchFamily="34" charset="0"/>
              <a:buChar char="•"/>
            </a:pPr>
            <a:r>
              <a:rPr lang="en-US" dirty="0"/>
              <a:t>What are JavaScript Coding Conventions?</a:t>
            </a:r>
          </a:p>
          <a:p>
            <a:pPr marL="342900" indent="-342900">
              <a:buFont typeface="Arial" panose="020B0604020202020204" pitchFamily="34" charset="0"/>
              <a:buChar char="•"/>
            </a:pPr>
            <a:r>
              <a:rPr lang="en-US" dirty="0"/>
              <a:t>JavaScript Code Convention used by W3Schools</a:t>
            </a:r>
          </a:p>
          <a:p>
            <a:pPr marL="342900" indent="-342900">
              <a:buFont typeface="Arial" panose="020B0604020202020204" pitchFamily="34" charset="0"/>
              <a:buChar char="•"/>
            </a:pPr>
            <a:r>
              <a:rPr lang="en-US" dirty="0"/>
              <a:t>Airbnb JavaScript Style Guide</a:t>
            </a:r>
          </a:p>
          <a:p>
            <a:pPr marL="342900" indent="-342900">
              <a:buFont typeface="Arial" panose="020B0604020202020204" pitchFamily="34" charset="0"/>
              <a:buChar char="•"/>
            </a:pPr>
            <a:r>
              <a:rPr lang="en-US" dirty="0"/>
              <a:t>Google JavaScript Style Guide</a:t>
            </a:r>
          </a:p>
          <a:p>
            <a:pPr marL="342900" indent="-342900">
              <a:buFont typeface="Arial" panose="020B0604020202020204" pitchFamily="34" charset="0"/>
              <a:buChar char="•"/>
            </a:pPr>
            <a:r>
              <a:rPr lang="en-US" dirty="0"/>
              <a:t>Idiomatic JavaScript Style Guide</a:t>
            </a:r>
          </a:p>
          <a:p>
            <a:pPr marL="342900" indent="-342900">
              <a:buFont typeface="Arial" panose="020B0604020202020204" pitchFamily="34" charset="0"/>
              <a:buChar char="•"/>
            </a:pPr>
            <a:r>
              <a:rPr lang="en-US" dirty="0"/>
              <a:t>JavaScript Standard Style Guide</a:t>
            </a:r>
          </a:p>
        </p:txBody>
      </p:sp>
      <p:sp>
        <p:nvSpPr>
          <p:cNvPr id="9" name="Text Placeholder 4">
            <a:extLst>
              <a:ext uri="{FF2B5EF4-FFF2-40B4-BE49-F238E27FC236}">
                <a16:creationId xmlns:a16="http://schemas.microsoft.com/office/drawing/2014/main" id="{0D63D710-1F0C-47FA-808D-064AEFC05619}"/>
              </a:ext>
            </a:extLst>
          </p:cNvPr>
          <p:cNvSpPr txBox="1">
            <a:spLocks/>
          </p:cNvSpPr>
          <p:nvPr/>
        </p:nvSpPr>
        <p:spPr>
          <a:xfrm>
            <a:off x="5974082" y="2400301"/>
            <a:ext cx="4274820" cy="3810000"/>
          </a:xfrm>
          <a:prstGeom prst="rect">
            <a:avLst/>
          </a:prstGeom>
        </p:spPr>
        <p:txBody>
          <a:bodyPr lIns="0"/>
          <a:lstStyle>
            <a:lvl1pPr marL="0" indent="0" algn="l" defTabSz="914400" rtl="0" eaLnBrk="1" latinLnBrk="0" hangingPunct="1">
              <a:lnSpc>
                <a:spcPct val="90000"/>
              </a:lnSpc>
              <a:spcBef>
                <a:spcPts val="1000"/>
              </a:spcBef>
              <a:buFont typeface="Arial" panose="020B0604020202020204" pitchFamily="34" charset="0"/>
              <a:buNone/>
              <a:defRPr sz="200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What is a Linter? </a:t>
            </a:r>
            <a:endParaRPr lang="uk-UA" dirty="0"/>
          </a:p>
          <a:p>
            <a:pPr marL="342900" indent="-342900">
              <a:buFont typeface="Arial" panose="020B0604020202020204" pitchFamily="34" charset="0"/>
              <a:buChar char="•"/>
            </a:pPr>
            <a:r>
              <a:rPr lang="en-US" dirty="0" err="1"/>
              <a:t>JSLint</a:t>
            </a:r>
            <a:endParaRPr lang="en-US" dirty="0"/>
          </a:p>
          <a:p>
            <a:pPr marL="342900" indent="-342900">
              <a:buFont typeface="Arial" panose="020B0604020202020204" pitchFamily="34" charset="0"/>
              <a:buChar char="•"/>
            </a:pPr>
            <a:r>
              <a:rPr lang="en-US" dirty="0" err="1"/>
              <a:t>JSHint</a:t>
            </a:r>
            <a:endParaRPr lang="en-US" dirty="0"/>
          </a:p>
          <a:p>
            <a:pPr marL="342900" indent="-342900">
              <a:buFont typeface="Arial" panose="020B0604020202020204" pitchFamily="34" charset="0"/>
              <a:buChar char="•"/>
            </a:pPr>
            <a:r>
              <a:rPr lang="en-US" dirty="0"/>
              <a:t>JSCS</a:t>
            </a:r>
          </a:p>
          <a:p>
            <a:pPr marL="342900" indent="-342900">
              <a:buFont typeface="Arial" panose="020B0604020202020204" pitchFamily="34" charset="0"/>
              <a:buChar char="•"/>
            </a:pPr>
            <a:r>
              <a:rPr lang="en-US" dirty="0" err="1"/>
              <a:t>ESLint</a:t>
            </a:r>
            <a:endParaRPr lang="en-US" dirty="0"/>
          </a:p>
          <a:p>
            <a:endParaRPr lang="en-US" dirty="0"/>
          </a:p>
          <a:p>
            <a:pPr marL="342900" indent="-342900">
              <a:buFont typeface="Arial" panose="020B0604020202020204" pitchFamily="34" charset="0"/>
              <a:buChar char="•"/>
            </a:pPr>
            <a:endParaRPr lang="uk-UA" dirty="0"/>
          </a:p>
        </p:txBody>
      </p:sp>
    </p:spTree>
    <p:extLst>
      <p:ext uri="{BB962C8B-B14F-4D97-AF65-F5344CB8AC3E}">
        <p14:creationId xmlns:p14="http://schemas.microsoft.com/office/powerpoint/2010/main" val="3068882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JavaScript Code Conventions</a:t>
            </a:r>
            <a:endParaRPr lang="uk-UA" dirty="0"/>
          </a:p>
        </p:txBody>
      </p:sp>
    </p:spTree>
    <p:extLst>
      <p:ext uri="{BB962C8B-B14F-4D97-AF65-F5344CB8AC3E}">
        <p14:creationId xmlns:p14="http://schemas.microsoft.com/office/powerpoint/2010/main" val="658380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714502"/>
            <a:ext cx="9281160" cy="3810000"/>
          </a:xfrm>
        </p:spPr>
        <p:txBody>
          <a:bodyPr/>
          <a:lstStyle/>
          <a:p>
            <a:r>
              <a:rPr lang="en-US" dirty="0"/>
              <a:t>Coding conventions are </a:t>
            </a:r>
            <a:r>
              <a:rPr lang="en-US" b="1" dirty="0"/>
              <a:t>style guidelines for programming</a:t>
            </a:r>
            <a:r>
              <a:rPr lang="en-US" dirty="0"/>
              <a:t>. They typically cover:</a:t>
            </a:r>
          </a:p>
          <a:p>
            <a:pPr marL="342900" indent="-342900">
              <a:buFont typeface="Arial" panose="020B0604020202020204" pitchFamily="34" charset="0"/>
              <a:buChar char="•"/>
            </a:pPr>
            <a:r>
              <a:rPr lang="en-US" dirty="0"/>
              <a:t>Naming and declaration rules for variables and functions.</a:t>
            </a:r>
          </a:p>
          <a:p>
            <a:pPr marL="342900" indent="-342900">
              <a:buFont typeface="Arial" panose="020B0604020202020204" pitchFamily="34" charset="0"/>
              <a:buChar char="•"/>
            </a:pPr>
            <a:r>
              <a:rPr lang="en-US" dirty="0"/>
              <a:t>Rules for the use of white space, indentation, and comments.</a:t>
            </a:r>
          </a:p>
          <a:p>
            <a:pPr marL="342900" indent="-342900">
              <a:buFont typeface="Arial" panose="020B0604020202020204" pitchFamily="34" charset="0"/>
              <a:buChar char="•"/>
            </a:pPr>
            <a:r>
              <a:rPr lang="en-US" dirty="0"/>
              <a:t>Programming practices and principles</a:t>
            </a:r>
          </a:p>
          <a:p>
            <a:r>
              <a:rPr lang="en-US" dirty="0"/>
              <a:t>Coding conventions </a:t>
            </a:r>
            <a:r>
              <a:rPr lang="en-US" b="1" dirty="0"/>
              <a:t>secure quality</a:t>
            </a:r>
            <a:r>
              <a:rPr lang="en-US" dirty="0"/>
              <a:t>:</a:t>
            </a:r>
          </a:p>
          <a:p>
            <a:pPr marL="342900" indent="-342900">
              <a:buFont typeface="Arial" panose="020B0604020202020204" pitchFamily="34" charset="0"/>
              <a:buChar char="•"/>
            </a:pPr>
            <a:r>
              <a:rPr lang="en-US" dirty="0"/>
              <a:t>Improves code readability</a:t>
            </a:r>
          </a:p>
          <a:p>
            <a:pPr marL="342900" indent="-342900">
              <a:buFont typeface="Arial" panose="020B0604020202020204" pitchFamily="34" charset="0"/>
              <a:buChar char="•"/>
            </a:pPr>
            <a:r>
              <a:rPr lang="en-US" dirty="0"/>
              <a:t>Make code maintenance easier</a:t>
            </a:r>
          </a:p>
          <a:p>
            <a:r>
              <a:rPr lang="en-US" dirty="0"/>
              <a:t>Coding conventions can be documented rules for teams to follow, or just be your individual coding practice.</a:t>
            </a:r>
          </a:p>
          <a:p>
            <a:r>
              <a:rPr lang="en-US" b="1" dirty="0">
                <a:solidFill>
                  <a:srgbClr val="FF0000"/>
                </a:solidFill>
              </a:rPr>
              <a:t>Always use the same coding conventions for all your JavaScript projects.</a:t>
            </a:r>
          </a:p>
          <a:p>
            <a:br>
              <a:rPr lang="en-US" dirty="0"/>
            </a:br>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1714502"/>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What are JavaScript Coding Conventions?</a:t>
            </a:r>
            <a:endParaRPr lang="uk-UA" sz="4400" dirty="0"/>
          </a:p>
        </p:txBody>
      </p:sp>
    </p:spTree>
    <p:extLst>
      <p:ext uri="{BB962C8B-B14F-4D97-AF65-F5344CB8AC3E}">
        <p14:creationId xmlns:p14="http://schemas.microsoft.com/office/powerpoint/2010/main" val="3802215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799" y="1189608"/>
            <a:ext cx="5581650" cy="2734322"/>
          </a:xfrm>
        </p:spPr>
        <p:txBody>
          <a:bodyPr/>
          <a:lstStyle/>
          <a:p>
            <a:r>
              <a:rPr lang="en-US" sz="3200" b="1" dirty="0"/>
              <a:t>Variable Names</a:t>
            </a:r>
          </a:p>
          <a:p>
            <a:r>
              <a:rPr lang="en-US" dirty="0"/>
              <a:t>Naming convention recommended by W3schools: </a:t>
            </a:r>
          </a:p>
          <a:p>
            <a:pPr marL="342900" indent="-342900">
              <a:buFont typeface="Arial" panose="020B0604020202020204" pitchFamily="34" charset="0"/>
              <a:buChar char="•"/>
            </a:pPr>
            <a:r>
              <a:rPr lang="en-US" dirty="0"/>
              <a:t>Variable and function names written as </a:t>
            </a:r>
            <a:r>
              <a:rPr lang="en-US" b="1" dirty="0"/>
              <a:t>camelCase</a:t>
            </a:r>
            <a:endParaRPr lang="en-US" dirty="0"/>
          </a:p>
          <a:p>
            <a:pPr marL="342900" indent="-342900">
              <a:buFont typeface="Arial" panose="020B0604020202020204" pitchFamily="34" charset="0"/>
              <a:buChar char="•"/>
            </a:pPr>
            <a:r>
              <a:rPr lang="en-US" dirty="0"/>
              <a:t>Global variables written in </a:t>
            </a:r>
            <a:r>
              <a:rPr lang="en-US" b="1" dirty="0"/>
              <a:t>UPPERCASE</a:t>
            </a:r>
            <a:endParaRPr lang="en-US" dirty="0"/>
          </a:p>
          <a:p>
            <a:pPr marL="342900" indent="-342900">
              <a:buFont typeface="Arial" panose="020B0604020202020204" pitchFamily="34" charset="0"/>
              <a:buChar char="•"/>
            </a:pPr>
            <a:r>
              <a:rPr lang="en-US" dirty="0"/>
              <a:t>Constants (like PI) written in </a:t>
            </a:r>
            <a:r>
              <a:rPr lang="en-US" b="1" dirty="0"/>
              <a:t>UPPERCASE</a:t>
            </a:r>
          </a:p>
          <a:p>
            <a:pPr marL="342900" indent="-342900">
              <a:buFont typeface="Arial" panose="020B0604020202020204" pitchFamily="34" charset="0"/>
              <a:buChar char="•"/>
            </a:pPr>
            <a:r>
              <a:rPr lang="en-US" dirty="0"/>
              <a:t>All names start with a </a:t>
            </a:r>
            <a:r>
              <a:rPr lang="en-US" b="1" dirty="0"/>
              <a:t>letter</a:t>
            </a:r>
            <a:r>
              <a:rPr lang="en-US" dirty="0"/>
              <a:t>.</a:t>
            </a:r>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W3Schools JavaScript Style Guide</a:t>
            </a:r>
            <a:endParaRPr lang="uk-UA" sz="4400" dirty="0"/>
          </a:p>
        </p:txBody>
      </p:sp>
      <p:pic>
        <p:nvPicPr>
          <p:cNvPr id="2" name="Picture 1">
            <a:extLst>
              <a:ext uri="{FF2B5EF4-FFF2-40B4-BE49-F238E27FC236}">
                <a16:creationId xmlns:a16="http://schemas.microsoft.com/office/drawing/2014/main" id="{74F5F9EE-1D1F-4B86-B97C-CE9F8A13938E}"/>
              </a:ext>
            </a:extLst>
          </p:cNvPr>
          <p:cNvPicPr>
            <a:picLocks noChangeAspect="1"/>
          </p:cNvPicPr>
          <p:nvPr/>
        </p:nvPicPr>
        <p:blipFill>
          <a:blip r:embed="rId2"/>
          <a:stretch>
            <a:fillRect/>
          </a:stretch>
        </p:blipFill>
        <p:spPr>
          <a:xfrm>
            <a:off x="6406302" y="1664401"/>
            <a:ext cx="5581650" cy="1990725"/>
          </a:xfrm>
          <a:prstGeom prst="rect">
            <a:avLst/>
          </a:prstGeom>
        </p:spPr>
      </p:pic>
      <p:pic>
        <p:nvPicPr>
          <p:cNvPr id="3" name="Picture 2">
            <a:extLst>
              <a:ext uri="{FF2B5EF4-FFF2-40B4-BE49-F238E27FC236}">
                <a16:creationId xmlns:a16="http://schemas.microsoft.com/office/drawing/2014/main" id="{2D7BBF77-83D3-408C-BDB9-44EDDBD4C293}"/>
              </a:ext>
            </a:extLst>
          </p:cNvPr>
          <p:cNvPicPr>
            <a:picLocks noChangeAspect="1"/>
          </p:cNvPicPr>
          <p:nvPr/>
        </p:nvPicPr>
        <p:blipFill>
          <a:blip r:embed="rId3"/>
          <a:stretch>
            <a:fillRect/>
          </a:stretch>
        </p:blipFill>
        <p:spPr>
          <a:xfrm>
            <a:off x="561975" y="4653701"/>
            <a:ext cx="5534025" cy="762000"/>
          </a:xfrm>
          <a:prstGeom prst="rect">
            <a:avLst/>
          </a:prstGeom>
        </p:spPr>
      </p:pic>
    </p:spTree>
    <p:extLst>
      <p:ext uri="{BB962C8B-B14F-4D97-AF65-F5344CB8AC3E}">
        <p14:creationId xmlns:p14="http://schemas.microsoft.com/office/powerpoint/2010/main" val="1484290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8"/>
            <a:ext cx="9281160" cy="1065320"/>
          </a:xfrm>
        </p:spPr>
        <p:txBody>
          <a:bodyPr/>
          <a:lstStyle/>
          <a:p>
            <a:r>
              <a:rPr lang="en-US" sz="3200" b="1" dirty="0"/>
              <a:t>Spaces Around Operators</a:t>
            </a:r>
          </a:p>
          <a:p>
            <a:r>
              <a:rPr lang="en-US" dirty="0"/>
              <a:t>Always put spaces around operators ( = + - * / ), and after commas:</a:t>
            </a:r>
          </a:p>
          <a:p>
            <a:br>
              <a:rPr lang="en-US" dirty="0"/>
            </a:br>
            <a:endParaRPr lang="en-US"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W3Schools JavaScript Style Guide</a:t>
            </a:r>
            <a:endParaRPr lang="uk-UA" sz="4400" dirty="0"/>
          </a:p>
        </p:txBody>
      </p:sp>
      <p:pic>
        <p:nvPicPr>
          <p:cNvPr id="3" name="Picture 2">
            <a:extLst>
              <a:ext uri="{FF2B5EF4-FFF2-40B4-BE49-F238E27FC236}">
                <a16:creationId xmlns:a16="http://schemas.microsoft.com/office/drawing/2014/main" id="{9D95671E-714B-4ADB-87DB-63E0C5DC0BB8}"/>
              </a:ext>
            </a:extLst>
          </p:cNvPr>
          <p:cNvPicPr>
            <a:picLocks noChangeAspect="1"/>
          </p:cNvPicPr>
          <p:nvPr/>
        </p:nvPicPr>
        <p:blipFill>
          <a:blip r:embed="rId2"/>
          <a:stretch>
            <a:fillRect/>
          </a:stretch>
        </p:blipFill>
        <p:spPr>
          <a:xfrm>
            <a:off x="542925" y="2602128"/>
            <a:ext cx="5619750" cy="1400175"/>
          </a:xfrm>
          <a:prstGeom prst="rect">
            <a:avLst/>
          </a:prstGeom>
        </p:spPr>
      </p:pic>
    </p:spTree>
    <p:extLst>
      <p:ext uri="{BB962C8B-B14F-4D97-AF65-F5344CB8AC3E}">
        <p14:creationId xmlns:p14="http://schemas.microsoft.com/office/powerpoint/2010/main" val="3493850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8"/>
            <a:ext cx="9281160" cy="1065320"/>
          </a:xfrm>
        </p:spPr>
        <p:txBody>
          <a:bodyPr/>
          <a:lstStyle/>
          <a:p>
            <a:r>
              <a:rPr lang="en-US" sz="3200" b="1" dirty="0"/>
              <a:t>Code Indentation</a:t>
            </a:r>
          </a:p>
          <a:p>
            <a:r>
              <a:rPr lang="en-US" dirty="0"/>
              <a:t>Always use 2 spaces for indentation of code blocks:</a:t>
            </a:r>
          </a:p>
          <a:p>
            <a:br>
              <a:rPr lang="en-US" dirty="0"/>
            </a:br>
            <a:br>
              <a:rPr lang="en-US" dirty="0"/>
            </a:br>
            <a:endParaRPr lang="en-US"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W3Schools JavaScript Style Guide</a:t>
            </a:r>
            <a:endParaRPr lang="uk-UA" sz="4400" dirty="0"/>
          </a:p>
        </p:txBody>
      </p:sp>
      <p:pic>
        <p:nvPicPr>
          <p:cNvPr id="2" name="Picture 1">
            <a:extLst>
              <a:ext uri="{FF2B5EF4-FFF2-40B4-BE49-F238E27FC236}">
                <a16:creationId xmlns:a16="http://schemas.microsoft.com/office/drawing/2014/main" id="{09A6F856-DAF5-442A-BC7E-7AE7FBD86AEB}"/>
              </a:ext>
            </a:extLst>
          </p:cNvPr>
          <p:cNvPicPr>
            <a:picLocks noChangeAspect="1"/>
          </p:cNvPicPr>
          <p:nvPr/>
        </p:nvPicPr>
        <p:blipFill>
          <a:blip r:embed="rId2"/>
          <a:stretch>
            <a:fillRect/>
          </a:stretch>
        </p:blipFill>
        <p:spPr>
          <a:xfrm>
            <a:off x="610478" y="2254928"/>
            <a:ext cx="5591175" cy="2486025"/>
          </a:xfrm>
          <a:prstGeom prst="rect">
            <a:avLst/>
          </a:prstGeom>
        </p:spPr>
      </p:pic>
    </p:spTree>
    <p:extLst>
      <p:ext uri="{BB962C8B-B14F-4D97-AF65-F5344CB8AC3E}">
        <p14:creationId xmlns:p14="http://schemas.microsoft.com/office/powerpoint/2010/main" val="3115497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8"/>
            <a:ext cx="9281160" cy="1438182"/>
          </a:xfrm>
        </p:spPr>
        <p:txBody>
          <a:bodyPr/>
          <a:lstStyle/>
          <a:p>
            <a:r>
              <a:rPr lang="en-US" sz="3200" b="1" dirty="0"/>
              <a:t>Statement Rules</a:t>
            </a:r>
          </a:p>
          <a:p>
            <a:r>
              <a:rPr lang="en-US" dirty="0"/>
              <a:t>General rules for simple statements:</a:t>
            </a:r>
          </a:p>
          <a:p>
            <a:pPr marL="342900" indent="-342900">
              <a:buFont typeface="Arial" panose="020B0604020202020204" pitchFamily="34" charset="0"/>
              <a:buChar char="•"/>
            </a:pPr>
            <a:r>
              <a:rPr lang="en-US" dirty="0"/>
              <a:t>Always end a simple statement with a semicolon.</a:t>
            </a:r>
          </a:p>
          <a:p>
            <a:br>
              <a:rPr lang="en-US" dirty="0"/>
            </a:br>
            <a:br>
              <a:rPr lang="en-US" dirty="0"/>
            </a:br>
            <a:endParaRPr lang="en-US"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W3Schools JavaScript Style Guide</a:t>
            </a:r>
            <a:endParaRPr lang="uk-UA" sz="4400" dirty="0"/>
          </a:p>
        </p:txBody>
      </p:sp>
      <p:pic>
        <p:nvPicPr>
          <p:cNvPr id="3" name="Picture 2">
            <a:extLst>
              <a:ext uri="{FF2B5EF4-FFF2-40B4-BE49-F238E27FC236}">
                <a16:creationId xmlns:a16="http://schemas.microsoft.com/office/drawing/2014/main" id="{9E3C7568-DE42-494E-9502-3C48D297FD30}"/>
              </a:ext>
            </a:extLst>
          </p:cNvPr>
          <p:cNvPicPr>
            <a:picLocks noChangeAspect="1"/>
          </p:cNvPicPr>
          <p:nvPr/>
        </p:nvPicPr>
        <p:blipFill>
          <a:blip r:embed="rId2"/>
          <a:stretch>
            <a:fillRect/>
          </a:stretch>
        </p:blipFill>
        <p:spPr>
          <a:xfrm>
            <a:off x="466725" y="2791425"/>
            <a:ext cx="5629275" cy="2695575"/>
          </a:xfrm>
          <a:prstGeom prst="rect">
            <a:avLst/>
          </a:prstGeom>
        </p:spPr>
      </p:pic>
    </p:spTree>
    <p:extLst>
      <p:ext uri="{BB962C8B-B14F-4D97-AF65-F5344CB8AC3E}">
        <p14:creationId xmlns:p14="http://schemas.microsoft.com/office/powerpoint/2010/main" val="1977131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7"/>
            <a:ext cx="4560903" cy="3089429"/>
          </a:xfrm>
        </p:spPr>
        <p:txBody>
          <a:bodyPr/>
          <a:lstStyle/>
          <a:p>
            <a:r>
              <a:rPr lang="en-US" sz="3200" b="1" dirty="0"/>
              <a:t>Statement Rules</a:t>
            </a:r>
          </a:p>
          <a:p>
            <a:r>
              <a:rPr lang="en-US" dirty="0"/>
              <a:t>General rules for complex (compound) statements:</a:t>
            </a:r>
          </a:p>
          <a:p>
            <a:pPr marL="342900" indent="-342900">
              <a:buFont typeface="Arial" panose="020B0604020202020204" pitchFamily="34" charset="0"/>
              <a:buChar char="•"/>
            </a:pPr>
            <a:r>
              <a:rPr lang="en-US" dirty="0"/>
              <a:t>Put the opening bracket at the end of the first line.</a:t>
            </a:r>
          </a:p>
          <a:p>
            <a:pPr marL="342900" indent="-342900">
              <a:buFont typeface="Arial" panose="020B0604020202020204" pitchFamily="34" charset="0"/>
              <a:buChar char="•"/>
            </a:pPr>
            <a:r>
              <a:rPr lang="en-US" dirty="0"/>
              <a:t>Use one space before the opening bracket.</a:t>
            </a:r>
          </a:p>
          <a:p>
            <a:pPr marL="342900" indent="-342900">
              <a:buFont typeface="Arial" panose="020B0604020202020204" pitchFamily="34" charset="0"/>
              <a:buChar char="•"/>
            </a:pPr>
            <a:r>
              <a:rPr lang="en-US" dirty="0"/>
              <a:t>Put the closing bracket on a new line, without leading spaces.</a:t>
            </a:r>
          </a:p>
          <a:p>
            <a:pPr marL="342900" indent="-342900">
              <a:buFont typeface="Arial" panose="020B0604020202020204" pitchFamily="34" charset="0"/>
              <a:buChar char="•"/>
            </a:pPr>
            <a:r>
              <a:rPr lang="en-US" dirty="0"/>
              <a:t>Do not end a complex statement with a semicolon.</a:t>
            </a:r>
          </a:p>
          <a:p>
            <a:endParaRPr lang="en-US" dirty="0"/>
          </a:p>
          <a:p>
            <a:br>
              <a:rPr lang="en-US" dirty="0"/>
            </a:br>
            <a:endParaRPr lang="en-US" dirty="0"/>
          </a:p>
          <a:p>
            <a:br>
              <a:rPr lang="en-US" dirty="0"/>
            </a:br>
            <a:br>
              <a:rPr lang="en-US" dirty="0"/>
            </a:br>
            <a:endParaRPr lang="en-US"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W3Schools JavaScript Style Guide</a:t>
            </a:r>
            <a:endParaRPr lang="uk-UA" sz="4400" dirty="0"/>
          </a:p>
        </p:txBody>
      </p:sp>
      <p:pic>
        <p:nvPicPr>
          <p:cNvPr id="2" name="Picture 1">
            <a:extLst>
              <a:ext uri="{FF2B5EF4-FFF2-40B4-BE49-F238E27FC236}">
                <a16:creationId xmlns:a16="http://schemas.microsoft.com/office/drawing/2014/main" id="{151027F9-591B-4416-AA45-83DBDA50C957}"/>
              </a:ext>
            </a:extLst>
          </p:cNvPr>
          <p:cNvPicPr>
            <a:picLocks noChangeAspect="1"/>
          </p:cNvPicPr>
          <p:nvPr/>
        </p:nvPicPr>
        <p:blipFill>
          <a:blip r:embed="rId2"/>
          <a:stretch>
            <a:fillRect/>
          </a:stretch>
        </p:blipFill>
        <p:spPr>
          <a:xfrm>
            <a:off x="6276511" y="700892"/>
            <a:ext cx="5380609" cy="5133540"/>
          </a:xfrm>
          <a:prstGeom prst="rect">
            <a:avLst/>
          </a:prstGeom>
        </p:spPr>
      </p:pic>
    </p:spTree>
    <p:extLst>
      <p:ext uri="{BB962C8B-B14F-4D97-AF65-F5344CB8AC3E}">
        <p14:creationId xmlns:p14="http://schemas.microsoft.com/office/powerpoint/2010/main" val="2349407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7"/>
            <a:ext cx="5750511" cy="5113539"/>
          </a:xfrm>
        </p:spPr>
        <p:txBody>
          <a:bodyPr/>
          <a:lstStyle/>
          <a:p>
            <a:r>
              <a:rPr lang="en-US" sz="3200" b="1" dirty="0"/>
              <a:t>Object Rules</a:t>
            </a:r>
          </a:p>
          <a:p>
            <a:r>
              <a:rPr lang="en-US" dirty="0"/>
              <a:t>General rules for object definitions:</a:t>
            </a:r>
          </a:p>
          <a:p>
            <a:pPr marL="342900" indent="-342900">
              <a:buFont typeface="Arial" panose="020B0604020202020204" pitchFamily="34" charset="0"/>
              <a:buChar char="•"/>
            </a:pPr>
            <a:r>
              <a:rPr lang="en-US" dirty="0"/>
              <a:t>Place the opening bracket on the same line as the object name.</a:t>
            </a:r>
          </a:p>
          <a:p>
            <a:pPr marL="342900" indent="-342900">
              <a:buFont typeface="Arial" panose="020B0604020202020204" pitchFamily="34" charset="0"/>
              <a:buChar char="•"/>
            </a:pPr>
            <a:r>
              <a:rPr lang="en-US" dirty="0"/>
              <a:t>Use colon plus one space between each property and its value.</a:t>
            </a:r>
          </a:p>
          <a:p>
            <a:pPr marL="342900" indent="-342900">
              <a:buFont typeface="Arial" panose="020B0604020202020204" pitchFamily="34" charset="0"/>
              <a:buChar char="•"/>
            </a:pPr>
            <a:r>
              <a:rPr lang="en-US" dirty="0"/>
              <a:t>Use quotes around string values, not around numeric values.</a:t>
            </a:r>
          </a:p>
          <a:p>
            <a:pPr marL="342900" indent="-342900">
              <a:buFont typeface="Arial" panose="020B0604020202020204" pitchFamily="34" charset="0"/>
              <a:buChar char="•"/>
            </a:pPr>
            <a:r>
              <a:rPr lang="en-US" dirty="0"/>
              <a:t>Do not add a comma after the last property-value pair.</a:t>
            </a:r>
          </a:p>
          <a:p>
            <a:pPr marL="342900" indent="-342900">
              <a:buFont typeface="Arial" panose="020B0604020202020204" pitchFamily="34" charset="0"/>
              <a:buChar char="•"/>
            </a:pPr>
            <a:r>
              <a:rPr lang="en-US" dirty="0"/>
              <a:t>Place the closing bracket on a new line, without leading spaces.</a:t>
            </a:r>
          </a:p>
          <a:p>
            <a:pPr marL="342900" indent="-342900">
              <a:buFont typeface="Arial" panose="020B0604020202020204" pitchFamily="34" charset="0"/>
              <a:buChar char="•"/>
            </a:pPr>
            <a:r>
              <a:rPr lang="en-US" dirty="0"/>
              <a:t>Always end an object definition with a semicolon.</a:t>
            </a:r>
          </a:p>
          <a:p>
            <a:br>
              <a:rPr lang="en-US" dirty="0"/>
            </a:br>
            <a:br>
              <a:rPr lang="en-US" dirty="0"/>
            </a:br>
            <a:endParaRPr lang="en-US"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W3Schools JavaScript Style Guide</a:t>
            </a:r>
            <a:endParaRPr lang="uk-UA" sz="4400" dirty="0"/>
          </a:p>
        </p:txBody>
      </p:sp>
      <p:pic>
        <p:nvPicPr>
          <p:cNvPr id="2" name="Picture 1">
            <a:extLst>
              <a:ext uri="{FF2B5EF4-FFF2-40B4-BE49-F238E27FC236}">
                <a16:creationId xmlns:a16="http://schemas.microsoft.com/office/drawing/2014/main" id="{4ED3A7C7-C678-4939-B906-83EC1FC7AE99}"/>
              </a:ext>
            </a:extLst>
          </p:cNvPr>
          <p:cNvPicPr>
            <a:picLocks noChangeAspect="1"/>
          </p:cNvPicPr>
          <p:nvPr/>
        </p:nvPicPr>
        <p:blipFill>
          <a:blip r:embed="rId2"/>
          <a:stretch>
            <a:fillRect/>
          </a:stretch>
        </p:blipFill>
        <p:spPr>
          <a:xfrm>
            <a:off x="6436311" y="1801243"/>
            <a:ext cx="5610225" cy="3867150"/>
          </a:xfrm>
          <a:prstGeom prst="rect">
            <a:avLst/>
          </a:prstGeom>
        </p:spPr>
      </p:pic>
    </p:spTree>
    <p:extLst>
      <p:ext uri="{BB962C8B-B14F-4D97-AF65-F5344CB8AC3E}">
        <p14:creationId xmlns:p14="http://schemas.microsoft.com/office/powerpoint/2010/main" val="3626176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7"/>
            <a:ext cx="9281160" cy="1601817"/>
          </a:xfrm>
        </p:spPr>
        <p:txBody>
          <a:bodyPr/>
          <a:lstStyle/>
          <a:p>
            <a:r>
              <a:rPr lang="en-US" sz="3200" b="1" dirty="0"/>
              <a:t>Line Length &lt; 80</a:t>
            </a:r>
          </a:p>
          <a:p>
            <a:r>
              <a:rPr lang="en-US" dirty="0"/>
              <a:t>For readability, avoid lines longer than 80 characters.</a:t>
            </a:r>
          </a:p>
          <a:p>
            <a:r>
              <a:rPr lang="en-US" dirty="0"/>
              <a:t>If a JavaScript statement does not fit on one line, the best place to break it, is after an operator or a comma.</a:t>
            </a:r>
          </a:p>
          <a:p>
            <a:br>
              <a:rPr lang="en-US" dirty="0"/>
            </a:br>
            <a:br>
              <a:rPr lang="en-US" dirty="0"/>
            </a:br>
            <a:endParaRPr lang="en-US"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W3Schools JavaScript Style Guide</a:t>
            </a:r>
            <a:endParaRPr lang="uk-UA" sz="4400" dirty="0"/>
          </a:p>
        </p:txBody>
      </p:sp>
      <p:pic>
        <p:nvPicPr>
          <p:cNvPr id="2" name="Picture 1">
            <a:extLst>
              <a:ext uri="{FF2B5EF4-FFF2-40B4-BE49-F238E27FC236}">
                <a16:creationId xmlns:a16="http://schemas.microsoft.com/office/drawing/2014/main" id="{589B31F1-5521-4A04-AC48-FDD6033F2A70}"/>
              </a:ext>
            </a:extLst>
          </p:cNvPr>
          <p:cNvPicPr>
            <a:picLocks noChangeAspect="1"/>
          </p:cNvPicPr>
          <p:nvPr/>
        </p:nvPicPr>
        <p:blipFill>
          <a:blip r:embed="rId2"/>
          <a:stretch>
            <a:fillRect/>
          </a:stretch>
        </p:blipFill>
        <p:spPr>
          <a:xfrm>
            <a:off x="685800" y="3082032"/>
            <a:ext cx="5619750" cy="1066800"/>
          </a:xfrm>
          <a:prstGeom prst="rect">
            <a:avLst/>
          </a:prstGeom>
        </p:spPr>
      </p:pic>
    </p:spTree>
    <p:extLst>
      <p:ext uri="{BB962C8B-B14F-4D97-AF65-F5344CB8AC3E}">
        <p14:creationId xmlns:p14="http://schemas.microsoft.com/office/powerpoint/2010/main" val="991681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7"/>
            <a:ext cx="9281160" cy="2239393"/>
          </a:xfrm>
        </p:spPr>
        <p:txBody>
          <a:bodyPr/>
          <a:lstStyle/>
          <a:p>
            <a:r>
              <a:rPr lang="en-US" sz="3200" b="1" dirty="0"/>
              <a:t>Avoid Global Variables</a:t>
            </a:r>
          </a:p>
          <a:p>
            <a:r>
              <a:rPr lang="en-US" dirty="0"/>
              <a:t>Minimize the use of global variables.</a:t>
            </a:r>
          </a:p>
          <a:p>
            <a:r>
              <a:rPr lang="en-US" dirty="0"/>
              <a:t>This includes all data types, objects, and functions.</a:t>
            </a:r>
          </a:p>
          <a:p>
            <a:r>
              <a:rPr lang="en-US" dirty="0"/>
              <a:t>Global variables and functions can be overwritten by other scripts.</a:t>
            </a:r>
          </a:p>
          <a:p>
            <a:r>
              <a:rPr lang="en-US" dirty="0"/>
              <a:t>Use local variables instead, and learn how to use </a:t>
            </a:r>
            <a:r>
              <a:rPr lang="en-US" dirty="0">
                <a:hlinkClick r:id="rId2"/>
              </a:rPr>
              <a:t>closures</a:t>
            </a:r>
            <a:r>
              <a:rPr lang="en-US" dirty="0"/>
              <a:t>.</a:t>
            </a:r>
          </a:p>
          <a:p>
            <a:endParaRPr lang="en-US" dirty="0"/>
          </a:p>
          <a:p>
            <a:br>
              <a:rPr lang="en-US" dirty="0"/>
            </a:br>
            <a:br>
              <a:rPr lang="en-US" dirty="0"/>
            </a:br>
            <a:endParaRPr lang="en-US"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W3Schools JavaScript Style Guide</a:t>
            </a:r>
            <a:endParaRPr lang="uk-UA" sz="4400" dirty="0"/>
          </a:p>
        </p:txBody>
      </p:sp>
      <p:sp>
        <p:nvSpPr>
          <p:cNvPr id="7" name="Text Placeholder 4">
            <a:extLst>
              <a:ext uri="{FF2B5EF4-FFF2-40B4-BE49-F238E27FC236}">
                <a16:creationId xmlns:a16="http://schemas.microsoft.com/office/drawing/2014/main" id="{6F257DCA-C27E-4F0E-8C18-457E08B8AEEB}"/>
              </a:ext>
            </a:extLst>
          </p:cNvPr>
          <p:cNvSpPr txBox="1">
            <a:spLocks/>
          </p:cNvSpPr>
          <p:nvPr/>
        </p:nvSpPr>
        <p:spPr>
          <a:xfrm>
            <a:off x="685800" y="3784106"/>
            <a:ext cx="9281160" cy="2239393"/>
          </a:xfrm>
          <a:prstGeom prst="rect">
            <a:avLst/>
          </a:prstGeom>
        </p:spPr>
        <p:txBody>
          <a:bodyPr lIns="0"/>
          <a:lstStyle>
            <a:lvl1pPr marL="0" indent="0" algn="l" defTabSz="914400" rtl="0" eaLnBrk="1" latinLnBrk="0" hangingPunct="1">
              <a:lnSpc>
                <a:spcPct val="90000"/>
              </a:lnSpc>
              <a:spcBef>
                <a:spcPts val="1000"/>
              </a:spcBef>
              <a:buFont typeface="Arial" panose="020B0604020202020204" pitchFamily="34" charset="0"/>
              <a:buNone/>
              <a:defRPr sz="200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1" dirty="0"/>
              <a:t>Always Declare Local Variables</a:t>
            </a:r>
          </a:p>
          <a:p>
            <a:pPr>
              <a:lnSpc>
                <a:spcPct val="100000"/>
              </a:lnSpc>
            </a:pPr>
            <a:r>
              <a:rPr lang="en-US" dirty="0"/>
              <a:t>All variables used in a function should be declared as </a:t>
            </a:r>
            <a:r>
              <a:rPr lang="en-US" b="1" dirty="0"/>
              <a:t>local</a:t>
            </a:r>
            <a:r>
              <a:rPr lang="en-US" dirty="0"/>
              <a:t> variables.</a:t>
            </a:r>
          </a:p>
          <a:p>
            <a:pPr>
              <a:lnSpc>
                <a:spcPct val="100000"/>
              </a:lnSpc>
            </a:pPr>
            <a:r>
              <a:rPr lang="en-US" dirty="0"/>
              <a:t>Local variables </a:t>
            </a:r>
            <a:r>
              <a:rPr lang="en-US" b="1" dirty="0"/>
              <a:t>must</a:t>
            </a:r>
            <a:r>
              <a:rPr lang="en-US" dirty="0"/>
              <a:t> be declared with the </a:t>
            </a:r>
            <a:r>
              <a:rPr lang="en-US" dirty="0">
                <a:solidFill>
                  <a:srgbClr val="FF0000"/>
                </a:solidFill>
                <a:highlight>
                  <a:srgbClr val="C0C0C0"/>
                </a:highlight>
              </a:rPr>
              <a:t>var</a:t>
            </a:r>
            <a:r>
              <a:rPr lang="en-US" dirty="0"/>
              <a:t> keyword or the </a:t>
            </a:r>
            <a:r>
              <a:rPr lang="en-US" dirty="0">
                <a:solidFill>
                  <a:srgbClr val="FF0000"/>
                </a:solidFill>
                <a:highlight>
                  <a:srgbClr val="C0C0C0"/>
                </a:highlight>
              </a:rPr>
              <a:t>let</a:t>
            </a:r>
            <a:r>
              <a:rPr lang="en-US" dirty="0"/>
              <a:t> keyword, otherwise they will become global variables.</a:t>
            </a:r>
            <a:br>
              <a:rPr lang="en-US" dirty="0"/>
            </a:br>
            <a:endParaRPr lang="en-US" dirty="0"/>
          </a:p>
          <a:p>
            <a:endParaRPr lang="en-US" dirty="0"/>
          </a:p>
        </p:txBody>
      </p:sp>
      <p:pic>
        <p:nvPicPr>
          <p:cNvPr id="9" name="Picture 8">
            <a:extLst>
              <a:ext uri="{FF2B5EF4-FFF2-40B4-BE49-F238E27FC236}">
                <a16:creationId xmlns:a16="http://schemas.microsoft.com/office/drawing/2014/main" id="{68068045-5C33-464B-9F79-2890147F5A70}"/>
              </a:ext>
            </a:extLst>
          </p:cNvPr>
          <p:cNvPicPr>
            <a:picLocks noChangeAspect="1"/>
          </p:cNvPicPr>
          <p:nvPr/>
        </p:nvPicPr>
        <p:blipFill>
          <a:blip r:embed="rId3"/>
          <a:stretch>
            <a:fillRect/>
          </a:stretch>
        </p:blipFill>
        <p:spPr>
          <a:xfrm>
            <a:off x="685800" y="5626224"/>
            <a:ext cx="5981700" cy="600075"/>
          </a:xfrm>
          <a:prstGeom prst="rect">
            <a:avLst/>
          </a:prstGeom>
        </p:spPr>
      </p:pic>
    </p:spTree>
    <p:extLst>
      <p:ext uri="{BB962C8B-B14F-4D97-AF65-F5344CB8AC3E}">
        <p14:creationId xmlns:p14="http://schemas.microsoft.com/office/powerpoint/2010/main" val="3118340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029809"/>
            <a:ext cx="5679489" cy="2672179"/>
          </a:xfrm>
        </p:spPr>
        <p:txBody>
          <a:bodyPr/>
          <a:lstStyle/>
          <a:p>
            <a:r>
              <a:rPr lang="en-US" sz="3200" b="1" dirty="0"/>
              <a:t>Declarations on Top</a:t>
            </a:r>
          </a:p>
          <a:p>
            <a:pPr>
              <a:lnSpc>
                <a:spcPct val="100000"/>
              </a:lnSpc>
            </a:pPr>
            <a:r>
              <a:rPr lang="en-US" dirty="0">
                <a:latin typeface="Open Sans" panose="020B0604020202020204" charset="0"/>
                <a:ea typeface="Open Sans" panose="020B0604020202020204" charset="0"/>
                <a:cs typeface="Open Sans" panose="020B0604020202020204" charset="0"/>
              </a:rPr>
              <a:t>It is a good coding practice to put all declarations at the top of each script or function.</a:t>
            </a:r>
          </a:p>
          <a:p>
            <a:pPr>
              <a:lnSpc>
                <a:spcPct val="100000"/>
              </a:lnSpc>
            </a:pPr>
            <a:r>
              <a:rPr lang="en-US" dirty="0">
                <a:latin typeface="Open Sans" panose="020B0604020202020204" charset="0"/>
                <a:ea typeface="Open Sans" panose="020B0604020202020204" charset="0"/>
                <a:cs typeface="Open Sans" panose="020B0604020202020204" charset="0"/>
              </a:rPr>
              <a:t>This will:</a:t>
            </a:r>
          </a:p>
          <a:p>
            <a:pPr marL="342900" indent="-342900">
              <a:lnSpc>
                <a:spcPct val="100000"/>
              </a:lnSpc>
              <a:buFont typeface="Arial" panose="020B0604020202020204" pitchFamily="34" charset="0"/>
              <a:buChar char="•"/>
            </a:pPr>
            <a:r>
              <a:rPr lang="en-US" dirty="0">
                <a:latin typeface="Open Sans" panose="020B0604020202020204" charset="0"/>
                <a:ea typeface="Open Sans" panose="020B0604020202020204" charset="0"/>
                <a:cs typeface="Open Sans" panose="020B0604020202020204" charset="0"/>
              </a:rPr>
              <a:t>Give cleaner code</a:t>
            </a:r>
          </a:p>
          <a:p>
            <a:pPr marL="342900" indent="-342900">
              <a:lnSpc>
                <a:spcPct val="100000"/>
              </a:lnSpc>
              <a:buFont typeface="Arial" panose="020B0604020202020204" pitchFamily="34" charset="0"/>
              <a:buChar char="•"/>
            </a:pPr>
            <a:r>
              <a:rPr lang="en-US" dirty="0">
                <a:latin typeface="Open Sans" panose="020B0604020202020204" charset="0"/>
                <a:ea typeface="Open Sans" panose="020B0604020202020204" charset="0"/>
                <a:cs typeface="Open Sans" panose="020B0604020202020204" charset="0"/>
              </a:rPr>
              <a:t>Provide a single place to look for local variables</a:t>
            </a:r>
          </a:p>
          <a:p>
            <a:pPr marL="342900" indent="-342900">
              <a:lnSpc>
                <a:spcPct val="100000"/>
              </a:lnSpc>
              <a:buFont typeface="Arial" panose="020B0604020202020204" pitchFamily="34" charset="0"/>
              <a:buChar char="•"/>
            </a:pPr>
            <a:r>
              <a:rPr lang="en-US" dirty="0">
                <a:latin typeface="Open Sans" panose="020B0604020202020204" charset="0"/>
                <a:ea typeface="Open Sans" panose="020B0604020202020204" charset="0"/>
                <a:cs typeface="Open Sans" panose="020B0604020202020204" charset="0"/>
              </a:rPr>
              <a:t>Make it easier to avoid unwanted (implied) global variables</a:t>
            </a:r>
          </a:p>
          <a:p>
            <a:pPr marL="342900" indent="-342900">
              <a:lnSpc>
                <a:spcPct val="100000"/>
              </a:lnSpc>
              <a:buFont typeface="Arial" panose="020B0604020202020204" pitchFamily="34" charset="0"/>
              <a:buChar char="•"/>
            </a:pPr>
            <a:r>
              <a:rPr lang="en-US" dirty="0">
                <a:latin typeface="Open Sans" panose="020B0604020202020204" charset="0"/>
                <a:ea typeface="Open Sans" panose="020B0604020202020204" charset="0"/>
                <a:cs typeface="Open Sans" panose="020B0604020202020204" charset="0"/>
              </a:rPr>
              <a:t>Reduce the possibility of unwanted re-declarations</a:t>
            </a:r>
          </a:p>
          <a:p>
            <a:pPr marL="342900" indent="-342900">
              <a:buFont typeface="Arial" panose="020B0604020202020204" pitchFamily="34" charset="0"/>
              <a:buChar char="•"/>
            </a:pPr>
            <a:endParaRPr lang="en-US" dirty="0"/>
          </a:p>
          <a:p>
            <a:endParaRPr lang="en-US" dirty="0"/>
          </a:p>
          <a:p>
            <a:br>
              <a:rPr lang="en-US" dirty="0"/>
            </a:br>
            <a:br>
              <a:rPr lang="en-US" dirty="0"/>
            </a:br>
            <a:endParaRPr lang="en-US"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W3Schools JavaScript Style Guide</a:t>
            </a:r>
            <a:endParaRPr lang="uk-UA" sz="4400" dirty="0"/>
          </a:p>
        </p:txBody>
      </p:sp>
      <p:pic>
        <p:nvPicPr>
          <p:cNvPr id="2" name="Picture 1">
            <a:extLst>
              <a:ext uri="{FF2B5EF4-FFF2-40B4-BE49-F238E27FC236}">
                <a16:creationId xmlns:a16="http://schemas.microsoft.com/office/drawing/2014/main" id="{7D678243-6F64-40DB-AF94-13D662B9C99F}"/>
              </a:ext>
            </a:extLst>
          </p:cNvPr>
          <p:cNvPicPr>
            <a:picLocks noChangeAspect="1"/>
          </p:cNvPicPr>
          <p:nvPr/>
        </p:nvPicPr>
        <p:blipFill>
          <a:blip r:embed="rId2"/>
          <a:stretch>
            <a:fillRect/>
          </a:stretch>
        </p:blipFill>
        <p:spPr>
          <a:xfrm>
            <a:off x="6096000" y="947737"/>
            <a:ext cx="5572125" cy="4962525"/>
          </a:xfrm>
          <a:prstGeom prst="rect">
            <a:avLst/>
          </a:prstGeom>
        </p:spPr>
      </p:pic>
      <p:pic>
        <p:nvPicPr>
          <p:cNvPr id="3" name="Picture 2">
            <a:extLst>
              <a:ext uri="{FF2B5EF4-FFF2-40B4-BE49-F238E27FC236}">
                <a16:creationId xmlns:a16="http://schemas.microsoft.com/office/drawing/2014/main" id="{7ED67570-FCB1-4425-B473-486132A6CA01}"/>
              </a:ext>
            </a:extLst>
          </p:cNvPr>
          <p:cNvPicPr>
            <a:picLocks noChangeAspect="1"/>
          </p:cNvPicPr>
          <p:nvPr/>
        </p:nvPicPr>
        <p:blipFill>
          <a:blip r:embed="rId3"/>
          <a:stretch>
            <a:fillRect/>
          </a:stretch>
        </p:blipFill>
        <p:spPr>
          <a:xfrm>
            <a:off x="523875" y="5626177"/>
            <a:ext cx="5486400" cy="800100"/>
          </a:xfrm>
          <a:prstGeom prst="rect">
            <a:avLst/>
          </a:prstGeom>
        </p:spPr>
      </p:pic>
    </p:spTree>
    <p:extLst>
      <p:ext uri="{BB962C8B-B14F-4D97-AF65-F5344CB8AC3E}">
        <p14:creationId xmlns:p14="http://schemas.microsoft.com/office/powerpoint/2010/main" val="1253804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7"/>
            <a:ext cx="4454371" cy="2672179"/>
          </a:xfrm>
        </p:spPr>
        <p:txBody>
          <a:bodyPr/>
          <a:lstStyle/>
          <a:p>
            <a:r>
              <a:rPr lang="en-US" sz="3200" b="1" dirty="0"/>
              <a:t>Initialize Variables</a:t>
            </a:r>
          </a:p>
          <a:p>
            <a:r>
              <a:rPr lang="en-US" dirty="0"/>
              <a:t>It is a good coding practice to initialize variables when you declare them.</a:t>
            </a:r>
          </a:p>
          <a:p>
            <a:r>
              <a:rPr lang="en-US" dirty="0"/>
              <a:t>This will:</a:t>
            </a:r>
          </a:p>
          <a:p>
            <a:pPr marL="342900" indent="-342900">
              <a:buFont typeface="Arial" panose="020B0604020202020204" pitchFamily="34" charset="0"/>
              <a:buChar char="•"/>
            </a:pPr>
            <a:r>
              <a:rPr lang="en-US" dirty="0"/>
              <a:t>Give cleaner code</a:t>
            </a:r>
          </a:p>
          <a:p>
            <a:pPr marL="342900" indent="-342900">
              <a:buFont typeface="Arial" panose="020B0604020202020204" pitchFamily="34" charset="0"/>
              <a:buChar char="•"/>
            </a:pPr>
            <a:r>
              <a:rPr lang="en-US" dirty="0"/>
              <a:t>Provide a single place to initialize variables</a:t>
            </a:r>
          </a:p>
          <a:p>
            <a:pPr marL="342900" indent="-342900">
              <a:buFont typeface="Arial" panose="020B0604020202020204" pitchFamily="34" charset="0"/>
              <a:buChar char="•"/>
            </a:pPr>
            <a:r>
              <a:rPr lang="en-US" dirty="0"/>
              <a:t>Avoid undefined values</a:t>
            </a:r>
          </a:p>
          <a:p>
            <a:pPr marL="342900" indent="-342900">
              <a:buFont typeface="Arial" panose="020B0604020202020204" pitchFamily="34" charset="0"/>
              <a:buChar char="•"/>
            </a:pPr>
            <a:endParaRPr lang="en-US" dirty="0"/>
          </a:p>
          <a:p>
            <a:endParaRPr lang="en-US" dirty="0"/>
          </a:p>
          <a:p>
            <a:br>
              <a:rPr lang="en-US" dirty="0"/>
            </a:br>
            <a:br>
              <a:rPr lang="en-US" dirty="0"/>
            </a:br>
            <a:endParaRPr lang="en-US"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W3Schools JavaScript Style Guide</a:t>
            </a:r>
            <a:endParaRPr lang="uk-UA" sz="4400" dirty="0"/>
          </a:p>
        </p:txBody>
      </p:sp>
      <p:pic>
        <p:nvPicPr>
          <p:cNvPr id="2" name="Picture 1">
            <a:extLst>
              <a:ext uri="{FF2B5EF4-FFF2-40B4-BE49-F238E27FC236}">
                <a16:creationId xmlns:a16="http://schemas.microsoft.com/office/drawing/2014/main" id="{5ACC4F3A-16D8-4516-80C4-7B6E6F955976}"/>
              </a:ext>
            </a:extLst>
          </p:cNvPr>
          <p:cNvPicPr>
            <a:picLocks noChangeAspect="1"/>
          </p:cNvPicPr>
          <p:nvPr/>
        </p:nvPicPr>
        <p:blipFill>
          <a:blip r:embed="rId2"/>
          <a:stretch>
            <a:fillRect/>
          </a:stretch>
        </p:blipFill>
        <p:spPr>
          <a:xfrm>
            <a:off x="5554045" y="1729619"/>
            <a:ext cx="5629275" cy="3114675"/>
          </a:xfrm>
          <a:prstGeom prst="rect">
            <a:avLst/>
          </a:prstGeom>
        </p:spPr>
      </p:pic>
    </p:spTree>
    <p:extLst>
      <p:ext uri="{BB962C8B-B14F-4D97-AF65-F5344CB8AC3E}">
        <p14:creationId xmlns:p14="http://schemas.microsoft.com/office/powerpoint/2010/main" val="2656576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8"/>
            <a:ext cx="10393532" cy="506028"/>
          </a:xfrm>
        </p:spPr>
        <p:txBody>
          <a:bodyPr/>
          <a:lstStyle/>
          <a:p>
            <a:r>
              <a:rPr lang="en-US" sz="3200" b="1" dirty="0"/>
              <a:t>Never Declare Number, String, or Boolean Objects</a:t>
            </a:r>
            <a:br>
              <a:rPr lang="en-US" dirty="0"/>
            </a:br>
            <a:br>
              <a:rPr lang="en-US" dirty="0"/>
            </a:br>
            <a:endParaRPr lang="en-US"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W3Schools JavaScript Style Guide</a:t>
            </a:r>
            <a:endParaRPr lang="uk-UA" sz="4400" dirty="0"/>
          </a:p>
        </p:txBody>
      </p:sp>
      <p:sp>
        <p:nvSpPr>
          <p:cNvPr id="3" name="Rectangle 2">
            <a:extLst>
              <a:ext uri="{FF2B5EF4-FFF2-40B4-BE49-F238E27FC236}">
                <a16:creationId xmlns:a16="http://schemas.microsoft.com/office/drawing/2014/main" id="{CACFF91F-E6D8-487C-8238-354D6A0CF9DC}"/>
              </a:ext>
            </a:extLst>
          </p:cNvPr>
          <p:cNvSpPr/>
          <p:nvPr/>
        </p:nvSpPr>
        <p:spPr>
          <a:xfrm>
            <a:off x="685800" y="2050743"/>
            <a:ext cx="4898254" cy="1882567"/>
          </a:xfrm>
          <a:prstGeom prst="rect">
            <a:avLst/>
          </a:prstGeom>
        </p:spPr>
        <p:txBody>
          <a:bodyPr wrap="square">
            <a:spAutoFit/>
          </a:bodyPr>
          <a:lstStyle/>
          <a:p>
            <a:pPr lvl="0">
              <a:lnSpc>
                <a:spcPct val="90000"/>
              </a:lnSpc>
              <a:spcBef>
                <a:spcPts val="1000"/>
              </a:spcBef>
            </a:pPr>
            <a:r>
              <a:rPr lang="en-US" sz="2000" dirty="0">
                <a:solidFill>
                  <a:prstClr val="black"/>
                </a:solidFill>
                <a:latin typeface="Open Sans" panose="020B0606030504020204" pitchFamily="34" charset="0"/>
                <a:ea typeface="Open Sans" panose="020B0606030504020204" pitchFamily="34" charset="0"/>
                <a:cs typeface="Open Sans" panose="020B0606030504020204" pitchFamily="34" charset="0"/>
              </a:rPr>
              <a:t>Always treat numbers, strings, or booleans as primitive values. Not as objects.</a:t>
            </a:r>
          </a:p>
          <a:p>
            <a:pPr lvl="0">
              <a:lnSpc>
                <a:spcPct val="90000"/>
              </a:lnSpc>
              <a:spcBef>
                <a:spcPts val="1000"/>
              </a:spcBef>
            </a:pPr>
            <a:r>
              <a:rPr lang="en-US" sz="2000" dirty="0">
                <a:solidFill>
                  <a:prstClr val="black"/>
                </a:solidFill>
                <a:latin typeface="Open Sans" panose="020B0606030504020204" pitchFamily="34" charset="0"/>
                <a:ea typeface="Open Sans" panose="020B0606030504020204" pitchFamily="34" charset="0"/>
                <a:cs typeface="Open Sans" panose="020B0606030504020204" pitchFamily="34" charset="0"/>
              </a:rPr>
              <a:t>Declaring these types as objects, slows down execution speed, and produces nasty side effects…</a:t>
            </a:r>
          </a:p>
        </p:txBody>
      </p:sp>
      <p:pic>
        <p:nvPicPr>
          <p:cNvPr id="4" name="Picture 3">
            <a:extLst>
              <a:ext uri="{FF2B5EF4-FFF2-40B4-BE49-F238E27FC236}">
                <a16:creationId xmlns:a16="http://schemas.microsoft.com/office/drawing/2014/main" id="{F3F74500-1D32-421C-A9FE-87BB5F3D71A9}"/>
              </a:ext>
            </a:extLst>
          </p:cNvPr>
          <p:cNvPicPr>
            <a:picLocks noChangeAspect="1"/>
          </p:cNvPicPr>
          <p:nvPr/>
        </p:nvPicPr>
        <p:blipFill>
          <a:blip r:embed="rId2"/>
          <a:stretch>
            <a:fillRect/>
          </a:stretch>
        </p:blipFill>
        <p:spPr>
          <a:xfrm>
            <a:off x="5478632" y="2050743"/>
            <a:ext cx="5600700" cy="3048000"/>
          </a:xfrm>
          <a:prstGeom prst="rect">
            <a:avLst/>
          </a:prstGeom>
        </p:spPr>
      </p:pic>
    </p:spTree>
    <p:extLst>
      <p:ext uri="{BB962C8B-B14F-4D97-AF65-F5344CB8AC3E}">
        <p14:creationId xmlns:p14="http://schemas.microsoft.com/office/powerpoint/2010/main" val="24127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7"/>
            <a:ext cx="5111318" cy="3675356"/>
          </a:xfrm>
        </p:spPr>
        <p:txBody>
          <a:bodyPr/>
          <a:lstStyle/>
          <a:p>
            <a:r>
              <a:rPr lang="en-US" sz="3200" b="1" dirty="0"/>
              <a:t>Don't Use new Object()</a:t>
            </a:r>
          </a:p>
          <a:p>
            <a:r>
              <a:rPr lang="en-US" dirty="0"/>
              <a:t>Use </a:t>
            </a:r>
            <a:r>
              <a:rPr lang="en-US" dirty="0">
                <a:solidFill>
                  <a:srgbClr val="FF0000"/>
                </a:solidFill>
                <a:highlight>
                  <a:srgbClr val="C0C0C0"/>
                </a:highlight>
              </a:rPr>
              <a:t>{}</a:t>
            </a:r>
            <a:r>
              <a:rPr lang="en-US" dirty="0"/>
              <a:t> instead of </a:t>
            </a:r>
            <a:r>
              <a:rPr lang="en-US" dirty="0">
                <a:solidFill>
                  <a:srgbClr val="FF0000"/>
                </a:solidFill>
                <a:highlight>
                  <a:srgbClr val="C0C0C0"/>
                </a:highlight>
              </a:rPr>
              <a:t>new Object()</a:t>
            </a:r>
          </a:p>
          <a:p>
            <a:r>
              <a:rPr lang="en-US" dirty="0"/>
              <a:t>Use </a:t>
            </a:r>
            <a:r>
              <a:rPr lang="en-US" dirty="0">
                <a:solidFill>
                  <a:srgbClr val="FF0000"/>
                </a:solidFill>
                <a:highlight>
                  <a:srgbClr val="C0C0C0"/>
                </a:highlight>
              </a:rPr>
              <a:t>""</a:t>
            </a:r>
            <a:r>
              <a:rPr lang="en-US" dirty="0"/>
              <a:t> instead of </a:t>
            </a:r>
            <a:r>
              <a:rPr lang="en-US" dirty="0">
                <a:solidFill>
                  <a:srgbClr val="FF0000"/>
                </a:solidFill>
                <a:highlight>
                  <a:srgbClr val="C0C0C0"/>
                </a:highlight>
              </a:rPr>
              <a:t>new String()</a:t>
            </a:r>
          </a:p>
          <a:p>
            <a:r>
              <a:rPr lang="en-US" dirty="0"/>
              <a:t>Use </a:t>
            </a:r>
            <a:r>
              <a:rPr lang="en-US" dirty="0">
                <a:solidFill>
                  <a:srgbClr val="FF0000"/>
                </a:solidFill>
                <a:highlight>
                  <a:srgbClr val="C0C0C0"/>
                </a:highlight>
              </a:rPr>
              <a:t>0</a:t>
            </a:r>
            <a:r>
              <a:rPr lang="en-US" dirty="0"/>
              <a:t> instead of </a:t>
            </a:r>
            <a:r>
              <a:rPr lang="en-US" dirty="0">
                <a:solidFill>
                  <a:srgbClr val="FF0000"/>
                </a:solidFill>
                <a:highlight>
                  <a:srgbClr val="C0C0C0"/>
                </a:highlight>
              </a:rPr>
              <a:t>new Number()</a:t>
            </a:r>
          </a:p>
          <a:p>
            <a:r>
              <a:rPr lang="en-US" dirty="0"/>
              <a:t>Use </a:t>
            </a:r>
            <a:r>
              <a:rPr lang="en-US" dirty="0">
                <a:solidFill>
                  <a:srgbClr val="FF0000"/>
                </a:solidFill>
                <a:highlight>
                  <a:srgbClr val="C0C0C0"/>
                </a:highlight>
              </a:rPr>
              <a:t>false</a:t>
            </a:r>
            <a:r>
              <a:rPr lang="en-US" dirty="0"/>
              <a:t> instead of </a:t>
            </a:r>
            <a:r>
              <a:rPr lang="en-US" dirty="0">
                <a:solidFill>
                  <a:srgbClr val="FF0000"/>
                </a:solidFill>
                <a:highlight>
                  <a:srgbClr val="C0C0C0"/>
                </a:highlight>
              </a:rPr>
              <a:t>new Boolean()</a:t>
            </a:r>
          </a:p>
          <a:p>
            <a:r>
              <a:rPr lang="en-US" dirty="0"/>
              <a:t>Use </a:t>
            </a:r>
            <a:r>
              <a:rPr lang="en-US" dirty="0">
                <a:solidFill>
                  <a:srgbClr val="FF0000"/>
                </a:solidFill>
                <a:highlight>
                  <a:srgbClr val="C0C0C0"/>
                </a:highlight>
              </a:rPr>
              <a:t>[]</a:t>
            </a:r>
            <a:r>
              <a:rPr lang="en-US" dirty="0"/>
              <a:t> instead of </a:t>
            </a:r>
            <a:r>
              <a:rPr lang="en-US" dirty="0">
                <a:solidFill>
                  <a:srgbClr val="FF0000"/>
                </a:solidFill>
                <a:highlight>
                  <a:srgbClr val="C0C0C0"/>
                </a:highlight>
              </a:rPr>
              <a:t>new Array()</a:t>
            </a:r>
          </a:p>
          <a:p>
            <a:r>
              <a:rPr lang="en-US" dirty="0"/>
              <a:t>Use </a:t>
            </a:r>
            <a:r>
              <a:rPr lang="en-US" dirty="0">
                <a:solidFill>
                  <a:srgbClr val="FF0000"/>
                </a:solidFill>
                <a:highlight>
                  <a:srgbClr val="C0C0C0"/>
                </a:highlight>
              </a:rPr>
              <a:t>/()/</a:t>
            </a:r>
            <a:r>
              <a:rPr lang="en-US" dirty="0"/>
              <a:t> instead of </a:t>
            </a:r>
            <a:r>
              <a:rPr lang="en-US" dirty="0">
                <a:solidFill>
                  <a:srgbClr val="FF0000"/>
                </a:solidFill>
                <a:highlight>
                  <a:srgbClr val="C0C0C0"/>
                </a:highlight>
              </a:rPr>
              <a:t>new </a:t>
            </a:r>
            <a:r>
              <a:rPr lang="en-US" dirty="0" err="1">
                <a:solidFill>
                  <a:srgbClr val="FF0000"/>
                </a:solidFill>
                <a:highlight>
                  <a:srgbClr val="C0C0C0"/>
                </a:highlight>
              </a:rPr>
              <a:t>RegExp</a:t>
            </a:r>
            <a:r>
              <a:rPr lang="en-US" dirty="0">
                <a:solidFill>
                  <a:srgbClr val="FF0000"/>
                </a:solidFill>
                <a:highlight>
                  <a:srgbClr val="C0C0C0"/>
                </a:highlight>
              </a:rPr>
              <a:t>()</a:t>
            </a:r>
          </a:p>
          <a:p>
            <a:r>
              <a:rPr lang="en-US" dirty="0"/>
              <a:t>Use </a:t>
            </a:r>
            <a:r>
              <a:rPr lang="en-US" dirty="0">
                <a:solidFill>
                  <a:srgbClr val="FF0000"/>
                </a:solidFill>
                <a:highlight>
                  <a:srgbClr val="C0C0C0"/>
                </a:highlight>
              </a:rPr>
              <a:t>function (){}</a:t>
            </a:r>
            <a:r>
              <a:rPr lang="en-US" dirty="0"/>
              <a:t> instead of </a:t>
            </a:r>
            <a:r>
              <a:rPr lang="en-US" dirty="0">
                <a:solidFill>
                  <a:srgbClr val="FF0000"/>
                </a:solidFill>
                <a:highlight>
                  <a:srgbClr val="C0C0C0"/>
                </a:highlight>
              </a:rPr>
              <a:t>new Function()</a:t>
            </a:r>
          </a:p>
          <a:p>
            <a:br>
              <a:rPr lang="en-US" dirty="0"/>
            </a:br>
            <a:br>
              <a:rPr lang="en-US" dirty="0"/>
            </a:br>
            <a:endParaRPr lang="en-US"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W3Schools JavaScript Style Guide</a:t>
            </a:r>
            <a:endParaRPr lang="uk-UA" sz="4400" dirty="0"/>
          </a:p>
        </p:txBody>
      </p:sp>
      <p:pic>
        <p:nvPicPr>
          <p:cNvPr id="4" name="Picture 3">
            <a:extLst>
              <a:ext uri="{FF2B5EF4-FFF2-40B4-BE49-F238E27FC236}">
                <a16:creationId xmlns:a16="http://schemas.microsoft.com/office/drawing/2014/main" id="{CE2ADE9D-59EF-4243-B43F-0D0D297684DF}"/>
              </a:ext>
            </a:extLst>
          </p:cNvPr>
          <p:cNvPicPr>
            <a:picLocks noChangeAspect="1"/>
          </p:cNvPicPr>
          <p:nvPr/>
        </p:nvPicPr>
        <p:blipFill>
          <a:blip r:embed="rId2"/>
          <a:stretch>
            <a:fillRect/>
          </a:stretch>
        </p:blipFill>
        <p:spPr>
          <a:xfrm>
            <a:off x="6677025" y="1739052"/>
            <a:ext cx="5514975" cy="2314575"/>
          </a:xfrm>
          <a:prstGeom prst="rect">
            <a:avLst/>
          </a:prstGeom>
        </p:spPr>
      </p:pic>
    </p:spTree>
    <p:extLst>
      <p:ext uri="{BB962C8B-B14F-4D97-AF65-F5344CB8AC3E}">
        <p14:creationId xmlns:p14="http://schemas.microsoft.com/office/powerpoint/2010/main" val="3730604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8"/>
            <a:ext cx="8174116" cy="506028"/>
          </a:xfrm>
        </p:spPr>
        <p:txBody>
          <a:bodyPr/>
          <a:lstStyle/>
          <a:p>
            <a:r>
              <a:rPr lang="en-US" sz="3200" b="1" dirty="0"/>
              <a:t>Beware of Automatic Type Conversions</a:t>
            </a:r>
            <a:endParaRPr lang="uk-UA" sz="3200" b="1" dirty="0"/>
          </a:p>
          <a:p>
            <a:endParaRPr lang="en-US" dirty="0"/>
          </a:p>
          <a:p>
            <a:br>
              <a:rPr lang="en-US" dirty="0"/>
            </a:br>
            <a:br>
              <a:rPr lang="en-US" dirty="0"/>
            </a:br>
            <a:endParaRPr lang="en-US"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W3Schools JavaScript Style Guide</a:t>
            </a:r>
            <a:endParaRPr lang="uk-UA" sz="4400" dirty="0"/>
          </a:p>
        </p:txBody>
      </p:sp>
      <p:sp>
        <p:nvSpPr>
          <p:cNvPr id="8" name="Rectangle 7">
            <a:extLst>
              <a:ext uri="{FF2B5EF4-FFF2-40B4-BE49-F238E27FC236}">
                <a16:creationId xmlns:a16="http://schemas.microsoft.com/office/drawing/2014/main" id="{1E6E5AAA-F39A-4D49-904D-74CFC82B1ABB}"/>
              </a:ext>
            </a:extLst>
          </p:cNvPr>
          <p:cNvSpPr/>
          <p:nvPr/>
        </p:nvSpPr>
        <p:spPr>
          <a:xfrm>
            <a:off x="349188" y="1882106"/>
            <a:ext cx="5061012" cy="2246769"/>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Beware that numbers can accidentally be converted to strings or </a:t>
            </a:r>
            <a:r>
              <a:rPr lang="en-US" sz="2000" dirty="0" err="1">
                <a:solidFill>
                  <a:srgbClr val="FF0000"/>
                </a:solidFill>
                <a:highlight>
                  <a:srgbClr val="C0C0C0"/>
                </a:highlight>
                <a:latin typeface="Open Sans" panose="020B0604020202020204" charset="0"/>
                <a:ea typeface="Open Sans" panose="020B0604020202020204" charset="0"/>
                <a:cs typeface="Open Sans" panose="020B0604020202020204" charset="0"/>
              </a:rPr>
              <a:t>NaN</a:t>
            </a:r>
            <a:r>
              <a:rPr lang="en-US" sz="2000" dirty="0">
                <a:latin typeface="Open Sans" panose="020B0604020202020204" charset="0"/>
                <a:ea typeface="Open Sans" panose="020B0604020202020204" charset="0"/>
                <a:cs typeface="Open Sans" panose="020B0604020202020204" charset="0"/>
              </a:rPr>
              <a:t> (Not a Number).</a:t>
            </a:r>
          </a:p>
          <a:p>
            <a:endParaRPr lang="en-US" sz="2000" dirty="0">
              <a:latin typeface="Open Sans" panose="020B0604020202020204" charset="0"/>
              <a:ea typeface="Open Sans" panose="020B0604020202020204" charset="0"/>
              <a:cs typeface="Open Sans" panose="020B0604020202020204" charset="0"/>
            </a:endParaRPr>
          </a:p>
          <a:p>
            <a:r>
              <a:rPr lang="en-US" sz="2000" dirty="0">
                <a:latin typeface="Open Sans" panose="020B0604020202020204" charset="0"/>
                <a:ea typeface="Open Sans" panose="020B0604020202020204" charset="0"/>
                <a:cs typeface="Open Sans" panose="020B0604020202020204" charset="0"/>
              </a:rPr>
              <a:t>JavaScript is loosely typed. A variable can contain different data types, and a variable can change its data type:</a:t>
            </a:r>
          </a:p>
        </p:txBody>
      </p:sp>
      <p:pic>
        <p:nvPicPr>
          <p:cNvPr id="9" name="Picture 8">
            <a:extLst>
              <a:ext uri="{FF2B5EF4-FFF2-40B4-BE49-F238E27FC236}">
                <a16:creationId xmlns:a16="http://schemas.microsoft.com/office/drawing/2014/main" id="{FD6E5FE7-35CA-4EBF-BC3F-16A1E140DDF2}"/>
              </a:ext>
            </a:extLst>
          </p:cNvPr>
          <p:cNvPicPr>
            <a:picLocks noChangeAspect="1"/>
          </p:cNvPicPr>
          <p:nvPr/>
        </p:nvPicPr>
        <p:blipFill>
          <a:blip r:embed="rId2"/>
          <a:stretch>
            <a:fillRect/>
          </a:stretch>
        </p:blipFill>
        <p:spPr>
          <a:xfrm>
            <a:off x="349188" y="4052744"/>
            <a:ext cx="5265703" cy="1102793"/>
          </a:xfrm>
          <a:prstGeom prst="rect">
            <a:avLst/>
          </a:prstGeom>
        </p:spPr>
      </p:pic>
      <p:sp>
        <p:nvSpPr>
          <p:cNvPr id="10" name="Rectangle 9">
            <a:extLst>
              <a:ext uri="{FF2B5EF4-FFF2-40B4-BE49-F238E27FC236}">
                <a16:creationId xmlns:a16="http://schemas.microsoft.com/office/drawing/2014/main" id="{D23759A6-4BFC-4542-9BBD-0510385FB945}"/>
              </a:ext>
            </a:extLst>
          </p:cNvPr>
          <p:cNvSpPr/>
          <p:nvPr/>
        </p:nvSpPr>
        <p:spPr>
          <a:xfrm>
            <a:off x="5746812" y="1882106"/>
            <a:ext cx="6096000" cy="1261884"/>
          </a:xfrm>
          <a:prstGeom prst="rect">
            <a:avLst/>
          </a:prstGeom>
        </p:spPr>
        <p:txBody>
          <a:bodyPr>
            <a:spAutoFit/>
          </a:bodyPr>
          <a:lstStyle/>
          <a:p>
            <a:r>
              <a:rPr lang="en-US" sz="2000" dirty="0">
                <a:solidFill>
                  <a:srgbClr val="000000"/>
                </a:solidFill>
                <a:latin typeface="Open Sans" panose="020B0604020202020204" charset="0"/>
                <a:ea typeface="Open Sans" panose="020B0604020202020204" charset="0"/>
                <a:cs typeface="Open Sans" panose="020B0604020202020204" charset="0"/>
              </a:rPr>
              <a:t>When doing mathematical operations, JavaScript can convert numbers to strings:</a:t>
            </a:r>
          </a:p>
          <a:p>
            <a:br>
              <a:rPr lang="en-US" dirty="0">
                <a:solidFill>
                  <a:srgbClr val="000000"/>
                </a:solidFill>
                <a:latin typeface="Verdana" panose="020B0604030504040204" pitchFamily="34" charset="0"/>
              </a:rPr>
            </a:br>
            <a:endParaRPr lang="en-US" dirty="0"/>
          </a:p>
        </p:txBody>
      </p:sp>
      <p:pic>
        <p:nvPicPr>
          <p:cNvPr id="11" name="Picture 10">
            <a:extLst>
              <a:ext uri="{FF2B5EF4-FFF2-40B4-BE49-F238E27FC236}">
                <a16:creationId xmlns:a16="http://schemas.microsoft.com/office/drawing/2014/main" id="{0F8D7594-61FF-4CDD-B6C5-394C02818F6B}"/>
              </a:ext>
            </a:extLst>
          </p:cNvPr>
          <p:cNvPicPr>
            <a:picLocks noChangeAspect="1"/>
          </p:cNvPicPr>
          <p:nvPr/>
        </p:nvPicPr>
        <p:blipFill>
          <a:blip r:embed="rId3"/>
          <a:stretch>
            <a:fillRect/>
          </a:stretch>
        </p:blipFill>
        <p:spPr>
          <a:xfrm>
            <a:off x="5791200" y="2604207"/>
            <a:ext cx="5715000" cy="1952625"/>
          </a:xfrm>
          <a:prstGeom prst="rect">
            <a:avLst/>
          </a:prstGeom>
        </p:spPr>
      </p:pic>
      <p:sp>
        <p:nvSpPr>
          <p:cNvPr id="13" name="Rectangle 12">
            <a:extLst>
              <a:ext uri="{FF2B5EF4-FFF2-40B4-BE49-F238E27FC236}">
                <a16:creationId xmlns:a16="http://schemas.microsoft.com/office/drawing/2014/main" id="{235C0C19-D4E1-4F1B-ADC1-B85657C12AC2}"/>
              </a:ext>
            </a:extLst>
          </p:cNvPr>
          <p:cNvSpPr/>
          <p:nvPr/>
        </p:nvSpPr>
        <p:spPr>
          <a:xfrm>
            <a:off x="5791200" y="4611757"/>
            <a:ext cx="6300186" cy="707886"/>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Subtracting a string from a string, does not generate an error but returns </a:t>
            </a:r>
            <a:r>
              <a:rPr lang="en-US" sz="2000" dirty="0" err="1">
                <a:solidFill>
                  <a:srgbClr val="FF0000"/>
                </a:solidFill>
                <a:highlight>
                  <a:srgbClr val="C0C0C0"/>
                </a:highlight>
                <a:latin typeface="Open Sans" panose="020B0604020202020204" charset="0"/>
                <a:ea typeface="Open Sans" panose="020B0604020202020204" charset="0"/>
                <a:cs typeface="Open Sans" panose="020B0604020202020204" charset="0"/>
              </a:rPr>
              <a:t>NaN</a:t>
            </a:r>
            <a:r>
              <a:rPr lang="en-US" sz="2000" dirty="0">
                <a:latin typeface="Open Sans" panose="020B0604020202020204" charset="0"/>
                <a:ea typeface="Open Sans" panose="020B0604020202020204" charset="0"/>
                <a:cs typeface="Open Sans" panose="020B0604020202020204" charset="0"/>
              </a:rPr>
              <a:t> (Not a Number):</a:t>
            </a:r>
          </a:p>
        </p:txBody>
      </p:sp>
      <p:pic>
        <p:nvPicPr>
          <p:cNvPr id="14" name="Picture 13">
            <a:extLst>
              <a:ext uri="{FF2B5EF4-FFF2-40B4-BE49-F238E27FC236}">
                <a16:creationId xmlns:a16="http://schemas.microsoft.com/office/drawing/2014/main" id="{1ECC2EFB-936D-4765-BC63-7BE77988E9D2}"/>
              </a:ext>
            </a:extLst>
          </p:cNvPr>
          <p:cNvPicPr>
            <a:picLocks noChangeAspect="1"/>
          </p:cNvPicPr>
          <p:nvPr/>
        </p:nvPicPr>
        <p:blipFill>
          <a:blip r:embed="rId4"/>
          <a:stretch>
            <a:fillRect/>
          </a:stretch>
        </p:blipFill>
        <p:spPr>
          <a:xfrm>
            <a:off x="5906610" y="5335017"/>
            <a:ext cx="3400425" cy="666750"/>
          </a:xfrm>
          <a:prstGeom prst="rect">
            <a:avLst/>
          </a:prstGeom>
        </p:spPr>
      </p:pic>
    </p:spTree>
    <p:extLst>
      <p:ext uri="{BB962C8B-B14F-4D97-AF65-F5344CB8AC3E}">
        <p14:creationId xmlns:p14="http://schemas.microsoft.com/office/powerpoint/2010/main" val="3842528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8"/>
            <a:ext cx="9281160" cy="1642370"/>
          </a:xfrm>
        </p:spPr>
        <p:txBody>
          <a:bodyPr/>
          <a:lstStyle/>
          <a:p>
            <a:r>
              <a:rPr lang="en-US" sz="3200" b="1" dirty="0"/>
              <a:t>Use === Comparison</a:t>
            </a:r>
          </a:p>
          <a:p>
            <a:r>
              <a:rPr lang="en-US" dirty="0"/>
              <a:t>The </a:t>
            </a:r>
            <a:r>
              <a:rPr lang="en-US" dirty="0">
                <a:solidFill>
                  <a:srgbClr val="FF0000"/>
                </a:solidFill>
                <a:highlight>
                  <a:srgbClr val="C0C0C0"/>
                </a:highlight>
              </a:rPr>
              <a:t>==</a:t>
            </a:r>
            <a:r>
              <a:rPr lang="en-US" dirty="0"/>
              <a:t> comparison operator always converts (to matching types) before comparison.</a:t>
            </a:r>
          </a:p>
          <a:p>
            <a:r>
              <a:rPr lang="en-US" dirty="0"/>
              <a:t>The </a:t>
            </a:r>
            <a:r>
              <a:rPr lang="en-US" dirty="0">
                <a:solidFill>
                  <a:srgbClr val="FF0000"/>
                </a:solidFill>
                <a:highlight>
                  <a:srgbClr val="C0C0C0"/>
                </a:highlight>
              </a:rPr>
              <a:t>===</a:t>
            </a:r>
            <a:r>
              <a:rPr lang="en-US" dirty="0"/>
              <a:t> operator forces comparison of values and type:</a:t>
            </a:r>
          </a:p>
          <a:p>
            <a:br>
              <a:rPr lang="en-US" dirty="0"/>
            </a:br>
            <a:br>
              <a:rPr lang="en-US" dirty="0"/>
            </a:br>
            <a:endParaRPr lang="en-US"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W3Schools JavaScript Style Guide</a:t>
            </a:r>
            <a:endParaRPr lang="uk-UA" sz="4400" dirty="0"/>
          </a:p>
        </p:txBody>
      </p:sp>
      <p:pic>
        <p:nvPicPr>
          <p:cNvPr id="2" name="Picture 1">
            <a:extLst>
              <a:ext uri="{FF2B5EF4-FFF2-40B4-BE49-F238E27FC236}">
                <a16:creationId xmlns:a16="http://schemas.microsoft.com/office/drawing/2014/main" id="{F9581E6F-78B9-4C24-AFCA-D42361C46C35}"/>
              </a:ext>
            </a:extLst>
          </p:cNvPr>
          <p:cNvPicPr>
            <a:picLocks noChangeAspect="1"/>
          </p:cNvPicPr>
          <p:nvPr/>
        </p:nvPicPr>
        <p:blipFill>
          <a:blip r:embed="rId2"/>
          <a:stretch>
            <a:fillRect/>
          </a:stretch>
        </p:blipFill>
        <p:spPr>
          <a:xfrm>
            <a:off x="685800" y="2844923"/>
            <a:ext cx="7229475" cy="2781300"/>
          </a:xfrm>
          <a:prstGeom prst="rect">
            <a:avLst/>
          </a:prstGeom>
        </p:spPr>
      </p:pic>
      <p:sp>
        <p:nvSpPr>
          <p:cNvPr id="3" name="Rectangle 2">
            <a:extLst>
              <a:ext uri="{FF2B5EF4-FFF2-40B4-BE49-F238E27FC236}">
                <a16:creationId xmlns:a16="http://schemas.microsoft.com/office/drawing/2014/main" id="{B326747C-94C3-4DE2-A9FD-1329B54115F2}"/>
              </a:ext>
            </a:extLst>
          </p:cNvPr>
          <p:cNvSpPr/>
          <p:nvPr/>
        </p:nvSpPr>
        <p:spPr>
          <a:xfrm>
            <a:off x="685800" y="5675428"/>
            <a:ext cx="7229474" cy="1200329"/>
          </a:xfrm>
          <a:prstGeom prst="rect">
            <a:avLst/>
          </a:prstGeom>
        </p:spPr>
        <p:txBody>
          <a:bodyPr wrap="square">
            <a:spAutoFit/>
          </a:bodyPr>
          <a:lstStyle/>
          <a:p>
            <a:r>
              <a:rPr lang="en-US" dirty="0">
                <a:solidFill>
                  <a:srgbClr val="000000"/>
                </a:solidFill>
                <a:latin typeface="Verdana" panose="020B0604030504040204" pitchFamily="34" charset="0"/>
              </a:rPr>
              <a:t>Read more about function parameters and arguments at </a:t>
            </a:r>
            <a:r>
              <a:rPr lang="en-US" dirty="0">
                <a:solidFill>
                  <a:srgbClr val="000000"/>
                </a:solidFill>
                <a:latin typeface="Verdana" panose="020B0604030504040204" pitchFamily="34" charset="0"/>
                <a:hlinkClick r:id="rId3"/>
              </a:rPr>
              <a:t>Function Parameters</a:t>
            </a:r>
            <a:endParaRPr lang="en-US" dirty="0">
              <a:solidFill>
                <a:srgbClr val="000000"/>
              </a:solidFill>
              <a:latin typeface="Verdana" panose="020B0604030504040204" pitchFamily="34" charset="0"/>
            </a:endParaRPr>
          </a:p>
          <a:p>
            <a:br>
              <a:rPr lang="en-US" dirty="0"/>
            </a:br>
            <a:endParaRPr lang="en-US" dirty="0"/>
          </a:p>
        </p:txBody>
      </p:sp>
    </p:spTree>
    <p:extLst>
      <p:ext uri="{BB962C8B-B14F-4D97-AF65-F5344CB8AC3E}">
        <p14:creationId xmlns:p14="http://schemas.microsoft.com/office/powerpoint/2010/main" val="331585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171459" y="1052424"/>
            <a:ext cx="4837221" cy="928614"/>
          </a:xfrm>
        </p:spPr>
        <p:txBody>
          <a:bodyPr/>
          <a:lstStyle/>
          <a:p>
            <a:r>
              <a:rPr lang="en-US" sz="3200" b="1" dirty="0"/>
              <a:t>End Your Switches with Defaults</a:t>
            </a:r>
          </a:p>
          <a:p>
            <a:endParaRPr lang="en-US" dirty="0"/>
          </a:p>
          <a:p>
            <a:endParaRPr lang="en-US" dirty="0"/>
          </a:p>
          <a:p>
            <a:br>
              <a:rPr lang="en-US" dirty="0"/>
            </a:br>
            <a:br>
              <a:rPr lang="en-US" dirty="0"/>
            </a:br>
            <a:endParaRPr lang="en-US"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W3Schools JavaScript Style Guide</a:t>
            </a:r>
            <a:endParaRPr lang="uk-UA" sz="4400" dirty="0"/>
          </a:p>
        </p:txBody>
      </p:sp>
      <p:sp>
        <p:nvSpPr>
          <p:cNvPr id="2" name="Rectangle 1">
            <a:extLst>
              <a:ext uri="{FF2B5EF4-FFF2-40B4-BE49-F238E27FC236}">
                <a16:creationId xmlns:a16="http://schemas.microsoft.com/office/drawing/2014/main" id="{E82C6EE6-D688-479A-B9A2-BB9AFA07BA54}"/>
              </a:ext>
            </a:extLst>
          </p:cNvPr>
          <p:cNvSpPr/>
          <p:nvPr/>
        </p:nvSpPr>
        <p:spPr>
          <a:xfrm>
            <a:off x="6234158" y="2198961"/>
            <a:ext cx="4711824" cy="1015663"/>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Always end your </a:t>
            </a:r>
            <a:r>
              <a:rPr lang="en-US" sz="2000" dirty="0">
                <a:solidFill>
                  <a:srgbClr val="FF0000"/>
                </a:solidFill>
                <a:highlight>
                  <a:srgbClr val="C0C0C0"/>
                </a:highlight>
                <a:latin typeface="Open Sans" panose="020B0604020202020204" charset="0"/>
                <a:ea typeface="Open Sans" panose="020B0604020202020204" charset="0"/>
                <a:cs typeface="Open Sans" panose="020B0604020202020204" charset="0"/>
              </a:rPr>
              <a:t>switch</a:t>
            </a:r>
            <a:r>
              <a:rPr lang="en-US" sz="2000" dirty="0">
                <a:latin typeface="Open Sans" panose="020B0604020202020204" charset="0"/>
                <a:ea typeface="Open Sans" panose="020B0604020202020204" charset="0"/>
                <a:cs typeface="Open Sans" panose="020B0604020202020204" charset="0"/>
              </a:rPr>
              <a:t> statements with a </a:t>
            </a:r>
            <a:r>
              <a:rPr lang="en-US" sz="2000" dirty="0">
                <a:solidFill>
                  <a:srgbClr val="FF0000"/>
                </a:solidFill>
                <a:highlight>
                  <a:srgbClr val="C0C0C0"/>
                </a:highlight>
                <a:latin typeface="Open Sans" panose="020B0604020202020204" charset="0"/>
                <a:ea typeface="Open Sans" panose="020B0604020202020204" charset="0"/>
                <a:cs typeface="Open Sans" panose="020B0604020202020204" charset="0"/>
              </a:rPr>
              <a:t>default</a:t>
            </a:r>
            <a:r>
              <a:rPr lang="en-US" sz="2000" dirty="0">
                <a:latin typeface="Open Sans" panose="020B0604020202020204" charset="0"/>
                <a:ea typeface="Open Sans" panose="020B0604020202020204" charset="0"/>
                <a:cs typeface="Open Sans" panose="020B0604020202020204" charset="0"/>
              </a:rPr>
              <a:t>. Even if you think there is no need for it.</a:t>
            </a:r>
          </a:p>
        </p:txBody>
      </p:sp>
      <p:pic>
        <p:nvPicPr>
          <p:cNvPr id="3" name="Picture 2">
            <a:extLst>
              <a:ext uri="{FF2B5EF4-FFF2-40B4-BE49-F238E27FC236}">
                <a16:creationId xmlns:a16="http://schemas.microsoft.com/office/drawing/2014/main" id="{44C1923F-F562-48D7-9159-4106FC8A0433}"/>
              </a:ext>
            </a:extLst>
          </p:cNvPr>
          <p:cNvPicPr>
            <a:picLocks noChangeAspect="1"/>
          </p:cNvPicPr>
          <p:nvPr/>
        </p:nvPicPr>
        <p:blipFill>
          <a:blip r:embed="rId2"/>
          <a:stretch>
            <a:fillRect/>
          </a:stretch>
        </p:blipFill>
        <p:spPr>
          <a:xfrm>
            <a:off x="549490" y="803872"/>
            <a:ext cx="5124450" cy="5838825"/>
          </a:xfrm>
          <a:prstGeom prst="rect">
            <a:avLst/>
          </a:prstGeom>
        </p:spPr>
      </p:pic>
    </p:spTree>
    <p:extLst>
      <p:ext uri="{BB962C8B-B14F-4D97-AF65-F5344CB8AC3E}">
        <p14:creationId xmlns:p14="http://schemas.microsoft.com/office/powerpoint/2010/main" val="17066381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7"/>
            <a:ext cx="9281160" cy="2672179"/>
          </a:xfrm>
        </p:spPr>
        <p:txBody>
          <a:bodyPr/>
          <a:lstStyle/>
          <a:p>
            <a:r>
              <a:rPr lang="en-US" sz="3200" b="1" dirty="0"/>
              <a:t>Avoid Using eval()</a:t>
            </a:r>
          </a:p>
          <a:p>
            <a:r>
              <a:rPr lang="en-US" dirty="0"/>
              <a:t>The </a:t>
            </a:r>
            <a:r>
              <a:rPr lang="en-US" dirty="0">
                <a:solidFill>
                  <a:srgbClr val="FF0000"/>
                </a:solidFill>
                <a:highlight>
                  <a:srgbClr val="C0C0C0"/>
                </a:highlight>
              </a:rPr>
              <a:t>eval()</a:t>
            </a:r>
            <a:r>
              <a:rPr lang="en-US" dirty="0">
                <a:solidFill>
                  <a:srgbClr val="FF0000"/>
                </a:solidFill>
              </a:rPr>
              <a:t> </a:t>
            </a:r>
            <a:r>
              <a:rPr lang="en-US" dirty="0"/>
              <a:t>function is used to run text as code. In almost all cases, it should not be necessary to use it.</a:t>
            </a:r>
          </a:p>
          <a:p>
            <a:r>
              <a:rPr lang="en-US" dirty="0"/>
              <a:t>Because it allows arbitrary code to be run, it also represents a security problem.</a:t>
            </a:r>
          </a:p>
          <a:p>
            <a:br>
              <a:rPr lang="en-US" dirty="0"/>
            </a:br>
            <a:br>
              <a:rPr lang="en-US" dirty="0"/>
            </a:br>
            <a:endParaRPr lang="en-US"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W3Schools JavaScript Style Guide</a:t>
            </a:r>
            <a:endParaRPr lang="uk-UA" sz="4400" dirty="0"/>
          </a:p>
        </p:txBody>
      </p:sp>
    </p:spTree>
    <p:extLst>
      <p:ext uri="{BB962C8B-B14F-4D97-AF65-F5344CB8AC3E}">
        <p14:creationId xmlns:p14="http://schemas.microsoft.com/office/powerpoint/2010/main" val="2411673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834501"/>
            <a:ext cx="11441097" cy="3666478"/>
          </a:xfrm>
        </p:spPr>
        <p:txBody>
          <a:bodyPr/>
          <a:lstStyle/>
          <a:p>
            <a:pPr marL="342900" indent="-342900">
              <a:buFont typeface="Arial" panose="020B0604020202020204" pitchFamily="34" charset="0"/>
              <a:buChar char="•"/>
            </a:pPr>
            <a:r>
              <a:rPr lang="en-US" b="1" dirty="0"/>
              <a:t>Google JavaScript Style Guide</a:t>
            </a:r>
          </a:p>
          <a:p>
            <a:pPr marL="457200" lvl="1" indent="0">
              <a:buNone/>
            </a:pPr>
            <a:r>
              <a:rPr lang="en-US" dirty="0"/>
              <a:t>You can view </a:t>
            </a:r>
            <a:r>
              <a:rPr lang="en-US" dirty="0">
                <a:hlinkClick r:id="rId2"/>
              </a:rPr>
              <a:t>Google’s style guide on GitHub</a:t>
            </a:r>
            <a:endParaRPr lang="en-US" b="1" dirty="0"/>
          </a:p>
          <a:p>
            <a:pPr marL="342900" indent="-342900">
              <a:buFont typeface="Arial" panose="020B0604020202020204" pitchFamily="34" charset="0"/>
              <a:buChar char="•"/>
            </a:pPr>
            <a:r>
              <a:rPr lang="en-US" b="1" dirty="0"/>
              <a:t>Airbnb JavaScript Style Guide</a:t>
            </a:r>
          </a:p>
          <a:p>
            <a:pPr marL="457200" lvl="1" indent="0">
              <a:buNone/>
            </a:pPr>
            <a:r>
              <a:rPr lang="en-US" dirty="0"/>
              <a:t>Airbnb has one of the most popular JavaScript style guides on the internet. It covers nearly every aspect of JavaScript as well.</a:t>
            </a:r>
          </a:p>
          <a:p>
            <a:pPr marL="457200" lvl="1" indent="0">
              <a:buNone/>
            </a:pPr>
            <a:r>
              <a:rPr lang="en-US" dirty="0"/>
              <a:t>You can view </a:t>
            </a:r>
            <a:r>
              <a:rPr lang="en-US" dirty="0">
                <a:hlinkClick r:id="rId3"/>
              </a:rPr>
              <a:t>Airbnb’s style guide on GitHub</a:t>
            </a:r>
            <a:r>
              <a:rPr lang="en-US" dirty="0"/>
              <a:t>.</a:t>
            </a:r>
            <a:endParaRPr lang="en-US" b="1" dirty="0"/>
          </a:p>
          <a:p>
            <a:pPr marL="342900" indent="-342900">
              <a:buFont typeface="Arial" panose="020B0604020202020204" pitchFamily="34" charset="0"/>
              <a:buChar char="•"/>
            </a:pPr>
            <a:r>
              <a:rPr lang="en-US" b="1" dirty="0"/>
              <a:t>Idiomatic JavaScript Style Guide</a:t>
            </a:r>
          </a:p>
          <a:p>
            <a:pPr marL="457200" lvl="1" indent="0">
              <a:buNone/>
            </a:pPr>
            <a:r>
              <a:rPr lang="en-US" dirty="0"/>
              <a:t>Another of the most popular JavaScript style guides, the Idiomatic guide is available in multiple languages, and is open to pull requests.</a:t>
            </a:r>
          </a:p>
          <a:p>
            <a:pPr marL="457200" lvl="1" indent="0">
              <a:buNone/>
            </a:pPr>
            <a:r>
              <a:rPr lang="en-US" dirty="0"/>
              <a:t>You can view the </a:t>
            </a:r>
            <a:r>
              <a:rPr lang="en-US" dirty="0">
                <a:hlinkClick r:id="rId4"/>
              </a:rPr>
              <a:t>Idiomatic style guide on GitHub</a:t>
            </a:r>
            <a:r>
              <a:rPr lang="en-US" dirty="0"/>
              <a:t>.</a:t>
            </a:r>
            <a:endParaRPr lang="en-US" b="1" dirty="0"/>
          </a:p>
          <a:p>
            <a:pPr marL="342900" indent="-342900">
              <a:buFont typeface="Arial" panose="020B0604020202020204" pitchFamily="34" charset="0"/>
              <a:buChar char="•"/>
            </a:pPr>
            <a:r>
              <a:rPr lang="en-US" b="1" dirty="0"/>
              <a:t>JavaScript Standard Style Guide</a:t>
            </a:r>
          </a:p>
          <a:p>
            <a:pPr marL="457200" lvl="1" indent="0">
              <a:buNone/>
            </a:pPr>
            <a:r>
              <a:rPr lang="en-US" dirty="0"/>
              <a:t>This style guide is used by many tech companies including </a:t>
            </a:r>
            <a:r>
              <a:rPr lang="en-US" b="1" dirty="0"/>
              <a:t>NPM</a:t>
            </a:r>
            <a:r>
              <a:rPr lang="en-US" dirty="0"/>
              <a:t>, </a:t>
            </a:r>
            <a:r>
              <a:rPr lang="en-US" b="1" dirty="0"/>
              <a:t>GitHub</a:t>
            </a:r>
            <a:r>
              <a:rPr lang="en-US" dirty="0"/>
              <a:t>, </a:t>
            </a:r>
            <a:r>
              <a:rPr lang="en-US" b="1" dirty="0" err="1"/>
              <a:t>mongoDB</a:t>
            </a:r>
            <a:r>
              <a:rPr lang="en-US" dirty="0"/>
              <a:t>, and </a:t>
            </a:r>
            <a:r>
              <a:rPr lang="en-US" b="1" dirty="0" err="1"/>
              <a:t>ZenDesk</a:t>
            </a:r>
            <a:r>
              <a:rPr lang="en-US" dirty="0"/>
              <a:t>.</a:t>
            </a:r>
          </a:p>
          <a:p>
            <a:pPr marL="457200" lvl="1" indent="0">
              <a:buNone/>
            </a:pPr>
            <a:r>
              <a:rPr lang="en-US" dirty="0"/>
              <a:t>You can view the </a:t>
            </a:r>
            <a:r>
              <a:rPr lang="en-US" dirty="0">
                <a:hlinkClick r:id="rId5"/>
              </a:rPr>
              <a:t>JavaScript Standard style guide on GitHub</a:t>
            </a:r>
            <a:r>
              <a:rPr lang="en-US" dirty="0"/>
              <a:t>.</a:t>
            </a:r>
            <a:endParaRPr lang="en-US" b="1" dirty="0"/>
          </a:p>
          <a:p>
            <a:endParaRPr lang="en-US" dirty="0"/>
          </a:p>
          <a:p>
            <a:br>
              <a:rPr lang="en-US" dirty="0"/>
            </a:br>
            <a:br>
              <a:rPr lang="en-US" dirty="0"/>
            </a:br>
            <a:endParaRPr lang="en-US" dirty="0"/>
          </a:p>
          <a:p>
            <a:endParaRPr lang="en-US" dirty="0"/>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100" dirty="0"/>
              <a:t>Most Popular JavaScript Code Conventions</a:t>
            </a:r>
            <a:endParaRPr lang="uk-UA" sz="4100" dirty="0"/>
          </a:p>
        </p:txBody>
      </p:sp>
    </p:spTree>
    <p:extLst>
      <p:ext uri="{BB962C8B-B14F-4D97-AF65-F5344CB8AC3E}">
        <p14:creationId xmlns:p14="http://schemas.microsoft.com/office/powerpoint/2010/main" val="2559997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LINTERS</a:t>
            </a:r>
            <a:endParaRPr lang="uk-UA" dirty="0"/>
          </a:p>
        </p:txBody>
      </p:sp>
    </p:spTree>
    <p:extLst>
      <p:ext uri="{BB962C8B-B14F-4D97-AF65-F5344CB8AC3E}">
        <p14:creationId xmlns:p14="http://schemas.microsoft.com/office/powerpoint/2010/main" val="909030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7"/>
            <a:ext cx="9281160" cy="4243527"/>
          </a:xfrm>
        </p:spPr>
        <p:txBody>
          <a:bodyPr/>
          <a:lstStyle/>
          <a:p>
            <a:r>
              <a:rPr lang="en-US" dirty="0"/>
              <a:t>Linters are tools that can automatically check the style of your code and make suggestions for refactoring.</a:t>
            </a:r>
          </a:p>
          <a:p>
            <a:r>
              <a:rPr lang="en-US" dirty="0"/>
              <a:t>The great thing about them is that style-checking can also find some bugs, like typos in variable or function names. Because of this feature, installing a linter is recommended even if you don’t want to stick to one particular “code style”.</a:t>
            </a:r>
          </a:p>
          <a:p>
            <a:r>
              <a:rPr lang="en-US" dirty="0"/>
              <a:t>Here are the most well-known linting tools:</a:t>
            </a:r>
          </a:p>
          <a:p>
            <a:r>
              <a:rPr lang="en-US" dirty="0" err="1">
                <a:hlinkClick r:id="rId2"/>
              </a:rPr>
              <a:t>JSLint</a:t>
            </a:r>
            <a:r>
              <a:rPr lang="en-US" dirty="0"/>
              <a:t> – one of the first linters.</a:t>
            </a:r>
          </a:p>
          <a:p>
            <a:r>
              <a:rPr lang="en-US" dirty="0" err="1">
                <a:hlinkClick r:id="rId3"/>
              </a:rPr>
              <a:t>JSHint</a:t>
            </a:r>
            <a:r>
              <a:rPr lang="en-US" dirty="0"/>
              <a:t> – more settings than </a:t>
            </a:r>
            <a:r>
              <a:rPr lang="en-US" dirty="0" err="1"/>
              <a:t>JSLint</a:t>
            </a:r>
            <a:r>
              <a:rPr lang="en-US" dirty="0"/>
              <a:t>.</a:t>
            </a:r>
          </a:p>
          <a:p>
            <a:r>
              <a:rPr lang="en-US" dirty="0" err="1">
                <a:hlinkClick r:id="rId4"/>
              </a:rPr>
              <a:t>ESLint</a:t>
            </a:r>
            <a:r>
              <a:rPr lang="en-US" dirty="0"/>
              <a:t> – probably the newest one.</a:t>
            </a:r>
          </a:p>
          <a:p>
            <a:r>
              <a:rPr lang="en-US" dirty="0"/>
              <a:t>Most linters are integrated with many popular editors: just enable the plugin in the editor and configure the style.</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What is a Linter?</a:t>
            </a:r>
            <a:endParaRPr lang="uk-UA" sz="4400" dirty="0"/>
          </a:p>
        </p:txBody>
      </p:sp>
    </p:spTree>
    <p:extLst>
      <p:ext uri="{BB962C8B-B14F-4D97-AF65-F5344CB8AC3E}">
        <p14:creationId xmlns:p14="http://schemas.microsoft.com/office/powerpoint/2010/main" val="4020394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7"/>
            <a:ext cx="4638040" cy="4652393"/>
          </a:xfrm>
        </p:spPr>
        <p:txBody>
          <a:bodyPr/>
          <a:lstStyle/>
          <a:p>
            <a:pPr>
              <a:lnSpc>
                <a:spcPct val="100000"/>
              </a:lnSpc>
            </a:pPr>
            <a:r>
              <a:rPr lang="en-US" dirty="0" err="1">
                <a:latin typeface="Open Sans" panose="020B0604020202020204" charset="0"/>
                <a:ea typeface="Open Sans" panose="020B0604020202020204" charset="0"/>
                <a:cs typeface="Open Sans" panose="020B0604020202020204" charset="0"/>
              </a:rPr>
              <a:t>JSLint</a:t>
            </a:r>
            <a:r>
              <a:rPr lang="en-US" dirty="0">
                <a:latin typeface="Open Sans" panose="020B0604020202020204" charset="0"/>
                <a:ea typeface="Open Sans" panose="020B0604020202020204" charset="0"/>
                <a:cs typeface="Open Sans" panose="020B0604020202020204" charset="0"/>
              </a:rPr>
              <a:t> is the oldest of the four. Douglas Crockford created it in 2002 to enforce what, in his experience, are the good parts of JavaScript. If you agree with the good parts, </a:t>
            </a:r>
            <a:r>
              <a:rPr lang="en-US" dirty="0" err="1">
                <a:latin typeface="Open Sans" panose="020B0604020202020204" charset="0"/>
                <a:ea typeface="Open Sans" panose="020B0604020202020204" charset="0"/>
                <a:cs typeface="Open Sans" panose="020B0604020202020204" charset="0"/>
              </a:rPr>
              <a:t>JSLint</a:t>
            </a:r>
            <a:r>
              <a:rPr lang="en-US" dirty="0">
                <a:latin typeface="Open Sans" panose="020B0604020202020204" charset="0"/>
                <a:ea typeface="Open Sans" panose="020B0604020202020204" charset="0"/>
                <a:cs typeface="Open Sans" panose="020B0604020202020204" charset="0"/>
              </a:rPr>
              <a:t> can be a good tool—you install it and it’s ready to go.</a:t>
            </a:r>
          </a:p>
          <a:p>
            <a:pPr>
              <a:lnSpc>
                <a:spcPct val="100000"/>
              </a:lnSpc>
            </a:pPr>
            <a:r>
              <a:rPr lang="en-US" dirty="0">
                <a:latin typeface="Open Sans" panose="020B0604020202020204" charset="0"/>
                <a:ea typeface="Open Sans" panose="020B0604020202020204" charset="0"/>
                <a:cs typeface="Open Sans" panose="020B0604020202020204" charset="0"/>
              </a:rPr>
              <a:t>The downsides are that </a:t>
            </a:r>
            <a:r>
              <a:rPr lang="en-US" dirty="0" err="1">
                <a:latin typeface="Open Sans" panose="020B0604020202020204" charset="0"/>
                <a:ea typeface="Open Sans" panose="020B0604020202020204" charset="0"/>
                <a:cs typeface="Open Sans" panose="020B0604020202020204" charset="0"/>
              </a:rPr>
              <a:t>JSLint</a:t>
            </a:r>
            <a:r>
              <a:rPr lang="en-US" dirty="0">
                <a:latin typeface="Open Sans" panose="020B0604020202020204" charset="0"/>
                <a:ea typeface="Open Sans" panose="020B0604020202020204" charset="0"/>
                <a:cs typeface="Open Sans" panose="020B0604020202020204" charset="0"/>
              </a:rPr>
              <a:t> is not configurable or extensible. You can’t disable many features at all, and some of them lack documentation. The official website is not very helpful, for example it lacks any information on how to integrate it with your editor.</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err="1"/>
              <a:t>JSLint</a:t>
            </a:r>
            <a:endParaRPr lang="uk-UA" sz="4400" dirty="0"/>
          </a:p>
        </p:txBody>
      </p:sp>
      <p:sp>
        <p:nvSpPr>
          <p:cNvPr id="2" name="Rectangle 1">
            <a:extLst>
              <a:ext uri="{FF2B5EF4-FFF2-40B4-BE49-F238E27FC236}">
                <a16:creationId xmlns:a16="http://schemas.microsoft.com/office/drawing/2014/main" id="{FE873E42-C532-4A03-A1F6-34D58ED5CBC6}"/>
              </a:ext>
            </a:extLst>
          </p:cNvPr>
          <p:cNvSpPr/>
          <p:nvPr/>
        </p:nvSpPr>
        <p:spPr>
          <a:xfrm>
            <a:off x="6441442" y="1189607"/>
            <a:ext cx="4927600" cy="4524315"/>
          </a:xfrm>
          <a:prstGeom prst="rect">
            <a:avLst/>
          </a:prstGeom>
        </p:spPr>
        <p:txBody>
          <a:bodyPr wrap="square">
            <a:spAutoFit/>
          </a:bodyPr>
          <a:lstStyle/>
          <a:p>
            <a:r>
              <a:rPr lang="en-US" sz="2400" b="1" dirty="0">
                <a:solidFill>
                  <a:srgbClr val="262626"/>
                </a:solidFill>
                <a:latin typeface="Open Sans" panose="020B0604020202020204" charset="0"/>
                <a:ea typeface="Open Sans" panose="020B0604020202020204" charset="0"/>
                <a:cs typeface="Open Sans" panose="020B0604020202020204" charset="0"/>
              </a:rPr>
              <a:t>Pros</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Comes configured and ready to go (if you agree with the rules it enforces)</a:t>
            </a:r>
          </a:p>
          <a:p>
            <a:r>
              <a:rPr lang="en-US" sz="2400" b="1" dirty="0">
                <a:solidFill>
                  <a:srgbClr val="262626"/>
                </a:solidFill>
                <a:latin typeface="Open Sans" panose="020B0604020202020204" charset="0"/>
                <a:ea typeface="Open Sans" panose="020B0604020202020204" charset="0"/>
                <a:cs typeface="Open Sans" panose="020B0604020202020204" charset="0"/>
              </a:rPr>
              <a:t>Cons</a:t>
            </a:r>
          </a:p>
          <a:p>
            <a:pPr marL="342900" indent="-342900">
              <a:buFont typeface="Arial" panose="020B0604020202020204" pitchFamily="34" charset="0"/>
              <a:buChar char="•"/>
            </a:pPr>
            <a:r>
              <a:rPr lang="en-US" sz="2000" dirty="0" err="1">
                <a:solidFill>
                  <a:srgbClr val="3A3A3A"/>
                </a:solidFill>
                <a:latin typeface="Open Sans" panose="020B0604020202020204" charset="0"/>
                <a:ea typeface="Open Sans" panose="020B0604020202020204" charset="0"/>
                <a:cs typeface="Open Sans" panose="020B0604020202020204" charset="0"/>
              </a:rPr>
              <a:t>JSLint</a:t>
            </a:r>
            <a:r>
              <a:rPr lang="en-US" sz="2000" dirty="0">
                <a:solidFill>
                  <a:srgbClr val="3A3A3A"/>
                </a:solidFill>
                <a:latin typeface="Open Sans" panose="020B0604020202020204" charset="0"/>
                <a:ea typeface="Open Sans" panose="020B0604020202020204" charset="0"/>
                <a:cs typeface="Open Sans" panose="020B0604020202020204" charset="0"/>
              </a:rPr>
              <a:t> doesn’t have a configuration file, which can be problematic if you need to change the settings</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Limited number of configuration options, many rules cannot be disabled</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You can’t add custom rules</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Undocumented features</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Difficult to know which rule is causing which error</a:t>
            </a:r>
            <a:endParaRPr lang="en-US" sz="2000" b="0" i="0" dirty="0">
              <a:solidFill>
                <a:srgbClr val="3A3A3A"/>
              </a:solidFill>
              <a:effectLst/>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2696000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7"/>
            <a:ext cx="4973320" cy="4652393"/>
          </a:xfrm>
        </p:spPr>
        <p:txBody>
          <a:bodyPr/>
          <a:lstStyle/>
          <a:p>
            <a:r>
              <a:rPr lang="en-US" dirty="0" err="1"/>
              <a:t>JSHint</a:t>
            </a:r>
            <a:r>
              <a:rPr lang="en-US" dirty="0"/>
              <a:t> was created as a more configurable version of </a:t>
            </a:r>
            <a:r>
              <a:rPr lang="en-US" dirty="0" err="1"/>
              <a:t>JSLint</a:t>
            </a:r>
            <a:r>
              <a:rPr lang="en-US" dirty="0"/>
              <a:t> (of which it is a fork). You can configure every rule, and put them into a configuration file, which makes </a:t>
            </a:r>
            <a:r>
              <a:rPr lang="en-US" dirty="0" err="1"/>
              <a:t>JSHint</a:t>
            </a:r>
            <a:r>
              <a:rPr lang="en-US" dirty="0"/>
              <a:t> easy to use in bigger projects. </a:t>
            </a:r>
            <a:r>
              <a:rPr lang="en-US" dirty="0" err="1"/>
              <a:t>JSHint</a:t>
            </a:r>
            <a:r>
              <a:rPr lang="en-US" dirty="0"/>
              <a:t> also has good documentation for each of the rules, so you know exactly what they do. Integrating it into editors is also simple.</a:t>
            </a:r>
          </a:p>
          <a:p>
            <a:r>
              <a:rPr lang="en-US" dirty="0"/>
              <a:t>A small downside to </a:t>
            </a:r>
            <a:r>
              <a:rPr lang="en-US" dirty="0" err="1"/>
              <a:t>JSHint</a:t>
            </a:r>
            <a:r>
              <a:rPr lang="en-US" dirty="0"/>
              <a:t> is that it comes with a relaxed default configuration. This means you need to do some setup to make it useful. When comparing it with </a:t>
            </a:r>
            <a:r>
              <a:rPr lang="en-US" dirty="0" err="1"/>
              <a:t>ESLint</a:t>
            </a:r>
            <a:r>
              <a:rPr lang="en-US" dirty="0"/>
              <a:t>, it’s also more difficult to know which rules you need to change in order to enable or disable certain error messages.</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err="1"/>
              <a:t>JSHint</a:t>
            </a:r>
            <a:endParaRPr lang="uk-UA" sz="4400" dirty="0"/>
          </a:p>
        </p:txBody>
      </p:sp>
      <p:sp>
        <p:nvSpPr>
          <p:cNvPr id="2" name="Rectangle 1">
            <a:extLst>
              <a:ext uri="{FF2B5EF4-FFF2-40B4-BE49-F238E27FC236}">
                <a16:creationId xmlns:a16="http://schemas.microsoft.com/office/drawing/2014/main" id="{FE873E42-C532-4A03-A1F6-34D58ED5CBC6}"/>
              </a:ext>
            </a:extLst>
          </p:cNvPr>
          <p:cNvSpPr/>
          <p:nvPr/>
        </p:nvSpPr>
        <p:spPr>
          <a:xfrm>
            <a:off x="6096000" y="1189607"/>
            <a:ext cx="5831840" cy="4832092"/>
          </a:xfrm>
          <a:prstGeom prst="rect">
            <a:avLst/>
          </a:prstGeom>
        </p:spPr>
        <p:txBody>
          <a:bodyPr wrap="square">
            <a:spAutoFit/>
          </a:bodyPr>
          <a:lstStyle/>
          <a:p>
            <a:r>
              <a:rPr lang="en-US" sz="2400" b="1" dirty="0">
                <a:solidFill>
                  <a:srgbClr val="262626"/>
                </a:solidFill>
                <a:latin typeface="Open Sans" panose="020B0604020202020204" charset="0"/>
                <a:ea typeface="Open Sans" panose="020B0604020202020204" charset="0"/>
                <a:cs typeface="Open Sans" panose="020B0604020202020204" charset="0"/>
              </a:rPr>
              <a:t>Pros</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Most settings can be configured</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Supports a configuration file, making it easier to use in larger projects</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Has support for many libraries out of the box, like jQuery, </a:t>
            </a:r>
            <a:r>
              <a:rPr lang="en-US" sz="2000" dirty="0" err="1">
                <a:solidFill>
                  <a:srgbClr val="3A3A3A"/>
                </a:solidFill>
                <a:latin typeface="Open Sans" panose="020B0604020202020204" charset="0"/>
                <a:ea typeface="Open Sans" panose="020B0604020202020204" charset="0"/>
                <a:cs typeface="Open Sans" panose="020B0604020202020204" charset="0"/>
              </a:rPr>
              <a:t>QUnit</a:t>
            </a:r>
            <a:r>
              <a:rPr lang="en-US" sz="2000" dirty="0">
                <a:solidFill>
                  <a:srgbClr val="3A3A3A"/>
                </a:solidFill>
                <a:latin typeface="Open Sans" panose="020B0604020202020204" charset="0"/>
                <a:ea typeface="Open Sans" panose="020B0604020202020204" charset="0"/>
                <a:cs typeface="Open Sans" panose="020B0604020202020204" charset="0"/>
              </a:rPr>
              <a:t>, NodeJS, Mocha, etc.</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Basic ES6 support</a:t>
            </a:r>
          </a:p>
          <a:p>
            <a:r>
              <a:rPr lang="en-US" sz="2400" b="1" dirty="0">
                <a:solidFill>
                  <a:srgbClr val="262626"/>
                </a:solidFill>
                <a:latin typeface="Open Sans" panose="020B0604020202020204" charset="0"/>
                <a:ea typeface="Open Sans" panose="020B0604020202020204" charset="0"/>
                <a:cs typeface="Open Sans" panose="020B0604020202020204" charset="0"/>
              </a:rPr>
              <a:t>Cons</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Difficult to know which rule is causing an error</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Has two types of option: enforcing and relaxing (which can be used to make </a:t>
            </a:r>
            <a:r>
              <a:rPr lang="en-US" sz="2000" dirty="0" err="1">
                <a:solidFill>
                  <a:srgbClr val="3A3A3A"/>
                </a:solidFill>
                <a:latin typeface="Open Sans" panose="020B0604020202020204" charset="0"/>
                <a:ea typeface="Open Sans" panose="020B0604020202020204" charset="0"/>
                <a:cs typeface="Open Sans" panose="020B0604020202020204" charset="0"/>
              </a:rPr>
              <a:t>JSHint</a:t>
            </a:r>
            <a:r>
              <a:rPr lang="en-US" sz="2000" dirty="0">
                <a:solidFill>
                  <a:srgbClr val="3A3A3A"/>
                </a:solidFill>
                <a:latin typeface="Open Sans" panose="020B0604020202020204" charset="0"/>
                <a:ea typeface="Open Sans" panose="020B0604020202020204" charset="0"/>
                <a:cs typeface="Open Sans" panose="020B0604020202020204" charset="0"/>
              </a:rPr>
              <a:t> stricter, or to suppress its warnings). This can make configuration slightly confusing</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No custom rule support</a:t>
            </a:r>
            <a:endParaRPr lang="en-US" sz="2000" b="0" i="0" dirty="0">
              <a:solidFill>
                <a:srgbClr val="3A3A3A"/>
              </a:solidFill>
              <a:effectLst/>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37449082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876028"/>
            <a:ext cx="4927600" cy="4652393"/>
          </a:xfrm>
        </p:spPr>
        <p:txBody>
          <a:bodyPr/>
          <a:lstStyle/>
          <a:p>
            <a:pPr>
              <a:lnSpc>
                <a:spcPct val="100000"/>
              </a:lnSpc>
            </a:pPr>
            <a:r>
              <a:rPr lang="en-US" dirty="0" err="1">
                <a:latin typeface="Open Sans" panose="020B0604020202020204" charset="0"/>
                <a:ea typeface="Open Sans" panose="020B0604020202020204" charset="0"/>
                <a:cs typeface="Open Sans" panose="020B0604020202020204" charset="0"/>
              </a:rPr>
              <a:t>ESLint</a:t>
            </a:r>
            <a:r>
              <a:rPr lang="en-US" dirty="0">
                <a:latin typeface="Open Sans" panose="020B0604020202020204" charset="0"/>
                <a:ea typeface="Open Sans" panose="020B0604020202020204" charset="0"/>
                <a:cs typeface="Open Sans" panose="020B0604020202020204" charset="0"/>
              </a:rPr>
              <a:t> is the most recent out of the four. It was designed to be easily extensible, comes with a large number of custom rules, and it’s easy to install more in the form of plugins. It gives concise output, but includes the rule name by default so you always know which rules are causing the error messages.</a:t>
            </a:r>
          </a:p>
          <a:p>
            <a:pPr>
              <a:lnSpc>
                <a:spcPct val="100000"/>
              </a:lnSpc>
            </a:pPr>
            <a:endParaRPr lang="en-US" dirty="0">
              <a:latin typeface="Open Sans" panose="020B0604020202020204" charset="0"/>
              <a:ea typeface="Open Sans" panose="020B0604020202020204" charset="0"/>
              <a:cs typeface="Open Sans" panose="020B0604020202020204" charset="0"/>
            </a:endParaRPr>
          </a:p>
          <a:p>
            <a:pPr>
              <a:lnSpc>
                <a:spcPct val="100000"/>
              </a:lnSpc>
            </a:pPr>
            <a:r>
              <a:rPr lang="en-US" dirty="0" err="1">
                <a:latin typeface="Open Sans" panose="020B0604020202020204" charset="0"/>
                <a:ea typeface="Open Sans" panose="020B0604020202020204" charset="0"/>
                <a:cs typeface="Open Sans" panose="020B0604020202020204" charset="0"/>
              </a:rPr>
              <a:t>ESLint</a:t>
            </a:r>
            <a:r>
              <a:rPr lang="en-US" dirty="0">
                <a:latin typeface="Open Sans" panose="020B0604020202020204" charset="0"/>
                <a:ea typeface="Open Sans" panose="020B0604020202020204" charset="0"/>
                <a:cs typeface="Open Sans" panose="020B0604020202020204" charset="0"/>
              </a:rPr>
              <a:t> documentation can be a bit hit or miss. The rules list is easy to follow and is grouped into logical categories, but the configuration instructions are a little confusing in places. It does, however, offer links to editor integration, plugins and examples all in a single location.</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err="1"/>
              <a:t>ESLint</a:t>
            </a:r>
            <a:endParaRPr lang="uk-UA" sz="4400" dirty="0"/>
          </a:p>
        </p:txBody>
      </p:sp>
      <p:sp>
        <p:nvSpPr>
          <p:cNvPr id="2" name="Rectangle 1">
            <a:extLst>
              <a:ext uri="{FF2B5EF4-FFF2-40B4-BE49-F238E27FC236}">
                <a16:creationId xmlns:a16="http://schemas.microsoft.com/office/drawing/2014/main" id="{FE873E42-C532-4A03-A1F6-34D58ED5CBC6}"/>
              </a:ext>
            </a:extLst>
          </p:cNvPr>
          <p:cNvSpPr/>
          <p:nvPr/>
        </p:nvSpPr>
        <p:spPr>
          <a:xfrm>
            <a:off x="6096000" y="876028"/>
            <a:ext cx="5760720" cy="5139869"/>
          </a:xfrm>
          <a:prstGeom prst="rect">
            <a:avLst/>
          </a:prstGeom>
        </p:spPr>
        <p:txBody>
          <a:bodyPr wrap="square">
            <a:spAutoFit/>
          </a:bodyPr>
          <a:lstStyle/>
          <a:p>
            <a:r>
              <a:rPr lang="en-US" sz="2400" b="1" dirty="0">
                <a:solidFill>
                  <a:srgbClr val="262626"/>
                </a:solidFill>
                <a:latin typeface="Open Sans" panose="020B0604020202020204" charset="0"/>
                <a:ea typeface="Open Sans" panose="020B0604020202020204" charset="0"/>
                <a:cs typeface="Open Sans" panose="020B0604020202020204" charset="0"/>
              </a:rPr>
              <a:t>Pros</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Flexible: any rule can be toggled, and many rules have extra settings that can be tweaked</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Very extensible and has many plugins available</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Easy to understand output</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Includes many rules not available in other linters, making </a:t>
            </a:r>
            <a:r>
              <a:rPr lang="en-US" sz="2000" dirty="0" err="1">
                <a:solidFill>
                  <a:srgbClr val="3A3A3A"/>
                </a:solidFill>
                <a:latin typeface="Open Sans" panose="020B0604020202020204" charset="0"/>
                <a:ea typeface="Open Sans" panose="020B0604020202020204" charset="0"/>
                <a:cs typeface="Open Sans" panose="020B0604020202020204" charset="0"/>
              </a:rPr>
              <a:t>ESLint</a:t>
            </a:r>
            <a:r>
              <a:rPr lang="en-US" sz="2000" dirty="0">
                <a:solidFill>
                  <a:srgbClr val="3A3A3A"/>
                </a:solidFill>
                <a:latin typeface="Open Sans" panose="020B0604020202020204" charset="0"/>
                <a:ea typeface="Open Sans" panose="020B0604020202020204" charset="0"/>
                <a:cs typeface="Open Sans" panose="020B0604020202020204" charset="0"/>
              </a:rPr>
              <a:t> more useful for detecting problems</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Best ES6 support, and also the only tool to support JSX</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Supports custom reporters</a:t>
            </a:r>
          </a:p>
          <a:p>
            <a:r>
              <a:rPr lang="en-US" sz="2400" b="1" dirty="0">
                <a:solidFill>
                  <a:srgbClr val="262626"/>
                </a:solidFill>
                <a:latin typeface="Open Sans" panose="020B0604020202020204" charset="0"/>
                <a:ea typeface="Open Sans" panose="020B0604020202020204" charset="0"/>
                <a:cs typeface="Open Sans" panose="020B0604020202020204" charset="0"/>
              </a:rPr>
              <a:t>Cons</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Some configuration required</a:t>
            </a:r>
          </a:p>
          <a:p>
            <a:pPr marL="342900" indent="-342900">
              <a:buFont typeface="Arial" panose="020B0604020202020204" pitchFamily="34" charset="0"/>
              <a:buChar char="•"/>
            </a:pPr>
            <a:r>
              <a:rPr lang="en-US" sz="2000" dirty="0">
                <a:solidFill>
                  <a:srgbClr val="3A3A3A"/>
                </a:solidFill>
                <a:latin typeface="Open Sans" panose="020B0604020202020204" charset="0"/>
                <a:ea typeface="Open Sans" panose="020B0604020202020204" charset="0"/>
                <a:cs typeface="Open Sans" panose="020B0604020202020204" charset="0"/>
              </a:rPr>
              <a:t>Slow, but not a hindrance</a:t>
            </a:r>
            <a:endParaRPr lang="en-US" sz="2000" b="0" i="0" dirty="0">
              <a:solidFill>
                <a:srgbClr val="3A3A3A"/>
              </a:solidFill>
              <a:effectLst/>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38990118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685800" y="1189607"/>
            <a:ext cx="4720701" cy="5069150"/>
          </a:xfrm>
        </p:spPr>
        <p:txBody>
          <a:bodyPr/>
          <a:lstStyle/>
          <a:p>
            <a:r>
              <a:rPr lang="en-US" dirty="0"/>
              <a:t> for </a:t>
            </a:r>
            <a:r>
              <a:rPr lang="en-US" dirty="0" err="1"/>
              <a:t>ESLint</a:t>
            </a:r>
            <a:r>
              <a:rPr lang="en-US" dirty="0"/>
              <a:t> you should do the following:</a:t>
            </a:r>
          </a:p>
          <a:p>
            <a:endParaRPr lang="en-US" dirty="0"/>
          </a:p>
          <a:p>
            <a:pPr marL="457200" indent="-457200">
              <a:buFont typeface="+mj-lt"/>
              <a:buAutoNum type="arabicPeriod"/>
            </a:pPr>
            <a:r>
              <a:rPr lang="en-US" dirty="0"/>
              <a:t>Install </a:t>
            </a:r>
            <a:r>
              <a:rPr lang="en-US" dirty="0">
                <a:hlinkClick r:id="rId3"/>
              </a:rPr>
              <a:t>Node.js</a:t>
            </a:r>
            <a:r>
              <a:rPr lang="en-US" dirty="0"/>
              <a:t>.</a:t>
            </a:r>
          </a:p>
          <a:p>
            <a:pPr marL="457200" indent="-457200">
              <a:buFont typeface="+mj-lt"/>
              <a:buAutoNum type="arabicPeriod"/>
            </a:pPr>
            <a:r>
              <a:rPr lang="en-US" dirty="0"/>
              <a:t>Install </a:t>
            </a:r>
            <a:r>
              <a:rPr lang="en-US" dirty="0" err="1"/>
              <a:t>ESLint</a:t>
            </a:r>
            <a:r>
              <a:rPr lang="en-US" dirty="0"/>
              <a:t> with the command </a:t>
            </a:r>
            <a:r>
              <a:rPr lang="en-US" dirty="0" err="1">
                <a:highlight>
                  <a:srgbClr val="C0C0C0"/>
                </a:highlight>
              </a:rPr>
              <a:t>npm</a:t>
            </a:r>
            <a:r>
              <a:rPr lang="en-US" dirty="0">
                <a:highlight>
                  <a:srgbClr val="C0C0C0"/>
                </a:highlight>
              </a:rPr>
              <a:t> install -g </a:t>
            </a:r>
            <a:r>
              <a:rPr lang="en-US" dirty="0" err="1">
                <a:highlight>
                  <a:srgbClr val="C0C0C0"/>
                </a:highlight>
              </a:rPr>
              <a:t>eslint</a:t>
            </a:r>
            <a:r>
              <a:rPr lang="en-US" dirty="0"/>
              <a:t> (</a:t>
            </a:r>
            <a:r>
              <a:rPr lang="en-US" dirty="0" err="1"/>
              <a:t>npm</a:t>
            </a:r>
            <a:r>
              <a:rPr lang="en-US" dirty="0"/>
              <a:t> is a JavaScript package installer).</a:t>
            </a:r>
          </a:p>
          <a:p>
            <a:pPr marL="457200" indent="-457200">
              <a:buFont typeface="+mj-lt"/>
              <a:buAutoNum type="arabicPeriod"/>
            </a:pPr>
            <a:r>
              <a:rPr lang="en-US" dirty="0"/>
              <a:t>Create a config file named </a:t>
            </a:r>
            <a:r>
              <a:rPr lang="en-US" dirty="0">
                <a:highlight>
                  <a:srgbClr val="C0C0C0"/>
                </a:highlight>
              </a:rPr>
              <a:t>.</a:t>
            </a:r>
            <a:r>
              <a:rPr lang="en-US" dirty="0" err="1">
                <a:highlight>
                  <a:srgbClr val="C0C0C0"/>
                </a:highlight>
              </a:rPr>
              <a:t>eslintrc</a:t>
            </a:r>
            <a:r>
              <a:rPr lang="en-US" dirty="0"/>
              <a:t> in the root of your JavaScript project (in the folder that contains all your files).</a:t>
            </a:r>
          </a:p>
          <a:p>
            <a:pPr marL="457200" indent="-457200">
              <a:buFont typeface="+mj-lt"/>
              <a:buAutoNum type="arabicPeriod"/>
            </a:pPr>
            <a:r>
              <a:rPr lang="en-US" dirty="0"/>
              <a:t>Install/enable the plugin for your editor that integrates with </a:t>
            </a:r>
            <a:r>
              <a:rPr lang="en-US" dirty="0" err="1"/>
              <a:t>ESLint</a:t>
            </a:r>
            <a:r>
              <a:rPr lang="en-US" dirty="0"/>
              <a:t>. The majority of editors have one.</a:t>
            </a:r>
          </a:p>
        </p:txBody>
      </p:sp>
      <p:sp>
        <p:nvSpPr>
          <p:cNvPr id="6" name="Title 3">
            <a:extLst>
              <a:ext uri="{FF2B5EF4-FFF2-40B4-BE49-F238E27FC236}">
                <a16:creationId xmlns:a16="http://schemas.microsoft.com/office/drawing/2014/main" id="{552B119F-E694-4313-ADAC-69A9F9627046}"/>
              </a:ext>
            </a:extLst>
          </p:cNvPr>
          <p:cNvSpPr txBox="1">
            <a:spLocks/>
          </p:cNvSpPr>
          <p:nvPr/>
        </p:nvSpPr>
        <p:spPr>
          <a:xfrm>
            <a:off x="685800" y="0"/>
            <a:ext cx="10820400" cy="834501"/>
          </a:xfrm>
          <a:prstGeom prst="rect">
            <a:avLst/>
          </a:prstGeom>
        </p:spPr>
        <p:txBody>
          <a:bodyPr lIns="0" anchor="t">
            <a:noAutofit/>
          </a:bodyPr>
          <a:lstStyle>
            <a:lvl1pPr algn="l" defTabSz="914400" rtl="0" eaLnBrk="1" latinLnBrk="0" hangingPunct="1">
              <a:lnSpc>
                <a:spcPts val="11000"/>
              </a:lnSpc>
              <a:spcBef>
                <a:spcPct val="0"/>
              </a:spcBef>
              <a:buNone/>
              <a:defRPr sz="12500" kern="1200">
                <a:solidFill>
                  <a:schemeClr val="tx1"/>
                </a:solidFill>
                <a:latin typeface="Proxima Nova Black" panose="02000506030000020004" pitchFamily="50" charset="0"/>
                <a:ea typeface="+mj-ea"/>
                <a:cs typeface="+mj-cs"/>
              </a:defRPr>
            </a:lvl1pPr>
          </a:lstStyle>
          <a:p>
            <a:pPr>
              <a:lnSpc>
                <a:spcPct val="100000"/>
              </a:lnSpc>
            </a:pPr>
            <a:r>
              <a:rPr lang="en-US" sz="4400" dirty="0"/>
              <a:t>Linter configuring</a:t>
            </a:r>
            <a:endParaRPr lang="uk-UA" sz="4400" dirty="0"/>
          </a:p>
        </p:txBody>
      </p:sp>
      <p:sp>
        <p:nvSpPr>
          <p:cNvPr id="4" name="Rectangle 3">
            <a:extLst>
              <a:ext uri="{FF2B5EF4-FFF2-40B4-BE49-F238E27FC236}">
                <a16:creationId xmlns:a16="http://schemas.microsoft.com/office/drawing/2014/main" id="{AFB4446E-E104-4C5C-AB2F-CDDCDA65AF1C}"/>
              </a:ext>
            </a:extLst>
          </p:cNvPr>
          <p:cNvSpPr/>
          <p:nvPr/>
        </p:nvSpPr>
        <p:spPr>
          <a:xfrm>
            <a:off x="6295573" y="1189607"/>
            <a:ext cx="4541756" cy="400110"/>
          </a:xfrm>
          <a:prstGeom prst="rect">
            <a:avLst/>
          </a:prstGeom>
        </p:spPr>
        <p:txBody>
          <a:bodyPr wrap="none">
            <a:spAutoFit/>
          </a:bodyPr>
          <a:lstStyle/>
          <a:p>
            <a:r>
              <a:rPr lang="en-US" sz="2000" dirty="0">
                <a:latin typeface="Open Sans" panose="020B0604020202020204" charset="0"/>
                <a:ea typeface="Open Sans" panose="020B0604020202020204" charset="0"/>
                <a:cs typeface="Open Sans" panose="020B0604020202020204" charset="0"/>
              </a:rPr>
              <a:t>Here’s an example of an .</a:t>
            </a:r>
            <a:r>
              <a:rPr lang="en-US" sz="2000" dirty="0" err="1">
                <a:latin typeface="Open Sans" panose="020B0604020202020204" charset="0"/>
                <a:ea typeface="Open Sans" panose="020B0604020202020204" charset="0"/>
                <a:cs typeface="Open Sans" panose="020B0604020202020204" charset="0"/>
              </a:rPr>
              <a:t>eslintrc</a:t>
            </a:r>
            <a:r>
              <a:rPr lang="en-US" sz="2000" dirty="0">
                <a:latin typeface="Open Sans" panose="020B0604020202020204" charset="0"/>
                <a:ea typeface="Open Sans" panose="020B0604020202020204" charset="0"/>
                <a:cs typeface="Open Sans" panose="020B0604020202020204" charset="0"/>
              </a:rPr>
              <a:t> file:</a:t>
            </a:r>
          </a:p>
        </p:txBody>
      </p:sp>
      <p:pic>
        <p:nvPicPr>
          <p:cNvPr id="7" name="Picture 6">
            <a:extLst>
              <a:ext uri="{FF2B5EF4-FFF2-40B4-BE49-F238E27FC236}">
                <a16:creationId xmlns:a16="http://schemas.microsoft.com/office/drawing/2014/main" id="{AE4DE377-A163-4117-A0EF-79AEE6F2EF04}"/>
              </a:ext>
            </a:extLst>
          </p:cNvPr>
          <p:cNvPicPr>
            <a:picLocks noChangeAspect="1"/>
          </p:cNvPicPr>
          <p:nvPr/>
        </p:nvPicPr>
        <p:blipFill>
          <a:blip r:embed="rId4"/>
          <a:stretch>
            <a:fillRect/>
          </a:stretch>
        </p:blipFill>
        <p:spPr>
          <a:xfrm>
            <a:off x="6295573" y="1719632"/>
            <a:ext cx="4314825" cy="2886075"/>
          </a:xfrm>
          <a:prstGeom prst="rect">
            <a:avLst/>
          </a:prstGeom>
        </p:spPr>
      </p:pic>
      <p:sp>
        <p:nvSpPr>
          <p:cNvPr id="8" name="Rectangle 7">
            <a:extLst>
              <a:ext uri="{FF2B5EF4-FFF2-40B4-BE49-F238E27FC236}">
                <a16:creationId xmlns:a16="http://schemas.microsoft.com/office/drawing/2014/main" id="{F327F30C-1FA1-4E79-A9D7-83A5A79D0E50}"/>
              </a:ext>
            </a:extLst>
          </p:cNvPr>
          <p:cNvSpPr/>
          <p:nvPr/>
        </p:nvSpPr>
        <p:spPr>
          <a:xfrm>
            <a:off x="6295573" y="4605707"/>
            <a:ext cx="5982244" cy="1323439"/>
          </a:xfrm>
          <a:prstGeom prst="rect">
            <a:avLst/>
          </a:prstGeom>
        </p:spPr>
        <p:txBody>
          <a:bodyPr wrap="square">
            <a:spAutoFit/>
          </a:bodyPr>
          <a:lstStyle/>
          <a:p>
            <a:r>
              <a:rPr lang="en-US" sz="2000" dirty="0">
                <a:latin typeface="Open Sans" panose="020B0604020202020204" charset="0"/>
                <a:ea typeface="Open Sans" panose="020B0604020202020204" charset="0"/>
                <a:cs typeface="Open Sans" panose="020B0604020202020204" charset="0"/>
              </a:rPr>
              <a:t>Here the directive </a:t>
            </a:r>
            <a:r>
              <a:rPr lang="en-US" sz="2000" dirty="0">
                <a:highlight>
                  <a:srgbClr val="C0C0C0"/>
                </a:highlight>
                <a:latin typeface="Open Sans" panose="020B0604020202020204" charset="0"/>
                <a:ea typeface="Open Sans" panose="020B0604020202020204" charset="0"/>
                <a:cs typeface="Open Sans" panose="020B0604020202020204" charset="0"/>
              </a:rPr>
              <a:t>"extends"</a:t>
            </a:r>
            <a:r>
              <a:rPr lang="en-US" sz="2000" dirty="0">
                <a:latin typeface="Open Sans" panose="020B0604020202020204" charset="0"/>
                <a:ea typeface="Open Sans" panose="020B0604020202020204" charset="0"/>
                <a:cs typeface="Open Sans" panose="020B0604020202020204" charset="0"/>
              </a:rPr>
              <a:t> denotes that the configuration is based on the </a:t>
            </a:r>
            <a:r>
              <a:rPr lang="en-US" sz="2000" dirty="0">
                <a:highlight>
                  <a:srgbClr val="C0C0C0"/>
                </a:highlight>
                <a:latin typeface="Open Sans" panose="020B0604020202020204" charset="0"/>
                <a:ea typeface="Open Sans" panose="020B0604020202020204" charset="0"/>
                <a:cs typeface="Open Sans" panose="020B0604020202020204" charset="0"/>
              </a:rPr>
              <a:t>“</a:t>
            </a:r>
            <a:r>
              <a:rPr lang="en-US" sz="2000" dirty="0" err="1">
                <a:highlight>
                  <a:srgbClr val="C0C0C0"/>
                </a:highlight>
                <a:latin typeface="Open Sans" panose="020B0604020202020204" charset="0"/>
                <a:ea typeface="Open Sans" panose="020B0604020202020204" charset="0"/>
                <a:cs typeface="Open Sans" panose="020B0604020202020204" charset="0"/>
              </a:rPr>
              <a:t>eslint:recommended</a:t>
            </a:r>
            <a:r>
              <a:rPr lang="en-US" sz="2000" dirty="0">
                <a:highlight>
                  <a:srgbClr val="C0C0C0"/>
                </a:highlight>
                <a:latin typeface="Open Sans" panose="020B0604020202020204" charset="0"/>
                <a:ea typeface="Open Sans" panose="020B0604020202020204" charset="0"/>
                <a:cs typeface="Open Sans" panose="020B0604020202020204" charset="0"/>
              </a:rPr>
              <a:t>”</a:t>
            </a:r>
            <a:r>
              <a:rPr lang="en-US" sz="2000" dirty="0">
                <a:latin typeface="Open Sans" panose="020B0604020202020204" charset="0"/>
                <a:ea typeface="Open Sans" panose="020B0604020202020204" charset="0"/>
                <a:cs typeface="Open Sans" panose="020B0604020202020204" charset="0"/>
              </a:rPr>
              <a:t> set of settings. After that, we specify our own.</a:t>
            </a:r>
          </a:p>
        </p:txBody>
      </p:sp>
    </p:spTree>
    <p:extLst>
      <p:ext uri="{BB962C8B-B14F-4D97-AF65-F5344CB8AC3E}">
        <p14:creationId xmlns:p14="http://schemas.microsoft.com/office/powerpoint/2010/main" val="28551203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QUESTIONS ?</a:t>
            </a:r>
            <a:endParaRPr lang="uk-UA" dirty="0"/>
          </a:p>
        </p:txBody>
      </p:sp>
    </p:spTree>
    <p:extLst>
      <p:ext uri="{BB962C8B-B14F-4D97-AF65-F5344CB8AC3E}">
        <p14:creationId xmlns:p14="http://schemas.microsoft.com/office/powerpoint/2010/main" val="221689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USED MATERIALS</a:t>
            </a:r>
            <a:endParaRPr lang="uk-UA" dirty="0"/>
          </a:p>
        </p:txBody>
      </p:sp>
      <p:sp>
        <p:nvSpPr>
          <p:cNvPr id="2" name="Rectangle 1">
            <a:extLst>
              <a:ext uri="{FF2B5EF4-FFF2-40B4-BE49-F238E27FC236}">
                <a16:creationId xmlns:a16="http://schemas.microsoft.com/office/drawing/2014/main" id="{DB40ABE4-A9F8-4A95-B31B-CF861D743B3B}"/>
              </a:ext>
            </a:extLst>
          </p:cNvPr>
          <p:cNvSpPr/>
          <p:nvPr/>
        </p:nvSpPr>
        <p:spPr>
          <a:xfrm>
            <a:off x="685799" y="4162548"/>
            <a:ext cx="9207844" cy="986873"/>
          </a:xfrm>
          <a:prstGeom prst="rect">
            <a:avLst/>
          </a:prstGeom>
        </p:spPr>
        <p:txBody>
          <a:bodyPr wrap="square">
            <a:spAutoFit/>
          </a:bodyPr>
          <a:lstStyle/>
          <a:p>
            <a:pPr defTabSz="438911">
              <a:lnSpc>
                <a:spcPct val="90000"/>
              </a:lnSpc>
              <a:spcBef>
                <a:spcPts val="1000"/>
              </a:spcBef>
              <a:defRPr sz="1536"/>
            </a:pPr>
            <a:r>
              <a:rPr lang="en-US"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https://www.w3schools.com/js/js_conventions.asp</a:t>
            </a:r>
            <a:endParaRPr lang="en-US" dirty="0">
              <a:solidFill>
                <a:schemeClr val="accent6">
                  <a:lumMod val="60000"/>
                  <a:lumOff val="40000"/>
                </a:schemeClr>
              </a:solidFill>
            </a:endParaRPr>
          </a:p>
          <a:p>
            <a:pPr defTabSz="438911">
              <a:lnSpc>
                <a:spcPct val="90000"/>
              </a:lnSpc>
              <a:spcBef>
                <a:spcPts val="1000"/>
              </a:spcBef>
              <a:defRPr sz="1536"/>
            </a:pPr>
            <a:r>
              <a:rPr lang="en-US" dirty="0">
                <a:solidFill>
                  <a:schemeClr val="accent6">
                    <a:lumMod val="60000"/>
                    <a:lumOff val="40000"/>
                  </a:schemeClr>
                </a:solidFill>
                <a:hlinkClick r:id="rId3">
                  <a:extLst>
                    <a:ext uri="{A12FA001-AC4F-418D-AE19-62706E023703}">
                      <ahyp:hlinkClr xmlns:ahyp="http://schemas.microsoft.com/office/drawing/2018/hyperlinkcolor" val="tx"/>
                    </a:ext>
                  </a:extLst>
                </a:hlinkClick>
              </a:rPr>
              <a:t>https://www.w3schools.com/js/js_best_practices.asp</a:t>
            </a:r>
            <a:endParaRPr lang="en-US" dirty="0">
              <a:solidFill>
                <a:schemeClr val="accent6">
                  <a:lumMod val="60000"/>
                  <a:lumOff val="40000"/>
                </a:schemeClr>
              </a:solidFill>
            </a:endParaRPr>
          </a:p>
          <a:p>
            <a:pPr defTabSz="438911">
              <a:lnSpc>
                <a:spcPct val="90000"/>
              </a:lnSpc>
              <a:spcBef>
                <a:spcPts val="1000"/>
              </a:spcBef>
              <a:defRPr sz="1536"/>
            </a:pPr>
            <a:r>
              <a:rPr lang="en-US" dirty="0">
                <a:solidFill>
                  <a:schemeClr val="accent6">
                    <a:lumMod val="60000"/>
                    <a:lumOff val="40000"/>
                  </a:schemeClr>
                </a:solidFill>
                <a:hlinkClick r:id="rId4">
                  <a:extLst>
                    <a:ext uri="{A12FA001-AC4F-418D-AE19-62706E023703}">
                      <ahyp:hlinkClr xmlns:ahyp="http://schemas.microsoft.com/office/drawing/2018/hyperlinkcolor" val="tx"/>
                    </a:ext>
                  </a:extLst>
                </a:hlinkClick>
              </a:rPr>
              <a:t>https://www.sitepoint.com/comparison-javascript-linting-tools/</a:t>
            </a:r>
            <a:endParaRPr lang="en-US" dirty="0">
              <a:solidFill>
                <a:schemeClr val="accent6">
                  <a:lumMod val="60000"/>
                  <a:lumOff val="40000"/>
                </a:schemeClr>
              </a:solidFill>
            </a:endParaRPr>
          </a:p>
        </p:txBody>
      </p:sp>
    </p:spTree>
    <p:extLst>
      <p:ext uri="{BB962C8B-B14F-4D97-AF65-F5344CB8AC3E}">
        <p14:creationId xmlns:p14="http://schemas.microsoft.com/office/powerpoint/2010/main" val="23366664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USEFUL LINKS</a:t>
            </a:r>
            <a:endParaRPr lang="uk-UA" dirty="0"/>
          </a:p>
        </p:txBody>
      </p:sp>
      <p:sp>
        <p:nvSpPr>
          <p:cNvPr id="6" name="Rectangle 5">
            <a:extLst>
              <a:ext uri="{FF2B5EF4-FFF2-40B4-BE49-F238E27FC236}">
                <a16:creationId xmlns:a16="http://schemas.microsoft.com/office/drawing/2014/main" id="{0EC827E6-42C0-48A7-997B-1C6DE7BAFDAF}"/>
              </a:ext>
            </a:extLst>
          </p:cNvPr>
          <p:cNvSpPr/>
          <p:nvPr/>
        </p:nvSpPr>
        <p:spPr>
          <a:xfrm>
            <a:off x="685799" y="4162548"/>
            <a:ext cx="9207844" cy="645946"/>
          </a:xfrm>
          <a:prstGeom prst="rect">
            <a:avLst/>
          </a:prstGeom>
        </p:spPr>
        <p:txBody>
          <a:bodyPr wrap="square">
            <a:spAutoFit/>
          </a:bodyPr>
          <a:lstStyle/>
          <a:p>
            <a:pPr defTabSz="438911">
              <a:lnSpc>
                <a:spcPct val="90000"/>
              </a:lnSpc>
              <a:spcBef>
                <a:spcPts val="1000"/>
              </a:spcBef>
              <a:defRPr sz="1536"/>
            </a:pPr>
            <a:r>
              <a:rPr lang="en-US" dirty="0">
                <a:solidFill>
                  <a:schemeClr val="accent6">
                    <a:lumMod val="60000"/>
                    <a:lumOff val="40000"/>
                  </a:schemeClr>
                </a:solidFill>
                <a:hlinkClick r:id="rId2">
                  <a:extLst>
                    <a:ext uri="{A12FA001-AC4F-418D-AE19-62706E023703}">
                      <ahyp:hlinkClr xmlns:ahyp="http://schemas.microsoft.com/office/drawing/2018/hyperlinkcolor" val="tx"/>
                    </a:ext>
                  </a:extLst>
                </a:hlinkClick>
              </a:rPr>
              <a:t>https://www.w3schools.com/js/js_conventions.asp</a:t>
            </a:r>
            <a:endParaRPr lang="en-US" dirty="0">
              <a:solidFill>
                <a:schemeClr val="accent6">
                  <a:lumMod val="60000"/>
                  <a:lumOff val="40000"/>
                </a:schemeClr>
              </a:solidFill>
              <a:hlinkClick r:id="rId3">
                <a:extLst>
                  <a:ext uri="{A12FA001-AC4F-418D-AE19-62706E023703}">
                    <ahyp:hlinkClr xmlns:ahyp="http://schemas.microsoft.com/office/drawing/2018/hyperlinkcolor" val="tx"/>
                  </a:ext>
                </a:extLst>
              </a:hlinkClick>
            </a:endParaRPr>
          </a:p>
          <a:p>
            <a:pPr defTabSz="438911">
              <a:lnSpc>
                <a:spcPct val="90000"/>
              </a:lnSpc>
              <a:spcBef>
                <a:spcPts val="1000"/>
              </a:spcBef>
              <a:defRPr sz="1536"/>
            </a:pPr>
            <a:r>
              <a:rPr lang="en-US" dirty="0">
                <a:solidFill>
                  <a:schemeClr val="accent6">
                    <a:lumMod val="60000"/>
                    <a:lumOff val="40000"/>
                  </a:schemeClr>
                </a:solidFill>
                <a:hlinkClick r:id="rId3">
                  <a:extLst>
                    <a:ext uri="{A12FA001-AC4F-418D-AE19-62706E023703}">
                      <ahyp:hlinkClr xmlns:ahyp="http://schemas.microsoft.com/office/drawing/2018/hyperlinkcolor" val="tx"/>
                    </a:ext>
                  </a:extLst>
                </a:hlinkClick>
              </a:rPr>
              <a:t>https://medium.freecodecamp.org/javascript-naming-conventions-dos-and-don-ts-99c0e2fdd78a</a:t>
            </a:r>
            <a:endParaRPr lang="en-US" dirty="0">
              <a:solidFill>
                <a:schemeClr val="accent6">
                  <a:lumMod val="60000"/>
                  <a:lumOff val="40000"/>
                </a:schemeClr>
              </a:solidFill>
            </a:endParaRPr>
          </a:p>
        </p:txBody>
      </p:sp>
    </p:spTree>
    <p:extLst>
      <p:ext uri="{BB962C8B-B14F-4D97-AF65-F5344CB8AC3E}">
        <p14:creationId xmlns:p14="http://schemas.microsoft.com/office/powerpoint/2010/main" val="172216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THANK YOU</a:t>
            </a:r>
            <a:endParaRPr lang="uk-UA" dirty="0"/>
          </a:p>
        </p:txBody>
      </p:sp>
    </p:spTree>
    <p:extLst>
      <p:ext uri="{BB962C8B-B14F-4D97-AF65-F5344CB8AC3E}">
        <p14:creationId xmlns:p14="http://schemas.microsoft.com/office/powerpoint/2010/main" val="3285299940"/>
      </p:ext>
    </p:extLst>
  </p:cSld>
  <p:clrMapOvr>
    <a:masterClrMapping/>
  </p:clrMapOvr>
</p:sld>
</file>

<file path=ppt/theme/theme1.xml><?xml version="1.0" encoding="utf-8"?>
<a:theme xmlns:a="http://schemas.openxmlformats.org/drawingml/2006/main" name="DARK 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Custom 1">
      <a:majorFont>
        <a:latin typeface="Proxima Nova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ftServeTemplate" id="{1EECC8DE-A8A5-45A7-969A-C21752D4B3E4}" vid="{444DEE5D-51F1-4029-8FDB-DB417F7B394A}"/>
    </a:ext>
  </a:extLst>
</a:theme>
</file>

<file path=ppt/theme/theme2.xml><?xml version="1.0" encoding="utf-8"?>
<a:theme xmlns:a="http://schemas.openxmlformats.org/drawingml/2006/main" name="LIGHT-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ftServeTemplate" id="{1EECC8DE-A8A5-45A7-969A-C21752D4B3E4}" vid="{0103479C-70CD-40C7-BA0E-A151EE336BC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x041a__x043e__x043c__x0435__x0442__x0430__x0440_ xmlns="835f28f2-30f1-4728-84d2-86d96e14348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Документ" ma:contentTypeID="0x0101004195FC54A15F344D83577B1CDDD67A5D" ma:contentTypeVersion="9" ma:contentTypeDescription="Создание документа." ma:contentTypeScope="" ma:versionID="961ec8db58076c7d3e9f84b9cd82fd45">
  <xsd:schema xmlns:xsd="http://www.w3.org/2001/XMLSchema" xmlns:xs="http://www.w3.org/2001/XMLSchema" xmlns:p="http://schemas.microsoft.com/office/2006/metadata/properties" xmlns:ns2="341e6018-ac0a-4dfb-8409-db9e0d25502e" xmlns:ns3="835f28f2-30f1-4728-84d2-86d96e143488" targetNamespace="http://schemas.microsoft.com/office/2006/metadata/properties" ma:root="true" ma:fieldsID="bd9f0c80ada20ee560e77d723f3ef44e" ns2:_="" ns3:_="">
    <xsd:import namespace="341e6018-ac0a-4dfb-8409-db9e0d25502e"/>
    <xsd:import namespace="835f28f2-30f1-4728-84d2-86d96e14348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_x041a__x043e__x043c__x0435__x0442__x0430__x044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1e6018-ac0a-4dfb-8409-db9e0d25502e" elementFormDefault="qualified">
    <xsd:import namespace="http://schemas.microsoft.com/office/2006/documentManagement/types"/>
    <xsd:import namespace="http://schemas.microsoft.com/office/infopath/2007/PartnerControls"/>
    <xsd:element name="SharedWithUsers" ma:index="8" nillable="true" ma:displayName="Общий доступ с использованием"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Совместно с подробностями"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35f28f2-30f1-4728-84d2-86d96e14348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Location" ma:index="14"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_x041a__x043e__x043c__x0435__x0442__x0430__x0440_" ma:index="16" nillable="true" ma:displayName="Кометар" ma:internalName="_x041a__x043e__x043c__x0435__x0442__x0430__x0440_">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6B3B9E-03D8-4766-BF45-6129617CF026}">
  <ds:schemaRefs>
    <ds:schemaRef ds:uri="http://schemas.microsoft.com/sharepoint/v3/contenttype/forms"/>
  </ds:schemaRefs>
</ds:datastoreItem>
</file>

<file path=customXml/itemProps2.xml><?xml version="1.0" encoding="utf-8"?>
<ds:datastoreItem xmlns:ds="http://schemas.openxmlformats.org/officeDocument/2006/customXml" ds:itemID="{B3A1340B-3A1B-4156-ADE3-51DF6C2C795D}">
  <ds:schemaRefs>
    <ds:schemaRef ds:uri="835f28f2-30f1-4728-84d2-86d96e143488"/>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schemas.microsoft.com/office/2006/metadata/properties"/>
    <ds:schemaRef ds:uri="341e6018-ac0a-4dfb-8409-db9e0d25502e"/>
    <ds:schemaRef ds:uri="http://www.w3.org/XML/1998/namespace"/>
    <ds:schemaRef ds:uri="http://purl.org/dc/elements/1.1/"/>
  </ds:schemaRefs>
</ds:datastoreItem>
</file>

<file path=customXml/itemProps3.xml><?xml version="1.0" encoding="utf-8"?>
<ds:datastoreItem xmlns:ds="http://schemas.openxmlformats.org/officeDocument/2006/customXml" ds:itemID="{CAFDAB34-20E1-438F-BCB2-ECDA5496F3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1e6018-ac0a-4dfb-8409-db9e0d25502e"/>
    <ds:schemaRef ds:uri="835f28f2-30f1-4728-84d2-86d96e14348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SoftServeTemplate_Black</Template>
  <TotalTime>597</TotalTime>
  <Words>1543</Words>
  <Application>Microsoft Office PowerPoint</Application>
  <PresentationFormat>Widescreen</PresentationFormat>
  <Paragraphs>242</Paragraphs>
  <Slides>31</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31</vt:i4>
      </vt:variant>
    </vt:vector>
  </HeadingPairs>
  <TitlesOfParts>
    <vt:vector size="38" baseType="lpstr">
      <vt:lpstr>Open Sans</vt:lpstr>
      <vt:lpstr>Verdana</vt:lpstr>
      <vt:lpstr>Proxima Nova Black</vt:lpstr>
      <vt:lpstr>Arial</vt:lpstr>
      <vt:lpstr>Calibri</vt:lpstr>
      <vt:lpstr>DARK THEME</vt:lpstr>
      <vt:lpstr>LIGHT-THEME</vt:lpstr>
      <vt:lpstr>JavaScript Code Convention, Linters</vt:lpstr>
      <vt:lpstr>AGENDA</vt:lpstr>
      <vt:lpstr>JavaScript Code Conventions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LINTERS</vt:lpstr>
      <vt:lpstr>PowerPoint Presentation</vt:lpstr>
      <vt:lpstr>PowerPoint Presentation</vt:lpstr>
      <vt:lpstr>PowerPoint Presentation</vt:lpstr>
      <vt:lpstr>PowerPoint Presentation</vt:lpstr>
      <vt:lpstr>PowerPoint Presentation</vt:lpstr>
      <vt:lpstr>QUESTIONS ?</vt:lpstr>
      <vt:lpstr>USED MATERIALS</vt:lpstr>
      <vt:lpstr>USEFUL LINKS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Liubov Koliasa</dc:creator>
  <cp:lastModifiedBy>Vitaliy Tkachuk</cp:lastModifiedBy>
  <cp:revision>70</cp:revision>
  <dcterms:created xsi:type="dcterms:W3CDTF">2018-12-11T16:43:22Z</dcterms:created>
  <dcterms:modified xsi:type="dcterms:W3CDTF">2019-04-29T16:15:47Z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0x0101004195FC54A15F344D83577B1CDDD67A5D</vt:lpwstr>
  </property>
</Properties>
</file>