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 id="2147483656" r:id="rId5"/>
  </p:sldMasterIdLst>
  <p:sldIdLst>
    <p:sldId id="257" r:id="rId6"/>
    <p:sldId id="259" r:id="rId7"/>
    <p:sldId id="276" r:id="rId8"/>
    <p:sldId id="275" r:id="rId9"/>
    <p:sldId id="274"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300" r:id="rId33"/>
    <p:sldId id="299" r:id="rId34"/>
    <p:sldId id="270" r:id="rId35"/>
    <p:sldId id="271" r:id="rId36"/>
    <p:sldId id="273" r:id="rId37"/>
  </p:sldIdLst>
  <p:sldSz cx="12192000" cy="6858000"/>
  <p:notesSz cx="6858000" cy="9144000"/>
  <p:embeddedFontLst>
    <p:embeddedFont>
      <p:font typeface="Calibri" panose="020F0502020204030204" pitchFamily="34" charset="0"/>
      <p:regular r:id="rId38"/>
      <p:bold r:id="rId39"/>
      <p:italic r:id="rId40"/>
      <p:boldItalic r:id="rId41"/>
    </p:embeddedFont>
    <p:embeddedFont>
      <p:font typeface="Open Sans" panose="020B0604020202020204" charset="0"/>
      <p:regular r:id="rId42"/>
      <p:bold r:id="rId43"/>
      <p:italic r:id="rId44"/>
      <p:boldItalic r:id="rId45"/>
    </p:embeddedFont>
    <p:embeddedFont>
      <p:font typeface="Proxima Nova Black" panose="020B0604020202020204" charset="0"/>
      <p:bold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131" autoAdjust="0"/>
    <p:restoredTop sz="86957" autoAdjust="0"/>
  </p:normalViewPr>
  <p:slideViewPr>
    <p:cSldViewPr snapToGrid="0">
      <p:cViewPr varScale="1">
        <p:scale>
          <a:sx n="86" d="100"/>
          <a:sy n="86" d="100"/>
        </p:scale>
        <p:origin x="96"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5.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font" Target="fonts/font1.fntdata"/><Relationship Id="rId46" Type="http://schemas.openxmlformats.org/officeDocument/2006/relationships/font" Target="fonts/font9.fntdata"/><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6.fntdata"/><Relationship Id="rId48" Type="http://schemas.openxmlformats.org/officeDocument/2006/relationships/viewProps" Target="viewProps.xml"/><Relationship Id="rId8"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SLIDE-DARK-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dirty="0"/>
              <a:t>TITLE</a:t>
            </a:r>
            <a:br>
              <a:rPr lang="uk-UA" dirty="0"/>
            </a:br>
            <a:r>
              <a:rPr lang="en-US" dirty="0"/>
              <a:t>TO</a:t>
            </a:r>
            <a:r>
              <a:rPr lang="uk-UA" dirty="0"/>
              <a:t> </a:t>
            </a:r>
            <a:r>
              <a:rPr lang="en-US" dirty="0"/>
              <a:t>BE</a:t>
            </a:r>
            <a:r>
              <a:rPr lang="uk-UA" dirty="0"/>
              <a:t> </a:t>
            </a:r>
            <a:r>
              <a:rPr lang="en-US" dirty="0"/>
              <a:t>CAPI</a:t>
            </a:r>
            <a:br>
              <a:rPr lang="uk-UA" dirty="0"/>
            </a:br>
            <a:r>
              <a:rPr lang="en-US" dirty="0"/>
              <a:t>TALIZED</a:t>
            </a:r>
          </a:p>
        </p:txBody>
      </p:sp>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570751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LIDE-DARK-2">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latin typeface="Proxima Nova Black" panose="02000506030000020004" pitchFamily="50" charset="0"/>
              </a:defRPr>
            </a:lvl1pPr>
          </a:lstStyle>
          <a:p>
            <a:r>
              <a:rPr lang="en-US" dirty="0"/>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966486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ONE-COLUMN-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254637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TWO-COLUMNS-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1977726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THREE-COLUMNS-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660443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DESCRIPTION-SIDETEXT-DARK">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607881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IDETEXT-PROCESS-DARK">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77043"/>
            <a:ext cx="7124700" cy="2051957"/>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77043"/>
            <a:ext cx="3467100" cy="2051957"/>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4" name="Oval 3"/>
          <p:cNvSpPr/>
          <p:nvPr userDrawn="1"/>
        </p:nvSpPr>
        <p:spPr>
          <a:xfrm>
            <a:off x="917664"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userDrawn="1"/>
        </p:nvSpPr>
        <p:spPr>
          <a:xfrm>
            <a:off x="3113586"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userDrawn="1"/>
        </p:nvSpPr>
        <p:spPr>
          <a:xfrm>
            <a:off x="5309508"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userDrawn="1"/>
        </p:nvSpPr>
        <p:spPr>
          <a:xfrm>
            <a:off x="7505429"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userDrawn="1"/>
        </p:nvSpPr>
        <p:spPr>
          <a:xfrm>
            <a:off x="9701348"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p:nvPr userDrawn="1"/>
        </p:nvCxnSpPr>
        <p:spPr>
          <a:xfrm>
            <a:off x="2700337"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userDrawn="1"/>
        </p:nvCxnSpPr>
        <p:spPr>
          <a:xfrm>
            <a:off x="4896259"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userDrawn="1"/>
        </p:nvCxnSpPr>
        <p:spPr>
          <a:xfrm>
            <a:off x="709218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userDrawn="1"/>
        </p:nvCxnSpPr>
        <p:spPr>
          <a:xfrm>
            <a:off x="928810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sp>
        <p:nvSpPr>
          <p:cNvPr id="20" name="Text Placeholder 6"/>
          <p:cNvSpPr>
            <a:spLocks noGrp="1"/>
          </p:cNvSpPr>
          <p:nvPr>
            <p:ph type="body" sz="quarter" idx="13" hasCustomPrompt="1"/>
          </p:nvPr>
        </p:nvSpPr>
        <p:spPr>
          <a:xfrm>
            <a:off x="1045028"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2" name="Text Placeholder 6"/>
          <p:cNvSpPr>
            <a:spLocks noGrp="1"/>
          </p:cNvSpPr>
          <p:nvPr>
            <p:ph type="body" sz="quarter" idx="14" hasCustomPrompt="1"/>
          </p:nvPr>
        </p:nvSpPr>
        <p:spPr>
          <a:xfrm>
            <a:off x="3247481"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3" name="Text Placeholder 6"/>
          <p:cNvSpPr>
            <a:spLocks noGrp="1"/>
          </p:cNvSpPr>
          <p:nvPr>
            <p:ph type="body" sz="quarter" idx="15" hasCustomPrompt="1"/>
          </p:nvPr>
        </p:nvSpPr>
        <p:spPr>
          <a:xfrm>
            <a:off x="543360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4" name="Text Placeholder 6"/>
          <p:cNvSpPr>
            <a:spLocks noGrp="1"/>
          </p:cNvSpPr>
          <p:nvPr>
            <p:ph type="body" sz="quarter" idx="16" hasCustomPrompt="1"/>
          </p:nvPr>
        </p:nvSpPr>
        <p:spPr>
          <a:xfrm>
            <a:off x="7639324"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5" name="Text Placeholder 6"/>
          <p:cNvSpPr>
            <a:spLocks noGrp="1"/>
          </p:cNvSpPr>
          <p:nvPr>
            <p:ph type="body" sz="quarter" idx="17" hasCustomPrompt="1"/>
          </p:nvPr>
        </p:nvSpPr>
        <p:spPr>
          <a:xfrm>
            <a:off x="982544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6" name="TextBox 25"/>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562363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TIMELINE-DARK">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cxnSp>
        <p:nvCxnSpPr>
          <p:cNvPr id="6" name="Straight Connector 5"/>
          <p:cNvCxnSpPr/>
          <p:nvPr userDrawn="1"/>
        </p:nvCxnSpPr>
        <p:spPr>
          <a:xfrm>
            <a:off x="-28575" y="2743200"/>
            <a:ext cx="12252960" cy="0"/>
          </a:xfrm>
          <a:prstGeom prst="line">
            <a:avLst/>
          </a:prstGeom>
          <a:ln w="19050">
            <a:solidFill>
              <a:schemeClr val="bg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Oval 6"/>
          <p:cNvSpPr/>
          <p:nvPr userDrawn="1"/>
        </p:nvSpPr>
        <p:spPr>
          <a:xfrm>
            <a:off x="6172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userDrawn="1"/>
        </p:nvSpPr>
        <p:spPr>
          <a:xfrm>
            <a:off x="28270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userDrawn="1"/>
        </p:nvSpPr>
        <p:spPr>
          <a:xfrm>
            <a:off x="50368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userDrawn="1"/>
        </p:nvSpPr>
        <p:spPr>
          <a:xfrm>
            <a:off x="72466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userDrawn="1"/>
        </p:nvSpPr>
        <p:spPr>
          <a:xfrm>
            <a:off x="94564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6"/>
          <p:cNvSpPr>
            <a:spLocks noGrp="1"/>
          </p:cNvSpPr>
          <p:nvPr>
            <p:ph type="body" sz="quarter" idx="18" hasCustomPrompt="1"/>
          </p:nvPr>
        </p:nvSpPr>
        <p:spPr>
          <a:xfrm>
            <a:off x="28956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1" name="Text Placeholder 6"/>
          <p:cNvSpPr>
            <a:spLocks noGrp="1"/>
          </p:cNvSpPr>
          <p:nvPr>
            <p:ph type="body" sz="quarter" idx="19" hasCustomPrompt="1"/>
          </p:nvPr>
        </p:nvSpPr>
        <p:spPr>
          <a:xfrm>
            <a:off x="5114925"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2" name="Text Placeholder 6"/>
          <p:cNvSpPr>
            <a:spLocks noGrp="1"/>
          </p:cNvSpPr>
          <p:nvPr>
            <p:ph type="body" sz="quarter" idx="20" hasCustomPrompt="1"/>
          </p:nvPr>
        </p:nvSpPr>
        <p:spPr>
          <a:xfrm>
            <a:off x="73152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3" name="Text Placeholder 6"/>
          <p:cNvSpPr>
            <a:spLocks noGrp="1"/>
          </p:cNvSpPr>
          <p:nvPr>
            <p:ph type="body" sz="quarter" idx="21" hasCustomPrompt="1"/>
          </p:nvPr>
        </p:nvSpPr>
        <p:spPr>
          <a:xfrm>
            <a:off x="9534525" y="207645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4" name="Text Placeholder 6"/>
          <p:cNvSpPr>
            <a:spLocks noGrp="1"/>
          </p:cNvSpPr>
          <p:nvPr>
            <p:ph type="body" sz="quarter" idx="12" hasCustomPrompt="1"/>
          </p:nvPr>
        </p:nvSpPr>
        <p:spPr>
          <a:xfrm>
            <a:off x="6858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5" name="Text Placeholder 6"/>
          <p:cNvSpPr>
            <a:spLocks noGrp="1"/>
          </p:cNvSpPr>
          <p:nvPr>
            <p:ph type="body" sz="quarter" idx="22" hasCustomPrompt="1"/>
          </p:nvPr>
        </p:nvSpPr>
        <p:spPr>
          <a:xfrm>
            <a:off x="28956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6" name="Text Placeholder 6"/>
          <p:cNvSpPr>
            <a:spLocks noGrp="1"/>
          </p:cNvSpPr>
          <p:nvPr>
            <p:ph type="body" sz="quarter" idx="23" hasCustomPrompt="1"/>
          </p:nvPr>
        </p:nvSpPr>
        <p:spPr>
          <a:xfrm>
            <a:off x="511492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7" name="Text Placeholder 6"/>
          <p:cNvSpPr>
            <a:spLocks noGrp="1"/>
          </p:cNvSpPr>
          <p:nvPr>
            <p:ph type="body" sz="quarter" idx="24" hasCustomPrompt="1"/>
          </p:nvPr>
        </p:nvSpPr>
        <p:spPr>
          <a:xfrm>
            <a:off x="73152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8" name="Text Placeholder 6"/>
          <p:cNvSpPr>
            <a:spLocks noGrp="1"/>
          </p:cNvSpPr>
          <p:nvPr>
            <p:ph type="body" sz="quarter" idx="25" hasCustomPrompt="1"/>
          </p:nvPr>
        </p:nvSpPr>
        <p:spPr>
          <a:xfrm>
            <a:off x="951547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9" name="TextBox 3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986282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HOTO-RIGHT-DARK">
    <p:spTree>
      <p:nvGrpSpPr>
        <p:cNvPr id="1" name=""/>
        <p:cNvGrpSpPr/>
        <p:nvPr/>
      </p:nvGrpSpPr>
      <p:grpSpPr>
        <a:xfrm>
          <a:off x="0" y="0"/>
          <a:ext cx="0" cy="0"/>
          <a:chOff x="0" y="0"/>
          <a:chExt cx="0" cy="0"/>
        </a:xfrm>
      </p:grpSpPr>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19" name="Text Placeholder 6"/>
          <p:cNvSpPr>
            <a:spLocks noGrp="1"/>
          </p:cNvSpPr>
          <p:nvPr>
            <p:ph type="body" sz="quarter" idx="10" hasCustomPrompt="1"/>
          </p:nvPr>
        </p:nvSpPr>
        <p:spPr>
          <a:xfrm>
            <a:off x="685800" y="2057400"/>
            <a:ext cx="52959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p:cNvSpPr>
            <a:spLocks noGrp="1"/>
          </p:cNvSpPr>
          <p:nvPr>
            <p:ph type="pic" sz="quarter" idx="11"/>
          </p:nvPr>
        </p:nvSpPr>
        <p:spPr>
          <a:xfrm>
            <a:off x="6219825" y="2057400"/>
            <a:ext cx="5286375" cy="3429000"/>
          </a:xfrm>
          <a:prstGeom prst="rect">
            <a:avLst/>
          </a:prstGeom>
        </p:spPr>
        <p:txBody>
          <a:bodyPr/>
          <a:lstStyle/>
          <a:p>
            <a:r>
              <a:rPr lang="en-US"/>
              <a:t>Click icon to add picture</a:t>
            </a:r>
          </a:p>
        </p:txBody>
      </p:sp>
      <p:sp>
        <p:nvSpPr>
          <p:cNvPr id="22" name="TextBox 21"/>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533767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WIDE-PHOTOT-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CLICK TO EDIT THE TITLE</a:t>
            </a:r>
          </a:p>
        </p:txBody>
      </p:sp>
      <p:sp>
        <p:nvSpPr>
          <p:cNvPr id="4" name="Picture Placeholder 3"/>
          <p:cNvSpPr>
            <a:spLocks noGrp="1"/>
          </p:cNvSpPr>
          <p:nvPr>
            <p:ph type="pic" sz="quarter" idx="10"/>
          </p:nvPr>
        </p:nvSpPr>
        <p:spPr>
          <a:xfrm>
            <a:off x="0" y="2057400"/>
            <a:ext cx="12192000" cy="4800600"/>
          </a:xfrm>
          <a:prstGeom prst="rect">
            <a:avLst/>
          </a:prstGeom>
        </p:spPr>
        <p:txBody>
          <a:bodyPr/>
          <a:lstStyle/>
          <a:p>
            <a:r>
              <a:rPr lang="en-US"/>
              <a:t>Click icon to add picture</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127396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LEFT-DARK">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
        <p:nvSpPr>
          <p:cNvPr id="7" name="TextBox 6"/>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802025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SCRIPTION-PHOTO-RIGHT-DARK">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a:t>
            </a:r>
            <a:r>
              <a:rPr lang="uk-UA" dirty="0"/>
              <a:t> С</a:t>
            </a:r>
            <a:r>
              <a:rPr lang="en-US" dirty="0"/>
              <a:t>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4" name="Picture Placeholder 3"/>
          <p:cNvSpPr>
            <a:spLocks noGrp="1"/>
          </p:cNvSpPr>
          <p:nvPr>
            <p:ph type="pic" sz="quarter" idx="14"/>
          </p:nvPr>
        </p:nvSpPr>
        <p:spPr>
          <a:xfrm>
            <a:off x="4381500" y="1371600"/>
            <a:ext cx="7124700" cy="4114800"/>
          </a:xfrm>
          <a:prstGeom prst="rect">
            <a:avLst/>
          </a:prstGeom>
        </p:spPr>
        <p:txBody>
          <a:bodyPr/>
          <a:lstStyle/>
          <a:p>
            <a:r>
              <a:rPr lang="en-US"/>
              <a:t>Click icon to add picture</a:t>
            </a:r>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Tree>
    <p:extLst>
      <p:ext uri="{BB962C8B-B14F-4D97-AF65-F5344CB8AC3E}">
        <p14:creationId xmlns:p14="http://schemas.microsoft.com/office/powerpoint/2010/main" val="37345149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IDE-CHART-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5" name="Chart Placeholder 4"/>
          <p:cNvSpPr>
            <a:spLocks noGrp="1"/>
          </p:cNvSpPr>
          <p:nvPr>
            <p:ph type="chart" sz="quarter" idx="11"/>
          </p:nvPr>
        </p:nvSpPr>
        <p:spPr>
          <a:xfrm>
            <a:off x="685800" y="2057400"/>
            <a:ext cx="10820400" cy="3429000"/>
          </a:xfrm>
          <a:prstGeom prst="rect">
            <a:avLst/>
          </a:prstGeom>
        </p:spPr>
        <p:txBody>
          <a:bodyPr/>
          <a:lstStyle/>
          <a:p>
            <a:r>
              <a:rPr lang="en-US"/>
              <a:t>Click icon to add chart</a:t>
            </a:r>
          </a:p>
        </p:txBody>
      </p:sp>
    </p:spTree>
    <p:extLst>
      <p:ext uri="{BB962C8B-B14F-4D97-AF65-F5344CB8AC3E}">
        <p14:creationId xmlns:p14="http://schemas.microsoft.com/office/powerpoint/2010/main" val="16854359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RT-LEFT-DARK">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5" name="Chart Placeholder 4"/>
          <p:cNvSpPr>
            <a:spLocks noGrp="1"/>
          </p:cNvSpPr>
          <p:nvPr>
            <p:ph type="chart" sz="quarter" idx="13"/>
          </p:nvPr>
        </p:nvSpPr>
        <p:spPr>
          <a:xfrm>
            <a:off x="4381500" y="1371600"/>
            <a:ext cx="7124700" cy="4114800"/>
          </a:xfrm>
          <a:prstGeom prst="rect">
            <a:avLst/>
          </a:prstGeom>
        </p:spPr>
        <p:txBody>
          <a:bodyPr/>
          <a:lstStyle/>
          <a:p>
            <a:r>
              <a:rPr lang="en-US"/>
              <a:t>Click icon to add chart</a:t>
            </a:r>
          </a:p>
        </p:txBody>
      </p:sp>
    </p:spTree>
    <p:extLst>
      <p:ext uri="{BB962C8B-B14F-4D97-AF65-F5344CB8AC3E}">
        <p14:creationId xmlns:p14="http://schemas.microsoft.com/office/powerpoint/2010/main" val="4022539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SLIDE-LIGHT-1">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dirty="0"/>
              <a:t>TITLE</a:t>
            </a:r>
            <a:br>
              <a:rPr lang="uk-UA" dirty="0"/>
            </a:br>
            <a:r>
              <a:rPr lang="en-US" dirty="0"/>
              <a:t>TO</a:t>
            </a:r>
            <a:r>
              <a:rPr lang="uk-UA" dirty="0"/>
              <a:t> </a:t>
            </a:r>
            <a:r>
              <a:rPr lang="en-US" dirty="0"/>
              <a:t>BE</a:t>
            </a:r>
            <a:r>
              <a:rPr lang="uk-UA" dirty="0"/>
              <a:t> </a:t>
            </a:r>
            <a:r>
              <a:rPr lang="en-US" dirty="0"/>
              <a:t>CAPI</a:t>
            </a:r>
            <a:br>
              <a:rPr lang="uk-UA" dirty="0"/>
            </a:br>
            <a:r>
              <a:rPr lang="en-US" dirty="0"/>
              <a:t>TALIZED</a:t>
            </a:r>
          </a:p>
        </p:txBody>
      </p:sp>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42424576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SLIDE-LIGHT-2">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latin typeface="Proxima Nova Black" panose="02000506030000020004" pitchFamily="50" charset="0"/>
              </a:defRPr>
            </a:lvl1pPr>
          </a:lstStyle>
          <a:p>
            <a:r>
              <a:rPr lang="en-US" dirty="0"/>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26677534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ONE-COLUMN-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7189386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TWO-COLUMNS-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7701686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THREE-COLUMNS-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14196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DESCRIPTION-SIDETEXT-LIGH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8868973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SIDETEXT-PROCESS-LIGH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77043"/>
            <a:ext cx="7124700" cy="2051957"/>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77043"/>
            <a:ext cx="3467100" cy="2051957"/>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4" name="Oval 3"/>
          <p:cNvSpPr/>
          <p:nvPr userDrawn="1"/>
        </p:nvSpPr>
        <p:spPr>
          <a:xfrm>
            <a:off x="917664"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userDrawn="1"/>
        </p:nvSpPr>
        <p:spPr>
          <a:xfrm>
            <a:off x="3113586"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userDrawn="1"/>
        </p:nvSpPr>
        <p:spPr>
          <a:xfrm>
            <a:off x="5309508"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userDrawn="1"/>
        </p:nvSpPr>
        <p:spPr>
          <a:xfrm>
            <a:off x="7505429"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userDrawn="1"/>
        </p:nvSpPr>
        <p:spPr>
          <a:xfrm>
            <a:off x="9701348"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p:nvPr userDrawn="1"/>
        </p:nvCxnSpPr>
        <p:spPr>
          <a:xfrm>
            <a:off x="2700337"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userDrawn="1"/>
        </p:nvCxnSpPr>
        <p:spPr>
          <a:xfrm>
            <a:off x="4896259"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userDrawn="1"/>
        </p:nvCxnSpPr>
        <p:spPr>
          <a:xfrm>
            <a:off x="709218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userDrawn="1"/>
        </p:nvCxnSpPr>
        <p:spPr>
          <a:xfrm>
            <a:off x="928810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sp>
        <p:nvSpPr>
          <p:cNvPr id="20" name="Text Placeholder 6"/>
          <p:cNvSpPr>
            <a:spLocks noGrp="1"/>
          </p:cNvSpPr>
          <p:nvPr>
            <p:ph type="body" sz="quarter" idx="13" hasCustomPrompt="1"/>
          </p:nvPr>
        </p:nvSpPr>
        <p:spPr>
          <a:xfrm>
            <a:off x="1045028"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2" name="Text Placeholder 6"/>
          <p:cNvSpPr>
            <a:spLocks noGrp="1"/>
          </p:cNvSpPr>
          <p:nvPr>
            <p:ph type="body" sz="quarter" idx="14" hasCustomPrompt="1"/>
          </p:nvPr>
        </p:nvSpPr>
        <p:spPr>
          <a:xfrm>
            <a:off x="3247481"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3" name="Text Placeholder 6"/>
          <p:cNvSpPr>
            <a:spLocks noGrp="1"/>
          </p:cNvSpPr>
          <p:nvPr>
            <p:ph type="body" sz="quarter" idx="15" hasCustomPrompt="1"/>
          </p:nvPr>
        </p:nvSpPr>
        <p:spPr>
          <a:xfrm>
            <a:off x="543360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4" name="Text Placeholder 6"/>
          <p:cNvSpPr>
            <a:spLocks noGrp="1"/>
          </p:cNvSpPr>
          <p:nvPr>
            <p:ph type="body" sz="quarter" idx="16" hasCustomPrompt="1"/>
          </p:nvPr>
        </p:nvSpPr>
        <p:spPr>
          <a:xfrm>
            <a:off x="7639324"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5" name="Text Placeholder 6"/>
          <p:cNvSpPr>
            <a:spLocks noGrp="1"/>
          </p:cNvSpPr>
          <p:nvPr>
            <p:ph type="body" sz="quarter" idx="17" hasCustomPrompt="1"/>
          </p:nvPr>
        </p:nvSpPr>
        <p:spPr>
          <a:xfrm>
            <a:off x="982544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1" name="TextBox 20"/>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874876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TIMELINE-LIGHT">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cxnSp>
        <p:nvCxnSpPr>
          <p:cNvPr id="6" name="Straight Connector 5"/>
          <p:cNvCxnSpPr/>
          <p:nvPr userDrawn="1"/>
        </p:nvCxnSpPr>
        <p:spPr>
          <a:xfrm>
            <a:off x="-28575" y="2743200"/>
            <a:ext cx="122529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userDrawn="1"/>
        </p:nvSpPr>
        <p:spPr>
          <a:xfrm>
            <a:off x="6172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userDrawn="1"/>
        </p:nvSpPr>
        <p:spPr>
          <a:xfrm>
            <a:off x="28270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userDrawn="1"/>
        </p:nvSpPr>
        <p:spPr>
          <a:xfrm>
            <a:off x="50368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userDrawn="1"/>
        </p:nvSpPr>
        <p:spPr>
          <a:xfrm>
            <a:off x="72466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userDrawn="1"/>
        </p:nvSpPr>
        <p:spPr>
          <a:xfrm>
            <a:off x="94564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6"/>
          <p:cNvSpPr>
            <a:spLocks noGrp="1"/>
          </p:cNvSpPr>
          <p:nvPr>
            <p:ph type="body" sz="quarter" idx="18" hasCustomPrompt="1"/>
          </p:nvPr>
        </p:nvSpPr>
        <p:spPr>
          <a:xfrm>
            <a:off x="28956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1" name="Text Placeholder 6"/>
          <p:cNvSpPr>
            <a:spLocks noGrp="1"/>
          </p:cNvSpPr>
          <p:nvPr>
            <p:ph type="body" sz="quarter" idx="19" hasCustomPrompt="1"/>
          </p:nvPr>
        </p:nvSpPr>
        <p:spPr>
          <a:xfrm>
            <a:off x="5114925"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2" name="Text Placeholder 6"/>
          <p:cNvSpPr>
            <a:spLocks noGrp="1"/>
          </p:cNvSpPr>
          <p:nvPr>
            <p:ph type="body" sz="quarter" idx="20" hasCustomPrompt="1"/>
          </p:nvPr>
        </p:nvSpPr>
        <p:spPr>
          <a:xfrm>
            <a:off x="73152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3" name="Text Placeholder 6"/>
          <p:cNvSpPr>
            <a:spLocks noGrp="1"/>
          </p:cNvSpPr>
          <p:nvPr>
            <p:ph type="body" sz="quarter" idx="21" hasCustomPrompt="1"/>
          </p:nvPr>
        </p:nvSpPr>
        <p:spPr>
          <a:xfrm>
            <a:off x="9534525" y="207645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4" name="Text Placeholder 6"/>
          <p:cNvSpPr>
            <a:spLocks noGrp="1"/>
          </p:cNvSpPr>
          <p:nvPr>
            <p:ph type="body" sz="quarter" idx="12" hasCustomPrompt="1"/>
          </p:nvPr>
        </p:nvSpPr>
        <p:spPr>
          <a:xfrm>
            <a:off x="6858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5" name="Text Placeholder 6"/>
          <p:cNvSpPr>
            <a:spLocks noGrp="1"/>
          </p:cNvSpPr>
          <p:nvPr>
            <p:ph type="body" sz="quarter" idx="22" hasCustomPrompt="1"/>
          </p:nvPr>
        </p:nvSpPr>
        <p:spPr>
          <a:xfrm>
            <a:off x="28956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6" name="Text Placeholder 6"/>
          <p:cNvSpPr>
            <a:spLocks noGrp="1"/>
          </p:cNvSpPr>
          <p:nvPr>
            <p:ph type="body" sz="quarter" idx="23" hasCustomPrompt="1"/>
          </p:nvPr>
        </p:nvSpPr>
        <p:spPr>
          <a:xfrm>
            <a:off x="511492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7" name="Text Placeholder 6"/>
          <p:cNvSpPr>
            <a:spLocks noGrp="1"/>
          </p:cNvSpPr>
          <p:nvPr>
            <p:ph type="body" sz="quarter" idx="24" hasCustomPrompt="1"/>
          </p:nvPr>
        </p:nvSpPr>
        <p:spPr>
          <a:xfrm>
            <a:off x="73152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8" name="Text Placeholder 6"/>
          <p:cNvSpPr>
            <a:spLocks noGrp="1"/>
          </p:cNvSpPr>
          <p:nvPr>
            <p:ph type="body" sz="quarter" idx="25" hasCustomPrompt="1"/>
          </p:nvPr>
        </p:nvSpPr>
        <p:spPr>
          <a:xfrm>
            <a:off x="951547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Tree>
    <p:extLst>
      <p:ext uri="{BB962C8B-B14F-4D97-AF65-F5344CB8AC3E}">
        <p14:creationId xmlns:p14="http://schemas.microsoft.com/office/powerpoint/2010/main" val="11286899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RIGHT-LIGHT">
    <p:spTree>
      <p:nvGrpSpPr>
        <p:cNvPr id="1" name=""/>
        <p:cNvGrpSpPr/>
        <p:nvPr/>
      </p:nvGrpSpPr>
      <p:grpSpPr>
        <a:xfrm>
          <a:off x="0" y="0"/>
          <a:ext cx="0" cy="0"/>
          <a:chOff x="0" y="0"/>
          <a:chExt cx="0" cy="0"/>
        </a:xfrm>
      </p:grpSpPr>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19" name="Text Placeholder 6"/>
          <p:cNvSpPr>
            <a:spLocks noGrp="1"/>
          </p:cNvSpPr>
          <p:nvPr>
            <p:ph type="body" sz="quarter" idx="10" hasCustomPrompt="1"/>
          </p:nvPr>
        </p:nvSpPr>
        <p:spPr>
          <a:xfrm>
            <a:off x="685800" y="2057400"/>
            <a:ext cx="52959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p:cNvSpPr>
            <a:spLocks noGrp="1"/>
          </p:cNvSpPr>
          <p:nvPr>
            <p:ph type="pic" sz="quarter" idx="11"/>
          </p:nvPr>
        </p:nvSpPr>
        <p:spPr>
          <a:xfrm>
            <a:off x="6219825" y="2057400"/>
            <a:ext cx="5286375" cy="3429000"/>
          </a:xfrm>
          <a:prstGeom prst="rect">
            <a:avLst/>
          </a:prstGeom>
        </p:spPr>
        <p:txBody>
          <a:bodyPr/>
          <a:lstStyle/>
          <a:p>
            <a:endParaRPr lang="en-US"/>
          </a:p>
        </p:txBody>
      </p:sp>
      <p:sp>
        <p:nvSpPr>
          <p:cNvPr id="22" name="TextBox 21"/>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5842787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WIDE-PHOTO-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CLICK TO EDIT THE TITLE</a:t>
            </a:r>
          </a:p>
        </p:txBody>
      </p:sp>
      <p:sp>
        <p:nvSpPr>
          <p:cNvPr id="4" name="Picture Placeholder 3"/>
          <p:cNvSpPr>
            <a:spLocks noGrp="1"/>
          </p:cNvSpPr>
          <p:nvPr>
            <p:ph type="pic" sz="quarter" idx="10"/>
          </p:nvPr>
        </p:nvSpPr>
        <p:spPr>
          <a:xfrm>
            <a:off x="0" y="2057400"/>
            <a:ext cx="12192000" cy="4800600"/>
          </a:xfrm>
          <a:prstGeom prst="rect">
            <a:avLst/>
          </a:prstGeom>
        </p:spPr>
        <p:txBody>
          <a:bodyPr/>
          <a:lstStyle/>
          <a:p>
            <a:endParaRPr lang="en-US"/>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2855464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LEFT-LIGH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endParaRPr lang="en-US"/>
          </a:p>
        </p:txBody>
      </p:sp>
      <p:sp>
        <p:nvSpPr>
          <p:cNvPr id="7" name="TextBox 6"/>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5590467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SCRIPTION-PHOTO-RIGHT-LIGHT">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a:t>
            </a:r>
            <a:r>
              <a:rPr lang="uk-UA" dirty="0"/>
              <a:t> С</a:t>
            </a:r>
            <a:r>
              <a:rPr lang="en-US" dirty="0"/>
              <a:t>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4" name="Picture Placeholder 3"/>
          <p:cNvSpPr>
            <a:spLocks noGrp="1"/>
          </p:cNvSpPr>
          <p:nvPr>
            <p:ph type="pic" sz="quarter" idx="14"/>
          </p:nvPr>
        </p:nvSpPr>
        <p:spPr>
          <a:xfrm>
            <a:off x="4381500" y="1371600"/>
            <a:ext cx="7124700" cy="4114800"/>
          </a:xfrm>
          <a:prstGeom prst="rect">
            <a:avLst/>
          </a:prstGeom>
        </p:spPr>
        <p:txBody>
          <a:bodyPr/>
          <a:lstStyle/>
          <a:p>
            <a:endParaRPr lang="en-US"/>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Tree>
    <p:extLst>
      <p:ext uri="{BB962C8B-B14F-4D97-AF65-F5344CB8AC3E}">
        <p14:creationId xmlns:p14="http://schemas.microsoft.com/office/powerpoint/2010/main" val="1780709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WIDE-CHART-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5" name="Chart Placeholder 4"/>
          <p:cNvSpPr>
            <a:spLocks noGrp="1"/>
          </p:cNvSpPr>
          <p:nvPr>
            <p:ph type="chart" sz="quarter" idx="11"/>
          </p:nvPr>
        </p:nvSpPr>
        <p:spPr>
          <a:xfrm>
            <a:off x="685800" y="2057400"/>
            <a:ext cx="10820400" cy="3429000"/>
          </a:xfrm>
          <a:prstGeom prst="rect">
            <a:avLst/>
          </a:prstGeom>
        </p:spPr>
        <p:txBody>
          <a:bodyPr/>
          <a:lstStyle/>
          <a:p>
            <a:endParaRPr lang="en-US"/>
          </a:p>
        </p:txBody>
      </p:sp>
    </p:spTree>
    <p:extLst>
      <p:ext uri="{BB962C8B-B14F-4D97-AF65-F5344CB8AC3E}">
        <p14:creationId xmlns:p14="http://schemas.microsoft.com/office/powerpoint/2010/main" val="22989921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RT-LEFT-LIGHT">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5" name="Chart Placeholder 4"/>
          <p:cNvSpPr>
            <a:spLocks noGrp="1"/>
          </p:cNvSpPr>
          <p:nvPr>
            <p:ph type="chart" sz="quarter" idx="13"/>
          </p:nvPr>
        </p:nvSpPr>
        <p:spPr>
          <a:xfrm>
            <a:off x="4381500" y="1371600"/>
            <a:ext cx="7124700" cy="4114800"/>
          </a:xfrm>
          <a:prstGeom prst="rect">
            <a:avLst/>
          </a:prstGeom>
        </p:spPr>
        <p:txBody>
          <a:bodyPr/>
          <a:lstStyle/>
          <a:p>
            <a:endParaRPr lang="en-US"/>
          </a:p>
        </p:txBody>
      </p:sp>
    </p:spTree>
    <p:extLst>
      <p:ext uri="{BB962C8B-B14F-4D97-AF65-F5344CB8AC3E}">
        <p14:creationId xmlns:p14="http://schemas.microsoft.com/office/powerpoint/2010/main" val="1310242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3.emf"/><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6"/>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934738578"/>
      </p:ext>
    </p:extLst>
  </p:cSld>
  <p:clrMap bg1="dk1" tx1="lt1" bg2="dk2" tx2="lt2" accent1="accent1" accent2="accent2" accent3="accent3" accent4="accent4" accent5="accent5" accent6="accent6" hlink="hlink" folHlink="folHlink"/>
  <p:sldLayoutIdLst>
    <p:sldLayoutId id="2147483649" r:id="rId1"/>
    <p:sldLayoutId id="2147483674" r:id="rId2"/>
    <p:sldLayoutId id="2147483652" r:id="rId3"/>
    <p:sldLayoutId id="2147483654" r:id="rId4"/>
    <p:sldLayoutId id="2147483657" r:id="rId5"/>
    <p:sldLayoutId id="2147483661" r:id="rId6"/>
    <p:sldLayoutId id="2147483663" r:id="rId7"/>
    <p:sldLayoutId id="2147483665" r:id="rId8"/>
    <p:sldLayoutId id="2147483667" r:id="rId9"/>
    <p:sldLayoutId id="2147483670" r:id="rId10"/>
    <p:sldLayoutId id="2147483669" r:id="rId11"/>
    <p:sldLayoutId id="2147483671" r:id="rId12"/>
    <p:sldLayoutId id="2147483672" r:id="rId13"/>
    <p:sldLayoutId id="21474836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32" userDrawn="1">
          <p15:clr>
            <a:srgbClr val="F26B43"/>
          </p15:clr>
        </p15:guide>
        <p15:guide id="4" pos="7248" userDrawn="1">
          <p15:clr>
            <a:srgbClr val="F26B43"/>
          </p15:clr>
        </p15:guide>
        <p15:guide id="5" orient="horz" pos="432" userDrawn="1">
          <p15:clr>
            <a:srgbClr val="F26B43"/>
          </p15:clr>
        </p15:guide>
        <p15:guide id="6" orient="horz" pos="864" userDrawn="1">
          <p15:clr>
            <a:srgbClr val="F26B43"/>
          </p15:clr>
        </p15:guide>
        <p15:guide id="7" orient="horz" pos="3456" userDrawn="1">
          <p15:clr>
            <a:srgbClr val="F26B43"/>
          </p15:clr>
        </p15:guide>
        <p15:guide id="8" orient="horz" pos="3888" userDrawn="1">
          <p15:clr>
            <a:srgbClr val="F26B43"/>
          </p15:clr>
        </p15:guide>
        <p15:guide id="9" pos="1680" userDrawn="1">
          <p15:clr>
            <a:srgbClr val="F26B43"/>
          </p15:clr>
        </p15:guide>
        <p15:guide id="10" pos="1824" userDrawn="1">
          <p15:clr>
            <a:srgbClr val="F26B43"/>
          </p15:clr>
        </p15:guide>
        <p15:guide id="11" pos="2616" userDrawn="1">
          <p15:clr>
            <a:srgbClr val="F26B43"/>
          </p15:clr>
        </p15:guide>
        <p15:guide id="12" pos="3072" userDrawn="1">
          <p15:clr>
            <a:srgbClr val="F26B43"/>
          </p15:clr>
        </p15:guide>
        <p15:guide id="13" pos="2760" userDrawn="1">
          <p15:clr>
            <a:srgbClr val="F26B43"/>
          </p15:clr>
        </p15:guide>
        <p15:guide id="14" pos="3216" userDrawn="1">
          <p15:clr>
            <a:srgbClr val="F26B43"/>
          </p15:clr>
        </p15:guide>
        <p15:guide id="15" pos="4464" userDrawn="1">
          <p15:clr>
            <a:srgbClr val="F26B43"/>
          </p15:clr>
        </p15:guide>
        <p15:guide id="16" pos="4608" userDrawn="1">
          <p15:clr>
            <a:srgbClr val="F26B43"/>
          </p15:clr>
        </p15:guide>
        <p15:guide id="17" pos="4920" userDrawn="1">
          <p15:clr>
            <a:srgbClr val="F26B43"/>
          </p15:clr>
        </p15:guide>
        <p15:guide id="18" pos="5064" userDrawn="1">
          <p15:clr>
            <a:srgbClr val="F26B43"/>
          </p15:clr>
        </p15:guide>
        <p15:guide id="19" pos="5856" userDrawn="1">
          <p15:clr>
            <a:srgbClr val="F26B43"/>
          </p15:clr>
        </p15:guide>
        <p15:guide id="20" pos="6000" userDrawn="1">
          <p15:clr>
            <a:srgbClr val="F26B43"/>
          </p15:clr>
        </p15:guide>
        <p15:guide id="21" orient="horz" pos="1296" userDrawn="1">
          <p15:clr>
            <a:srgbClr val="F26B43"/>
          </p15:clr>
        </p15:guide>
        <p15:guide id="22" orient="horz" pos="1728" userDrawn="1">
          <p15:clr>
            <a:srgbClr val="F26B43"/>
          </p15:clr>
        </p15:guide>
        <p15:guide id="23" pos="3768" userDrawn="1">
          <p15:clr>
            <a:srgbClr val="F26B43"/>
          </p15:clr>
        </p15:guide>
        <p15:guide id="24" pos="391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6"/>
          <a:stretch>
            <a:fillRect/>
          </a:stretch>
        </p:blipFill>
        <p:spPr>
          <a:xfrm>
            <a:off x="9959145" y="5906728"/>
            <a:ext cx="1547053" cy="265471"/>
          </a:xfrm>
          <a:prstGeom prst="rect">
            <a:avLst/>
          </a:prstGeom>
        </p:spPr>
      </p:pic>
    </p:spTree>
    <p:extLst>
      <p:ext uri="{BB962C8B-B14F-4D97-AF65-F5344CB8AC3E}">
        <p14:creationId xmlns:p14="http://schemas.microsoft.com/office/powerpoint/2010/main" val="23213711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64" r:id="rId7"/>
    <p:sldLayoutId id="2147483666" r:id="rId8"/>
    <p:sldLayoutId id="2147483683" r:id="rId9"/>
    <p:sldLayoutId id="2147483684" r:id="rId10"/>
    <p:sldLayoutId id="2147483685" r:id="rId11"/>
    <p:sldLayoutId id="2147483686" r:id="rId12"/>
    <p:sldLayoutId id="2147483687" r:id="rId13"/>
    <p:sldLayoutId id="214748368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hyperlink" Target="https://en.wikipedia.org/wiki/Mobilegeddon" TargetMode="Externa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hyperlink" Target="https://getbootstrap.com/" TargetMode="External"/><Relationship Id="rId2" Type="http://schemas.openxmlformats.org/officeDocument/2006/relationships/hyperlink" Target="https://foundation.zurb.com/" TargetMode="Externa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hyperlink" Target="https://jigsaw.w3.org/css-validator/" TargetMode="External"/><Relationship Id="rId2" Type="http://schemas.openxmlformats.org/officeDocument/2006/relationships/hyperlink" Target="https://validator.w3.org/" TargetMode="External"/><Relationship Id="rId1" Type="http://schemas.openxmlformats.org/officeDocument/2006/relationships/slideLayout" Target="../slideLayouts/slideLayout16.xml"/><Relationship Id="rId5" Type="http://schemas.openxmlformats.org/officeDocument/2006/relationships/image" Target="../media/image9.png"/><Relationship Id="rId4" Type="http://schemas.openxmlformats.org/officeDocument/2006/relationships/hyperlink" Target="https://caniuse.com/"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hyperlink" Target="https://www.lifewire.com/css2-vs-css3-3466978" TargetMode="External"/><Relationship Id="rId2" Type="http://schemas.openxmlformats.org/officeDocument/2006/relationships/hyperlink" Target="https://www.lifewire.com/what-is-css-3466390" TargetMode="External"/><Relationship Id="rId1" Type="http://schemas.openxmlformats.org/officeDocument/2006/relationships/slideLayout" Target="../slideLayouts/slideLayout16.xml"/><Relationship Id="rId5" Type="http://schemas.openxmlformats.org/officeDocument/2006/relationships/image" Target="../media/image11.png"/><Relationship Id="rId4" Type="http://schemas.openxmlformats.org/officeDocument/2006/relationships/hyperlink" Target="https://www.lifewire.com/what-is-css3-3466973"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hyperlink" Target="https://www.browserstack.com/" TargetMode="External"/><Relationship Id="rId2" Type="http://schemas.openxmlformats.org/officeDocument/2006/relationships/hyperlink" Target="http://crossbrowsertesting.com/" TargetMode="Externa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hyperlink" Target="https://crossbrowsertesting.com/blog/development/cross-platform-website-development/" TargetMode="External"/><Relationship Id="rId3" Type="http://schemas.openxmlformats.org/officeDocument/2006/relationships/hyperlink" Target="https://www.awwwards.com/why-responsive-design-support-is-the-most-important-feature-you-can-add-to-your-website.html" TargetMode="External"/><Relationship Id="rId7" Type="http://schemas.openxmlformats.org/officeDocument/2006/relationships/hyperlink" Target="https://developer.mozilla.org/en-US/docs/Learn/Tools_and_testing/Cross_browser_testing/HTML_and_CSS" TargetMode="External"/><Relationship Id="rId2" Type="http://schemas.openxmlformats.org/officeDocument/2006/relationships/hyperlink" Target="https://medium.com/@space.alpaca/so-what-exactly-is-the-difference-between-fixed-fluid-adaptive-and-responsive-layouts-and-why-3773272d8481" TargetMode="External"/><Relationship Id="rId1" Type="http://schemas.openxmlformats.org/officeDocument/2006/relationships/slideLayout" Target="../slideLayouts/slideLayout2.xml"/><Relationship Id="rId6" Type="http://schemas.openxmlformats.org/officeDocument/2006/relationships/hyperlink" Target="https://www.thesitewizard.com/webdesign/htmlvalidation.shtml" TargetMode="External"/><Relationship Id="rId5" Type="http://schemas.openxmlformats.org/officeDocument/2006/relationships/hyperlink" Target="https://www.crazyegg.com/blog/speed-up-your-website/" TargetMode="External"/><Relationship Id="rId4" Type="http://schemas.openxmlformats.org/officeDocument/2006/relationships/hyperlink" Target="https://www.w3schools.com/html/html_accessibility.asp"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308" y="174928"/>
            <a:ext cx="12390783" cy="6683071"/>
          </a:xfrm>
        </p:spPr>
        <p:txBody>
          <a:bodyPr/>
          <a:lstStyle/>
          <a:p>
            <a:pPr>
              <a:spcBef>
                <a:spcPts val="0"/>
              </a:spcBef>
            </a:pPr>
            <a:r>
              <a:rPr lang="en-US" sz="9000" dirty="0"/>
              <a:t> </a:t>
            </a:r>
            <a:r>
              <a:rPr lang="en-US" sz="13000" dirty="0"/>
              <a:t>Site Layout</a:t>
            </a:r>
            <a:r>
              <a:rPr lang="en-US" sz="12000" dirty="0"/>
              <a:t> </a:t>
            </a:r>
            <a:br>
              <a:rPr lang="en-US" sz="8800" dirty="0"/>
            </a:br>
            <a:r>
              <a:rPr lang="en-US" sz="8800" dirty="0"/>
              <a:t> Best practices </a:t>
            </a:r>
            <a:br>
              <a:rPr lang="en-US" sz="8800" dirty="0"/>
            </a:br>
            <a:r>
              <a:rPr lang="en-US" sz="8800" dirty="0"/>
              <a:t> </a:t>
            </a:r>
            <a:r>
              <a:rPr lang="en-US" sz="6000" dirty="0"/>
              <a:t>Cross browser’s implementation</a:t>
            </a:r>
            <a:endParaRPr lang="en-US" sz="6000" dirty="0">
              <a:latin typeface="Proxima Nova Black" panose="02000506030000020004" pitchFamily="2" charset="0"/>
            </a:endParaRPr>
          </a:p>
        </p:txBody>
      </p:sp>
      <p:sp>
        <p:nvSpPr>
          <p:cNvPr id="3" name="Text Placeholder 2"/>
          <p:cNvSpPr>
            <a:spLocks noGrp="1"/>
          </p:cNvSpPr>
          <p:nvPr>
            <p:ph type="body" sz="quarter" idx="10"/>
          </p:nvPr>
        </p:nvSpPr>
        <p:spPr/>
        <p:txBody>
          <a:bodyPr/>
          <a:lstStyle/>
          <a:p>
            <a:r>
              <a:rPr lang="en-US" dirty="0"/>
              <a:t>by Tkachuk Vitaliy</a:t>
            </a:r>
          </a:p>
        </p:txBody>
      </p:sp>
    </p:spTree>
    <p:extLst>
      <p:ext uri="{BB962C8B-B14F-4D97-AF65-F5344CB8AC3E}">
        <p14:creationId xmlns:p14="http://schemas.microsoft.com/office/powerpoint/2010/main" val="1552756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a:t>
            </a:r>
            <a:br>
              <a:rPr lang="en-US" dirty="0"/>
            </a:br>
            <a:r>
              <a:rPr lang="en-US" dirty="0"/>
              <a:t>Site Layout</a:t>
            </a:r>
          </a:p>
        </p:txBody>
      </p:sp>
    </p:spTree>
    <p:extLst>
      <p:ext uri="{BB962C8B-B14F-4D97-AF65-F5344CB8AC3E}">
        <p14:creationId xmlns:p14="http://schemas.microsoft.com/office/powerpoint/2010/main" val="658380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Site layout – stage of development, when website design drown by designer is transformed into a web page using markup language HTML and stylesheet language CSS.</a:t>
            </a:r>
          </a:p>
          <a:p>
            <a:r>
              <a:rPr lang="en-US" dirty="0"/>
              <a:t>So, what are the types of site layout:</a:t>
            </a:r>
          </a:p>
          <a:p>
            <a:pPr marL="342900" indent="-342900">
              <a:buFont typeface="Arial" panose="020B0604020202020204" pitchFamily="34" charset="0"/>
              <a:buChar char="•"/>
            </a:pPr>
            <a:r>
              <a:rPr lang="en-US" dirty="0"/>
              <a:t>Table</a:t>
            </a:r>
          </a:p>
          <a:p>
            <a:pPr marL="342900" indent="-342900">
              <a:buFont typeface="Arial" panose="020B0604020202020204" pitchFamily="34" charset="0"/>
              <a:buChar char="•"/>
            </a:pPr>
            <a:r>
              <a:rPr lang="en-US" dirty="0"/>
              <a:t>Block (div based)</a:t>
            </a:r>
          </a:p>
          <a:p>
            <a:pPr marL="342900" indent="-342900">
              <a:buFont typeface="Arial" panose="020B0604020202020204" pitchFamily="34" charset="0"/>
              <a:buChar char="•"/>
            </a:pPr>
            <a:r>
              <a:rPr lang="en-US" dirty="0"/>
              <a:t>Fixed (static)</a:t>
            </a:r>
          </a:p>
          <a:p>
            <a:pPr marL="342900" indent="-342900">
              <a:buFont typeface="Arial" panose="020B0604020202020204" pitchFamily="34" charset="0"/>
              <a:buChar char="•"/>
            </a:pPr>
            <a:r>
              <a:rPr lang="en-US" dirty="0"/>
              <a:t>Fluid</a:t>
            </a:r>
          </a:p>
          <a:p>
            <a:pPr marL="342900" indent="-342900">
              <a:buFont typeface="Arial" panose="020B0604020202020204" pitchFamily="34" charset="0"/>
              <a:buChar char="•"/>
            </a:pPr>
            <a:r>
              <a:rPr lang="en-US" dirty="0"/>
              <a:t>Rubber (elastic)</a:t>
            </a:r>
          </a:p>
          <a:p>
            <a:pPr marL="342900" indent="-342900">
              <a:buFont typeface="Arial" panose="020B0604020202020204" pitchFamily="34" charset="0"/>
              <a:buChar char="•"/>
            </a:pPr>
            <a:r>
              <a:rPr lang="en-US" dirty="0"/>
              <a:t>Adaptive</a:t>
            </a:r>
          </a:p>
          <a:p>
            <a:pPr marL="342900" indent="-342900">
              <a:buFont typeface="Arial" panose="020B0604020202020204" pitchFamily="34" charset="0"/>
              <a:buChar char="•"/>
            </a:pPr>
            <a:r>
              <a:rPr lang="en-US" dirty="0"/>
              <a:t>Responsive</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INTRODUCTION</a:t>
            </a:r>
            <a:endParaRPr lang="uk-UA" sz="4400" dirty="0"/>
          </a:p>
        </p:txBody>
      </p:sp>
    </p:spTree>
    <p:extLst>
      <p:ext uri="{BB962C8B-B14F-4D97-AF65-F5344CB8AC3E}">
        <p14:creationId xmlns:p14="http://schemas.microsoft.com/office/powerpoint/2010/main" val="1423940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Types of site layout</a:t>
            </a:r>
          </a:p>
        </p:txBody>
      </p:sp>
    </p:spTree>
    <p:extLst>
      <p:ext uri="{BB962C8B-B14F-4D97-AF65-F5344CB8AC3E}">
        <p14:creationId xmlns:p14="http://schemas.microsoft.com/office/powerpoint/2010/main" val="969462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5410200" cy="3810000"/>
          </a:xfrm>
        </p:spPr>
        <p:txBody>
          <a:bodyPr/>
          <a:lstStyle/>
          <a:p>
            <a:pPr defTabSz="384047">
              <a:spcBef>
                <a:spcPts val="600"/>
              </a:spcBef>
              <a:defRPr sz="2688"/>
            </a:pPr>
            <a:r>
              <a:rPr lang="en-US" sz="2688" dirty="0"/>
              <a:t>This layout option is based on the HTML tables creation, allowing you to divide the page structure into separate elements — columns and cells — in which site components will be placed. </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Table Site Layout</a:t>
            </a:r>
            <a:endParaRPr lang="uk-UA" sz="4400" dirty="0"/>
          </a:p>
        </p:txBody>
      </p:sp>
      <p:sp>
        <p:nvSpPr>
          <p:cNvPr id="7" name="Rectangle 6">
            <a:extLst>
              <a:ext uri="{FF2B5EF4-FFF2-40B4-BE49-F238E27FC236}">
                <a16:creationId xmlns:a16="http://schemas.microsoft.com/office/drawing/2014/main" id="{C2004691-A0B4-4687-A70F-0195843E6943}"/>
              </a:ext>
            </a:extLst>
          </p:cNvPr>
          <p:cNvSpPr/>
          <p:nvPr/>
        </p:nvSpPr>
        <p:spPr>
          <a:xfrm>
            <a:off x="6756647" y="1714502"/>
            <a:ext cx="4749553" cy="3970318"/>
          </a:xfrm>
          <a:prstGeom prst="rect">
            <a:avLst/>
          </a:prstGeom>
          <a:solidFill>
            <a:schemeClr val="bg2">
              <a:lumMod val="95000"/>
            </a:schemeClr>
          </a:solidFill>
        </p:spPr>
        <p:txBody>
          <a:bodyPr wrap="square">
            <a:spAutoFit/>
          </a:bodyPr>
          <a:lstStyle/>
          <a:p>
            <a:r>
              <a:rPr lang="en-US" dirty="0"/>
              <a:t>&lt;table cellpadding="0" </a:t>
            </a:r>
            <a:r>
              <a:rPr lang="en-US" dirty="0" err="1"/>
              <a:t>cellspacing</a:t>
            </a:r>
            <a:r>
              <a:rPr lang="en-US" dirty="0"/>
              <a:t>="0" border="0"&gt;</a:t>
            </a:r>
          </a:p>
          <a:p>
            <a:r>
              <a:rPr lang="en-US" dirty="0"/>
              <a:t>    &lt;tr&gt;</a:t>
            </a:r>
          </a:p>
          <a:p>
            <a:r>
              <a:rPr lang="en-US" dirty="0"/>
              <a:t>        &lt;td </a:t>
            </a:r>
            <a:r>
              <a:rPr lang="en-US" dirty="0" err="1"/>
              <a:t>colspan</a:t>
            </a:r>
            <a:r>
              <a:rPr lang="en-US" dirty="0"/>
              <a:t>="3" height="120px"&gt;....&lt;/td&gt;</a:t>
            </a:r>
          </a:p>
          <a:p>
            <a:r>
              <a:rPr lang="en-US" dirty="0"/>
              <a:t>    &lt;/tr&gt;</a:t>
            </a:r>
          </a:p>
          <a:p>
            <a:r>
              <a:rPr lang="en-US" dirty="0"/>
              <a:t>    &lt;tr&gt;</a:t>
            </a:r>
          </a:p>
          <a:p>
            <a:r>
              <a:rPr lang="en-US" dirty="0"/>
              <a:t>        &lt;td class="menu" </a:t>
            </a:r>
            <a:r>
              <a:rPr lang="en-US" dirty="0" err="1"/>
              <a:t>valign</a:t>
            </a:r>
            <a:r>
              <a:rPr lang="en-US" dirty="0"/>
              <a:t>="top"&gt;...&lt;/td&gt;</a:t>
            </a:r>
          </a:p>
          <a:p>
            <a:r>
              <a:rPr lang="en-US" dirty="0"/>
              <a:t>        &lt;td class="content" </a:t>
            </a:r>
            <a:r>
              <a:rPr lang="en-US" dirty="0" err="1"/>
              <a:t>valign</a:t>
            </a:r>
            <a:r>
              <a:rPr lang="en-US" dirty="0"/>
              <a:t>="top"&gt;...&lt;/td&gt;</a:t>
            </a:r>
          </a:p>
          <a:p>
            <a:r>
              <a:rPr lang="en-US" dirty="0"/>
              <a:t>        &lt;td class=“sidebar" </a:t>
            </a:r>
            <a:r>
              <a:rPr lang="en-US" dirty="0" err="1"/>
              <a:t>valign</a:t>
            </a:r>
            <a:r>
              <a:rPr lang="en-US" dirty="0"/>
              <a:t>="top"&gt;...&lt;/td&gt;</a:t>
            </a:r>
          </a:p>
          <a:p>
            <a:r>
              <a:rPr lang="en-US" dirty="0"/>
              <a:t>    &lt;/tr&gt;</a:t>
            </a:r>
          </a:p>
          <a:p>
            <a:r>
              <a:rPr lang="en-US" dirty="0"/>
              <a:t>    &lt;tr&gt;</a:t>
            </a:r>
          </a:p>
          <a:p>
            <a:r>
              <a:rPr lang="en-US" dirty="0"/>
              <a:t>        &lt;td </a:t>
            </a:r>
            <a:r>
              <a:rPr lang="en-US" dirty="0" err="1"/>
              <a:t>colspan</a:t>
            </a:r>
            <a:r>
              <a:rPr lang="en-US" dirty="0"/>
              <a:t>="3"&gt;...&lt;/td&gt;</a:t>
            </a:r>
          </a:p>
          <a:p>
            <a:r>
              <a:rPr lang="en-US" dirty="0"/>
              <a:t>    &lt;/tr&gt;</a:t>
            </a:r>
          </a:p>
          <a:p>
            <a:r>
              <a:rPr lang="en-US" dirty="0"/>
              <a:t>&lt;/table&gt;</a:t>
            </a:r>
          </a:p>
        </p:txBody>
      </p:sp>
    </p:spTree>
    <p:extLst>
      <p:ext uri="{BB962C8B-B14F-4D97-AF65-F5344CB8AC3E}">
        <p14:creationId xmlns:p14="http://schemas.microsoft.com/office/powerpoint/2010/main" val="380221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799" y="1714502"/>
            <a:ext cx="5635101" cy="3810000"/>
          </a:xfrm>
        </p:spPr>
        <p:txBody>
          <a:bodyPr/>
          <a:lstStyle/>
          <a:p>
            <a:r>
              <a:rPr lang="en-US" b="1" dirty="0"/>
              <a:t>&lt;div&gt; tag </a:t>
            </a:r>
            <a:r>
              <a:rPr lang="en-US" dirty="0"/>
              <a:t>is used to group block and inline level elements and to create divisions in a webpage. Before </a:t>
            </a:r>
            <a:r>
              <a:rPr lang="en-US" b="1" dirty="0"/>
              <a:t>2004</a:t>
            </a:r>
            <a:r>
              <a:rPr lang="en-US" dirty="0"/>
              <a:t>, we were using </a:t>
            </a:r>
            <a:r>
              <a:rPr lang="en-US" b="1" dirty="0"/>
              <a:t>Table Based Layouts</a:t>
            </a:r>
            <a:r>
              <a:rPr lang="en-US" dirty="0"/>
              <a:t>. But After 2004, </a:t>
            </a:r>
            <a:r>
              <a:rPr lang="en-US" b="1" dirty="0" err="1"/>
              <a:t>Div</a:t>
            </a:r>
            <a:r>
              <a:rPr lang="en-US" b="1" dirty="0"/>
              <a:t> based layout</a:t>
            </a:r>
            <a:r>
              <a:rPr lang="en-US" dirty="0"/>
              <a:t> become popular.</a:t>
            </a:r>
          </a:p>
          <a:p>
            <a:endParaRPr lang="en-US" dirty="0"/>
          </a:p>
          <a:p>
            <a:pPr marL="342900" indent="-342900">
              <a:buFont typeface="Arial" panose="020B0604020202020204" pitchFamily="34" charset="0"/>
              <a:buChar char="•"/>
            </a:pPr>
            <a:r>
              <a:rPr lang="en-US" dirty="0"/>
              <a:t>Code is more compact</a:t>
            </a:r>
          </a:p>
          <a:p>
            <a:pPr marL="342900" indent="-342900">
              <a:buFont typeface="Arial" panose="020B0604020202020204" pitchFamily="34" charset="0"/>
              <a:buChar char="•"/>
            </a:pPr>
            <a:r>
              <a:rPr lang="en-US" dirty="0"/>
              <a:t>Flexibility and more possibilities</a:t>
            </a:r>
          </a:p>
          <a:p>
            <a:pPr marL="342900" indent="-342900">
              <a:buFont typeface="Arial" panose="020B0604020202020204" pitchFamily="34" charset="0"/>
              <a:buChar char="•"/>
            </a:pPr>
            <a:r>
              <a:rPr lang="en-US" dirty="0" err="1"/>
              <a:t>Div</a:t>
            </a:r>
            <a:r>
              <a:rPr lang="en-US" dirty="0"/>
              <a:t> blocks render faster than tables</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&lt;div&gt; based Site Layout</a:t>
            </a:r>
            <a:endParaRPr lang="uk-UA" sz="4400" dirty="0"/>
          </a:p>
        </p:txBody>
      </p:sp>
      <p:sp>
        <p:nvSpPr>
          <p:cNvPr id="2" name="Rectangle 1">
            <a:extLst>
              <a:ext uri="{FF2B5EF4-FFF2-40B4-BE49-F238E27FC236}">
                <a16:creationId xmlns:a16="http://schemas.microsoft.com/office/drawing/2014/main" id="{AC6517A4-94B7-4A81-9471-09FBD5235B6B}"/>
              </a:ext>
            </a:extLst>
          </p:cNvPr>
          <p:cNvSpPr/>
          <p:nvPr/>
        </p:nvSpPr>
        <p:spPr>
          <a:xfrm>
            <a:off x="7129509" y="1715614"/>
            <a:ext cx="4749553" cy="1754326"/>
          </a:xfrm>
          <a:prstGeom prst="rect">
            <a:avLst/>
          </a:prstGeom>
          <a:solidFill>
            <a:schemeClr val="bg2">
              <a:lumMod val="95000"/>
            </a:schemeClr>
          </a:solidFill>
        </p:spPr>
        <p:txBody>
          <a:bodyPr wrap="square">
            <a:spAutoFit/>
          </a:bodyPr>
          <a:lstStyle/>
          <a:p>
            <a:r>
              <a:rPr lang="en-US" dirty="0"/>
              <a:t>&lt;div class=“wrap”&gt;</a:t>
            </a:r>
          </a:p>
          <a:p>
            <a:r>
              <a:rPr lang="en-US" dirty="0"/>
              <a:t>	&lt;div class = “header”&gt;…&lt;/div&gt;</a:t>
            </a:r>
          </a:p>
          <a:p>
            <a:r>
              <a:rPr lang="en-US" dirty="0"/>
              <a:t>	&lt;div class = “nav”&gt;…&lt;/div&gt;</a:t>
            </a:r>
          </a:p>
          <a:p>
            <a:r>
              <a:rPr lang="en-US" dirty="0"/>
              <a:t>	&lt;div class = “container”&gt;…&lt;/div&gt;</a:t>
            </a:r>
          </a:p>
          <a:p>
            <a:r>
              <a:rPr lang="en-US" dirty="0"/>
              <a:t>	&lt;div class = “footer”&gt;…&lt;/div&gt;</a:t>
            </a:r>
          </a:p>
          <a:p>
            <a:r>
              <a:rPr lang="en-US" dirty="0"/>
              <a:t>&lt;/div&gt;</a:t>
            </a:r>
          </a:p>
        </p:txBody>
      </p:sp>
    </p:spTree>
    <p:extLst>
      <p:ext uri="{BB962C8B-B14F-4D97-AF65-F5344CB8AC3E}">
        <p14:creationId xmlns:p14="http://schemas.microsoft.com/office/powerpoint/2010/main" val="1137980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4525392" cy="4322314"/>
          </a:xfrm>
        </p:spPr>
        <p:txBody>
          <a:bodyPr/>
          <a:lstStyle/>
          <a:p>
            <a:r>
              <a:rPr lang="en-US" dirty="0"/>
              <a:t>Fixed (static) layout has a fixed width in pixels. The ‘container’ of the website is programmed to not move. This width stays the same independently of which screen size or resolution the viewer has. It appears that the width of 960px is the most widely used size for fixed-layout websites.</a:t>
            </a:r>
          </a:p>
          <a:p>
            <a:r>
              <a:rPr lang="en-US" dirty="0"/>
              <a:t>The drawback is that when viewing such layout on smaller screens you get the hideous horizontal scroll, which ruins the overview, experience an usability.</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Fixed (static) Site Layout</a:t>
            </a:r>
            <a:endParaRPr lang="uk-UA" sz="4400" dirty="0"/>
          </a:p>
        </p:txBody>
      </p:sp>
      <p:pic>
        <p:nvPicPr>
          <p:cNvPr id="7" name="Picture 6">
            <a:extLst>
              <a:ext uri="{FF2B5EF4-FFF2-40B4-BE49-F238E27FC236}">
                <a16:creationId xmlns:a16="http://schemas.microsoft.com/office/drawing/2014/main" id="{574A3C09-2BAE-4C7C-982D-60AA88A55B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0586" y="1830648"/>
            <a:ext cx="5257396" cy="3655752"/>
          </a:xfrm>
          <a:prstGeom prst="rect">
            <a:avLst/>
          </a:prstGeom>
        </p:spPr>
      </p:pic>
    </p:spTree>
    <p:extLst>
      <p:ext uri="{BB962C8B-B14F-4D97-AF65-F5344CB8AC3E}">
        <p14:creationId xmlns:p14="http://schemas.microsoft.com/office/powerpoint/2010/main" val="2823814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4179164" cy="3810000"/>
          </a:xfrm>
        </p:spPr>
        <p:txBody>
          <a:bodyPr/>
          <a:lstStyle/>
          <a:p>
            <a:r>
              <a:rPr lang="en-US" dirty="0"/>
              <a:t>With fluid layout you specify sizes not in pixels, but in percentages. Meaning, if the screen size changes, the proportion of elements will stay the same.</a:t>
            </a:r>
          </a:p>
          <a:p>
            <a:r>
              <a:rPr lang="en-US" dirty="0"/>
              <a:t>The drawback is that on smaller screens the columns can get really narrow. </a:t>
            </a:r>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Fluid Site Layout</a:t>
            </a:r>
            <a:endParaRPr lang="uk-UA" sz="4400" dirty="0"/>
          </a:p>
        </p:txBody>
      </p:sp>
      <p:pic>
        <p:nvPicPr>
          <p:cNvPr id="3" name="Picture 2">
            <a:extLst>
              <a:ext uri="{FF2B5EF4-FFF2-40B4-BE49-F238E27FC236}">
                <a16:creationId xmlns:a16="http://schemas.microsoft.com/office/drawing/2014/main" id="{A9CFEB07-5DE1-495D-AA60-74D529850B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5978" y="1434667"/>
            <a:ext cx="5722198" cy="3708832"/>
          </a:xfrm>
          <a:prstGeom prst="rect">
            <a:avLst/>
          </a:prstGeom>
        </p:spPr>
      </p:pic>
    </p:spTree>
    <p:extLst>
      <p:ext uri="{BB962C8B-B14F-4D97-AF65-F5344CB8AC3E}">
        <p14:creationId xmlns:p14="http://schemas.microsoft.com/office/powerpoint/2010/main" val="267427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799" y="1714502"/>
            <a:ext cx="4685191" cy="3810000"/>
          </a:xfrm>
        </p:spPr>
        <p:txBody>
          <a:bodyPr/>
          <a:lstStyle/>
          <a:p>
            <a:r>
              <a:rPr lang="en-US" dirty="0"/>
              <a:t>An adaptive page layout uses CSS media queries to detect the width of the browser and alter the layout accordingly. Adaptive layouts will use fixed unit like pixels, just like a static layout, but the difference is that there are essentially multiple fixed widths defined by specific media queries.</a:t>
            </a:r>
            <a:endParaRPr lang="ru-RU"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Adaptive Site Layout</a:t>
            </a:r>
            <a:endParaRPr lang="uk-UA" sz="4400" dirty="0"/>
          </a:p>
        </p:txBody>
      </p:sp>
      <p:pic>
        <p:nvPicPr>
          <p:cNvPr id="4" name="Picture 3">
            <a:extLst>
              <a:ext uri="{FF2B5EF4-FFF2-40B4-BE49-F238E27FC236}">
                <a16:creationId xmlns:a16="http://schemas.microsoft.com/office/drawing/2014/main" id="{CD736F2D-D0BE-44CA-99CD-87AAF893C5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0972" y="1714502"/>
            <a:ext cx="5585228" cy="3620055"/>
          </a:xfrm>
          <a:prstGeom prst="rect">
            <a:avLst/>
          </a:prstGeom>
        </p:spPr>
      </p:pic>
    </p:spTree>
    <p:extLst>
      <p:ext uri="{BB962C8B-B14F-4D97-AF65-F5344CB8AC3E}">
        <p14:creationId xmlns:p14="http://schemas.microsoft.com/office/powerpoint/2010/main" val="29231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4791722" cy="3810000"/>
          </a:xfrm>
        </p:spPr>
        <p:txBody>
          <a:bodyPr/>
          <a:lstStyle/>
          <a:p>
            <a:r>
              <a:rPr lang="en-US" dirty="0"/>
              <a:t>Responsive design takes the best of the two worlds of fluid and adaptive design. </a:t>
            </a:r>
            <a:endParaRPr lang="ru-RU" dirty="0"/>
          </a:p>
          <a:p>
            <a:r>
              <a:rPr lang="en-US" dirty="0"/>
              <a:t>There are several so-called breakpoints</a:t>
            </a:r>
            <a:r>
              <a:rPr lang="ru-RU" dirty="0"/>
              <a:t> (</a:t>
            </a:r>
            <a:r>
              <a:rPr lang="en-US" dirty="0"/>
              <a:t>media queries</a:t>
            </a:r>
            <a:r>
              <a:rPr lang="ru-RU" dirty="0"/>
              <a:t>)</a:t>
            </a:r>
            <a:r>
              <a:rPr lang="en-US" dirty="0"/>
              <a:t>, which divide all possible screen sizes in ranges. The interface has different layout depending on the screen size it’s viewed on. </a:t>
            </a:r>
            <a:endParaRPr lang="ru-RU" dirty="0"/>
          </a:p>
          <a:p>
            <a:r>
              <a:rPr lang="en-US" dirty="0"/>
              <a:t>Also, depending on the screen size, elements will stretch or shrink accordingly. Responsive layout provides a custom experience for whichever screen size it’s viewed on.</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Responsive Site Layout</a:t>
            </a:r>
            <a:endParaRPr lang="uk-UA" sz="4400" dirty="0"/>
          </a:p>
        </p:txBody>
      </p:sp>
      <p:pic>
        <p:nvPicPr>
          <p:cNvPr id="3" name="Picture 2">
            <a:extLst>
              <a:ext uri="{FF2B5EF4-FFF2-40B4-BE49-F238E27FC236}">
                <a16:creationId xmlns:a16="http://schemas.microsoft.com/office/drawing/2014/main" id="{20B85CD7-622A-40C0-B117-65BE413671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714502"/>
            <a:ext cx="5451258" cy="3533223"/>
          </a:xfrm>
          <a:prstGeom prst="rect">
            <a:avLst/>
          </a:prstGeom>
        </p:spPr>
      </p:pic>
    </p:spTree>
    <p:extLst>
      <p:ext uri="{BB962C8B-B14F-4D97-AF65-F5344CB8AC3E}">
        <p14:creationId xmlns:p14="http://schemas.microsoft.com/office/powerpoint/2010/main" val="4195273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Best practices</a:t>
            </a:r>
          </a:p>
        </p:txBody>
      </p:sp>
    </p:spTree>
    <p:extLst>
      <p:ext uri="{BB962C8B-B14F-4D97-AF65-F5344CB8AC3E}">
        <p14:creationId xmlns:p14="http://schemas.microsoft.com/office/powerpoint/2010/main" val="2672221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The better the layout of the site, the better the site will work. What are the requirements for layout today? Here they are:</a:t>
            </a:r>
          </a:p>
          <a:p>
            <a:pPr marL="342900" indent="-342900">
              <a:buFont typeface="Arial" panose="020B0604020202020204" pitchFamily="34" charset="0"/>
              <a:buChar char="•"/>
            </a:pPr>
            <a:r>
              <a:rPr lang="en-US" dirty="0"/>
              <a:t>Responsiveness</a:t>
            </a:r>
          </a:p>
          <a:p>
            <a:pPr marL="342900" indent="-342900">
              <a:buFont typeface="Arial" panose="020B0604020202020204" pitchFamily="34" charset="0"/>
              <a:buChar char="•"/>
            </a:pPr>
            <a:r>
              <a:rPr lang="en-US" dirty="0"/>
              <a:t>Accessibility</a:t>
            </a:r>
          </a:p>
          <a:p>
            <a:pPr marL="342900" indent="-342900">
              <a:buFont typeface="Arial" panose="020B0604020202020204" pitchFamily="34" charset="0"/>
              <a:buChar char="•"/>
            </a:pPr>
            <a:r>
              <a:rPr lang="en-US" dirty="0"/>
              <a:t>High page loading speed</a:t>
            </a:r>
          </a:p>
          <a:p>
            <a:pPr marL="342900" indent="-342900">
              <a:buFont typeface="Arial" panose="020B0604020202020204" pitchFamily="34" charset="0"/>
              <a:buChar char="•"/>
            </a:pPr>
            <a:r>
              <a:rPr lang="en-US" dirty="0"/>
              <a:t>Semantics</a:t>
            </a:r>
            <a:endParaRPr lang="ru-RU" dirty="0"/>
          </a:p>
          <a:p>
            <a:pPr marL="342900" indent="-342900">
              <a:buFont typeface="Arial" panose="020B0604020202020204" pitchFamily="34" charset="0"/>
              <a:buChar char="•"/>
            </a:pPr>
            <a:r>
              <a:rPr lang="en-US" dirty="0"/>
              <a:t>Validity</a:t>
            </a:r>
          </a:p>
          <a:p>
            <a:pPr marL="342900" indent="-342900">
              <a:buFont typeface="Arial" panose="020B0604020202020204" pitchFamily="34" charset="0"/>
              <a:buChar char="•"/>
            </a:pPr>
            <a:r>
              <a:rPr lang="en-US" dirty="0"/>
              <a:t>Cross-browser compatibility</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Requirements For Modern Layout</a:t>
            </a:r>
            <a:endParaRPr lang="uk-UA" sz="4400" dirty="0"/>
          </a:p>
        </p:txBody>
      </p:sp>
    </p:spTree>
    <p:extLst>
      <p:ext uri="{BB962C8B-B14F-4D97-AF65-F5344CB8AC3E}">
        <p14:creationId xmlns:p14="http://schemas.microsoft.com/office/powerpoint/2010/main" val="905600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We live in a world where our sites our not only being visited by a variety of different devices and screen sizes, but the same customers are returning to our sites at different times using these different devices. This means that, to best support their experience, our sites must work well regardless of which device they may be using at a given time. The same content that they have access to on one devices must be present when they return on other devices to ensure consistency in the information that they are seeking.</a:t>
            </a:r>
          </a:p>
          <a:p>
            <a:r>
              <a:rPr lang="en-US" dirty="0"/>
              <a:t>Responsive web design has become more important as the amount of mobile traffic now accounts for more than half of total internet traffic. Therefore, Google announced </a:t>
            </a:r>
            <a:r>
              <a:rPr lang="en-US" dirty="0">
                <a:hlinkClick r:id="rId2" tooltip="Mobilegeddon"/>
              </a:rPr>
              <a:t>Mobilegeddon</a:t>
            </a:r>
            <a:r>
              <a:rPr lang="en-US" dirty="0"/>
              <a:t> in 2015, and started to boost the ratings of sites that are mobile friendly if the search was made from a mobile device.</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Responsiveness</a:t>
            </a:r>
            <a:endParaRPr lang="uk-UA" sz="4400" dirty="0"/>
          </a:p>
        </p:txBody>
      </p:sp>
    </p:spTree>
    <p:extLst>
      <p:ext uri="{BB962C8B-B14F-4D97-AF65-F5344CB8AC3E}">
        <p14:creationId xmlns:p14="http://schemas.microsoft.com/office/powerpoint/2010/main" val="1974644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10446798" cy="3810000"/>
          </a:xfrm>
        </p:spPr>
        <p:txBody>
          <a:bodyPr/>
          <a:lstStyle/>
          <a:p>
            <a:pPr algn="r"/>
            <a:r>
              <a:rPr lang="en-US" sz="1600" i="1" dirty="0"/>
              <a:t>“The power of the Web is in its universality.</a:t>
            </a:r>
            <a:br>
              <a:rPr lang="en-US" sz="1600" i="1" dirty="0"/>
            </a:br>
            <a:r>
              <a:rPr lang="en-US" sz="1600" i="1" dirty="0"/>
              <a:t>Access by everyone regardless of disability is an essential aspect”</a:t>
            </a:r>
          </a:p>
          <a:p>
            <a:pPr algn="r"/>
            <a:r>
              <a:rPr lang="en-US" sz="1200" b="1" dirty="0"/>
              <a:t>Tim Berners-Lee, W3C Director and inventor of the World Wide Web</a:t>
            </a:r>
          </a:p>
          <a:p>
            <a:endParaRPr lang="en-US" sz="1200" b="1" dirty="0"/>
          </a:p>
          <a:p>
            <a:r>
              <a:rPr lang="en-US" dirty="0"/>
              <a:t>Accessibility is essential for developers and organizations that want to create high quality websites and web tools, and not exclude people from using their products and services.</a:t>
            </a:r>
          </a:p>
          <a:p>
            <a:r>
              <a:rPr lang="en-US" dirty="0"/>
              <a:t>Write HTML with accessibility in mind. Provide the user a good way to navigate and interact with your site. Make your HTML code as </a:t>
            </a:r>
            <a:r>
              <a:rPr lang="en-US" b="1" dirty="0"/>
              <a:t>semantic</a:t>
            </a:r>
            <a:r>
              <a:rPr lang="en-US" dirty="0"/>
              <a:t> as possible, so that the code is easy to understand for visitors and screen readers.</a:t>
            </a:r>
          </a:p>
          <a:p>
            <a:br>
              <a:rPr lang="en-US" sz="1200" dirty="0"/>
            </a:br>
            <a:endParaRPr lang="en-US" sz="1200" b="1"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Accessibility</a:t>
            </a:r>
            <a:endParaRPr lang="uk-UA" sz="4400" dirty="0"/>
          </a:p>
        </p:txBody>
      </p:sp>
    </p:spTree>
    <p:extLst>
      <p:ext uri="{BB962C8B-B14F-4D97-AF65-F5344CB8AC3E}">
        <p14:creationId xmlns:p14="http://schemas.microsoft.com/office/powerpoint/2010/main" val="1410419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A </a:t>
            </a:r>
            <a:r>
              <a:rPr lang="en-US" u="sng" dirty="0"/>
              <a:t>one-second delay in page load time</a:t>
            </a:r>
            <a:r>
              <a:rPr lang="en-US" dirty="0"/>
              <a:t> yields:</a:t>
            </a:r>
          </a:p>
          <a:p>
            <a:pPr marL="342900" indent="-342900">
              <a:buFont typeface="Arial" panose="020B0604020202020204" pitchFamily="34" charset="0"/>
              <a:buChar char="•"/>
            </a:pPr>
            <a:r>
              <a:rPr lang="en-US" dirty="0"/>
              <a:t>11% fewer page views</a:t>
            </a:r>
          </a:p>
          <a:p>
            <a:pPr marL="342900" indent="-342900">
              <a:buFont typeface="Arial" panose="020B0604020202020204" pitchFamily="34" charset="0"/>
              <a:buChar char="•"/>
            </a:pPr>
            <a:r>
              <a:rPr lang="en-US" dirty="0"/>
              <a:t>16% decrease in customer satisfaction</a:t>
            </a:r>
          </a:p>
          <a:p>
            <a:r>
              <a:rPr lang="en-US" b="1" dirty="0"/>
              <a:t>How to speed up your website in 2019:</a:t>
            </a:r>
          </a:p>
          <a:p>
            <a:pPr marL="342900" indent="-342900">
              <a:buFont typeface="Arial" panose="020B0604020202020204" pitchFamily="34" charset="0"/>
              <a:buChar char="•"/>
            </a:pPr>
            <a:r>
              <a:rPr lang="en-US" dirty="0"/>
              <a:t>Minimize HTTP requests</a:t>
            </a:r>
          </a:p>
          <a:p>
            <a:pPr marL="342900" indent="-342900">
              <a:buFont typeface="Arial" panose="020B0604020202020204" pitchFamily="34" charset="0"/>
              <a:buChar char="•"/>
            </a:pPr>
            <a:r>
              <a:rPr lang="en-US" dirty="0"/>
              <a:t>Minify and combine files</a:t>
            </a:r>
          </a:p>
          <a:p>
            <a:pPr marL="342900" indent="-342900">
              <a:buFont typeface="Arial" panose="020B0604020202020204" pitchFamily="34" charset="0"/>
              <a:buChar char="•"/>
            </a:pPr>
            <a:r>
              <a:rPr lang="en-US" dirty="0"/>
              <a:t>Reduce image sizes</a:t>
            </a:r>
          </a:p>
          <a:p>
            <a:pPr marL="342900" indent="-342900">
              <a:buFont typeface="Arial" panose="020B0604020202020204" pitchFamily="34" charset="0"/>
              <a:buChar char="•"/>
            </a:pPr>
            <a:r>
              <a:rPr lang="en-US" dirty="0"/>
              <a:t>Use asynchronous loading for CSS and JavaScript files</a:t>
            </a:r>
          </a:p>
          <a:p>
            <a:pPr marL="342900" indent="-342900">
              <a:buFont typeface="Arial" panose="020B0604020202020204" pitchFamily="34" charset="0"/>
              <a:buChar char="•"/>
            </a:pPr>
            <a:r>
              <a:rPr lang="en-US" dirty="0"/>
              <a:t>Defer JavaScript loading</a:t>
            </a:r>
          </a:p>
          <a:p>
            <a:pPr marL="342900" indent="-342900">
              <a:buFont typeface="Arial" panose="020B0604020202020204" pitchFamily="34" charset="0"/>
              <a:buChar char="•"/>
            </a:pPr>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High Page Loading Speed</a:t>
            </a:r>
            <a:endParaRPr lang="uk-UA" sz="4400" dirty="0"/>
          </a:p>
        </p:txBody>
      </p:sp>
    </p:spTree>
    <p:extLst>
      <p:ext uri="{BB962C8B-B14F-4D97-AF65-F5344CB8AC3E}">
        <p14:creationId xmlns:p14="http://schemas.microsoft.com/office/powerpoint/2010/main" val="354016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5883676" cy="3810000"/>
          </a:xfrm>
        </p:spPr>
        <p:txBody>
          <a:bodyPr/>
          <a:lstStyle/>
          <a:p>
            <a:r>
              <a:rPr lang="en-US" dirty="0"/>
              <a:t>Semantic elements are elements with clearly defined meaning to both the browser and the developer. Elements like &lt;header&gt;, &lt;nav&gt;, &lt;footer&gt;, or &lt;article&gt; do a much better job of explaining the content that is contained within the element than &lt;span&gt; or &lt;div&gt;. </a:t>
            </a:r>
          </a:p>
          <a:p>
            <a:r>
              <a:rPr lang="en-US" dirty="0"/>
              <a:t>Also, that explicit information helps robots/crawlers like Google and Bing to better understand which content is important, which is subsidiary, which is for navigation, and so on.</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Semantics</a:t>
            </a:r>
            <a:endParaRPr lang="uk-UA" sz="4400" dirty="0"/>
          </a:p>
        </p:txBody>
      </p:sp>
      <p:pic>
        <p:nvPicPr>
          <p:cNvPr id="10244" name="Picture 4" descr="Diagram: div soup (several gray &lt;div&gt; elements) compared to semantic markup (&lt;header&gt;, &lt;article&gt;, &lt;figure&gt;, and &lt;footer&gt; in different colors)">
            <a:extLst>
              <a:ext uri="{FF2B5EF4-FFF2-40B4-BE49-F238E27FC236}">
                <a16:creationId xmlns:a16="http://schemas.microsoft.com/office/drawing/2014/main" id="{DDAB136B-A278-45D6-BD3B-6D9FE3F78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8151" y="1545861"/>
            <a:ext cx="4104859" cy="3243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415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There are a number of reasons why you should validate your page:</a:t>
            </a:r>
          </a:p>
          <a:p>
            <a:pPr marL="342900" indent="-342900">
              <a:buFont typeface="Arial" panose="020B0604020202020204" pitchFamily="34" charset="0"/>
              <a:buChar char="•"/>
            </a:pPr>
            <a:r>
              <a:rPr lang="en-US" dirty="0"/>
              <a:t>Improves usability and functionality because your users are less likely to run into errors</a:t>
            </a:r>
          </a:p>
          <a:p>
            <a:pPr marL="342900" indent="-342900">
              <a:buFont typeface="Arial" panose="020B0604020202020204" pitchFamily="34" charset="0"/>
              <a:buChar char="•"/>
            </a:pPr>
            <a:r>
              <a:rPr lang="en-US" dirty="0"/>
              <a:t>It Helps Cross-Browser, Cross-Platform and Future Compatibility</a:t>
            </a:r>
          </a:p>
          <a:p>
            <a:pPr marL="342900" indent="-342900">
              <a:buFont typeface="Arial" panose="020B0604020202020204" pitchFamily="34" charset="0"/>
              <a:buChar char="•"/>
            </a:pPr>
            <a:r>
              <a:rPr lang="en-US" dirty="0"/>
              <a:t>Search Engine Visibility</a:t>
            </a:r>
          </a:p>
          <a:p>
            <a:r>
              <a:rPr lang="en-US" dirty="0"/>
              <a:t>Validation tools:</a:t>
            </a:r>
          </a:p>
          <a:p>
            <a:pPr marL="342900" indent="-342900">
              <a:buFont typeface="Arial" panose="020B0604020202020204" pitchFamily="34" charset="0"/>
              <a:buChar char="•"/>
            </a:pPr>
            <a:r>
              <a:rPr lang="en-US" b="1" dirty="0"/>
              <a:t>HTML validator</a:t>
            </a:r>
            <a:r>
              <a:rPr lang="en-US" dirty="0"/>
              <a:t> checks to make sure the HTML code on your web page complies with the standards set by the W3 Consortium</a:t>
            </a:r>
          </a:p>
          <a:p>
            <a:pPr marL="342900" indent="-342900">
              <a:buFont typeface="Arial" panose="020B0604020202020204" pitchFamily="34" charset="0"/>
              <a:buChar char="•"/>
            </a:pPr>
            <a:r>
              <a:rPr lang="en-US" dirty="0"/>
              <a:t>A </a:t>
            </a:r>
            <a:r>
              <a:rPr lang="en-US" b="1" dirty="0"/>
              <a:t>CSS validator</a:t>
            </a:r>
            <a:r>
              <a:rPr lang="en-US" dirty="0"/>
              <a:t> checks your Cascading Style Sheet in the same manner. That is, it will check that it complies with the CSS standards set by the W3 Consortium.</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Validity</a:t>
            </a:r>
            <a:endParaRPr lang="uk-UA" sz="4400" dirty="0"/>
          </a:p>
        </p:txBody>
      </p:sp>
    </p:spTree>
    <p:extLst>
      <p:ext uri="{BB962C8B-B14F-4D97-AF65-F5344CB8AC3E}">
        <p14:creationId xmlns:p14="http://schemas.microsoft.com/office/powerpoint/2010/main" val="699238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As a web developer, it is your responsibility to make sure that not only do your projects work, but they work for all your users, no matter what browser, device, or additional assistive tools they are using. </a:t>
            </a:r>
          </a:p>
          <a:p>
            <a:r>
              <a:rPr lang="en-US" dirty="0"/>
              <a:t>You need to test your website in different browsers other than the one or two that you use regularly on your devices.</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Cross-Browser Compatibility</a:t>
            </a:r>
            <a:endParaRPr lang="uk-UA" sz="4400" dirty="0"/>
          </a:p>
        </p:txBody>
      </p:sp>
    </p:spTree>
    <p:extLst>
      <p:ext uri="{BB962C8B-B14F-4D97-AF65-F5344CB8AC3E}">
        <p14:creationId xmlns:p14="http://schemas.microsoft.com/office/powerpoint/2010/main" val="1143419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Cross-Browser</a:t>
            </a:r>
            <a:br>
              <a:rPr lang="en-US" dirty="0"/>
            </a:br>
            <a:r>
              <a:rPr lang="en-US" dirty="0"/>
              <a:t>Compatibility</a:t>
            </a:r>
          </a:p>
        </p:txBody>
      </p:sp>
    </p:spTree>
    <p:extLst>
      <p:ext uri="{BB962C8B-B14F-4D97-AF65-F5344CB8AC3E}">
        <p14:creationId xmlns:p14="http://schemas.microsoft.com/office/powerpoint/2010/main" val="3007641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pPr marL="342900" indent="-342900">
              <a:buFont typeface="Arial" panose="020B0604020202020204" pitchFamily="34" charset="0"/>
              <a:buChar char="•"/>
            </a:pPr>
            <a:r>
              <a:rPr lang="en-US" dirty="0"/>
              <a:t>Keep Your Code Simple</a:t>
            </a:r>
          </a:p>
          <a:p>
            <a:pPr marL="342900" indent="-342900">
              <a:buFont typeface="Arial" panose="020B0604020202020204" pitchFamily="34" charset="0"/>
              <a:buChar char="•"/>
            </a:pPr>
            <a:r>
              <a:rPr lang="en-US" dirty="0"/>
              <a:t>Use Frameworks</a:t>
            </a:r>
          </a:p>
          <a:p>
            <a:pPr marL="342900" indent="-342900">
              <a:buFont typeface="Arial" panose="020B0604020202020204" pitchFamily="34" charset="0"/>
              <a:buChar char="•"/>
            </a:pPr>
            <a:r>
              <a:rPr lang="en-US" dirty="0"/>
              <a:t>Define Valid Doctype</a:t>
            </a:r>
          </a:p>
          <a:p>
            <a:pPr marL="342900" indent="-342900">
              <a:buFont typeface="Arial" panose="020B0604020202020204" pitchFamily="34" charset="0"/>
              <a:buChar char="•"/>
            </a:pPr>
            <a:r>
              <a:rPr lang="en-US" dirty="0"/>
              <a:t>CSS Reset</a:t>
            </a:r>
          </a:p>
          <a:p>
            <a:pPr marL="342900" indent="-342900">
              <a:buFont typeface="Arial" panose="020B0604020202020204" pitchFamily="34" charset="0"/>
              <a:buChar char="•"/>
            </a:pPr>
            <a:r>
              <a:rPr lang="en-US" dirty="0"/>
              <a:t>Validate </a:t>
            </a:r>
          </a:p>
          <a:p>
            <a:pPr marL="342900" indent="-342900">
              <a:buFont typeface="Arial" panose="020B0604020202020204" pitchFamily="34" charset="0"/>
              <a:buChar char="•"/>
            </a:pPr>
            <a:r>
              <a:rPr lang="en-US" dirty="0"/>
              <a:t>Conditional Comments</a:t>
            </a:r>
          </a:p>
          <a:p>
            <a:pPr marL="342900" indent="-342900">
              <a:buFont typeface="Arial" panose="020B0604020202020204" pitchFamily="34" charset="0"/>
              <a:buChar char="•"/>
            </a:pPr>
            <a:r>
              <a:rPr lang="en-US" dirty="0"/>
              <a:t>Vendor Prefixes</a:t>
            </a:r>
          </a:p>
          <a:p>
            <a:pPr marL="342900" indent="-342900">
              <a:buFont typeface="Arial" panose="020B0604020202020204" pitchFamily="34" charset="0"/>
              <a:buChar char="•"/>
            </a:pPr>
            <a:r>
              <a:rPr lang="en-US" dirty="0"/>
              <a:t>Prepare For Differences</a:t>
            </a:r>
          </a:p>
          <a:p>
            <a:pPr marL="342900" indent="-342900">
              <a:buFont typeface="Arial" panose="020B0604020202020204" pitchFamily="34" charset="0"/>
              <a:buChar char="•"/>
            </a:pPr>
            <a:r>
              <a:rPr lang="en-US" dirty="0"/>
              <a:t>Don’t Skip Cross-Browser Testing</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8 Essential Tips for Building a </a:t>
            </a:r>
          </a:p>
          <a:p>
            <a:pPr>
              <a:lnSpc>
                <a:spcPct val="100000"/>
              </a:lnSpc>
            </a:pPr>
            <a:r>
              <a:rPr lang="en-US" sz="4400" dirty="0"/>
              <a:t>Cross-Browser Compatible Website</a:t>
            </a:r>
          </a:p>
        </p:txBody>
      </p:sp>
    </p:spTree>
    <p:extLst>
      <p:ext uri="{BB962C8B-B14F-4D97-AF65-F5344CB8AC3E}">
        <p14:creationId xmlns:p14="http://schemas.microsoft.com/office/powerpoint/2010/main" val="4226814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Think quality over quantity when it comes to coding. </a:t>
            </a:r>
          </a:p>
          <a:p>
            <a:r>
              <a:rPr lang="en-US" dirty="0"/>
              <a:t>Don’t dedicate ten lines of code to a feature that only needs three. </a:t>
            </a:r>
          </a:p>
          <a:p>
            <a:r>
              <a:rPr lang="en-US" dirty="0"/>
              <a:t>Not only will simple code be more cross-browser friendly, it will also be more maintainable when the time comes that you do have to debug or adjust it for compatibility.</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Keep Your Code Simple</a:t>
            </a:r>
            <a:endParaRPr lang="uk-UA" sz="4400" dirty="0"/>
          </a:p>
        </p:txBody>
      </p:sp>
    </p:spTree>
    <p:extLst>
      <p:ext uri="{BB962C8B-B14F-4D97-AF65-F5344CB8AC3E}">
        <p14:creationId xmlns:p14="http://schemas.microsoft.com/office/powerpoint/2010/main" val="4061504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CSS frameworks like </a:t>
            </a:r>
            <a:r>
              <a:rPr lang="en-US" dirty="0">
                <a:hlinkClick r:id="rId2"/>
              </a:rPr>
              <a:t>Foundation</a:t>
            </a:r>
            <a:r>
              <a:rPr lang="en-US" dirty="0"/>
              <a:t> and </a:t>
            </a:r>
            <a:r>
              <a:rPr lang="en-US" dirty="0">
                <a:hlinkClick r:id="rId3"/>
              </a:rPr>
              <a:t>Bootstrap</a:t>
            </a:r>
            <a:r>
              <a:rPr lang="en-US" dirty="0"/>
              <a:t> will give you style code to make cross-compatibility easier for you. </a:t>
            </a:r>
          </a:p>
          <a:p>
            <a:r>
              <a:rPr lang="en-US" dirty="0"/>
              <a:t>If you take the time to become familiar with some of the features, building a responsive web application becomes much faster and easier. </a:t>
            </a:r>
          </a:p>
          <a:p>
            <a:r>
              <a:rPr lang="en-US" dirty="0"/>
              <a:t>These will also help you make the application look and behave correctly in mobile browsers.</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Use Frameworks</a:t>
            </a:r>
            <a:endParaRPr lang="uk-UA" sz="4400" dirty="0"/>
          </a:p>
        </p:txBody>
      </p:sp>
    </p:spTree>
    <p:extLst>
      <p:ext uri="{BB962C8B-B14F-4D97-AF65-F5344CB8AC3E}">
        <p14:creationId xmlns:p14="http://schemas.microsoft.com/office/powerpoint/2010/main" val="258700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The Doctype is the first line in your code which describes the HTML that will be used in your application. </a:t>
            </a:r>
          </a:p>
          <a:p>
            <a:r>
              <a:rPr lang="en-US" dirty="0"/>
              <a:t>Because different browsers have different standards and rules, you need to define the Doctype or the rendering engine will basically guess it for you. </a:t>
            </a:r>
          </a:p>
          <a:p>
            <a:r>
              <a:rPr lang="en-US" dirty="0"/>
              <a:t>Of course, this is what can lead to bugs and inconsistencies that you want to avoid.</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Define Valid Doctype</a:t>
            </a:r>
            <a:endParaRPr lang="uk-UA" sz="4400" dirty="0"/>
          </a:p>
        </p:txBody>
      </p:sp>
    </p:spTree>
    <p:extLst>
      <p:ext uri="{BB962C8B-B14F-4D97-AF65-F5344CB8AC3E}">
        <p14:creationId xmlns:p14="http://schemas.microsoft.com/office/powerpoint/2010/main" val="1525343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Every browser has different default CSS rules that they follow. </a:t>
            </a:r>
          </a:p>
          <a:p>
            <a:r>
              <a:rPr lang="en-US" dirty="0"/>
              <a:t>This is why you use CSS reset stylesheet to make sure your browsers follow the same basic rules and behave consistently. </a:t>
            </a:r>
          </a:p>
          <a:p>
            <a:r>
              <a:rPr lang="en-US" dirty="0"/>
              <a:t>You want to add one of these as the first stylesheet in order to reset unless you use a framework which will already have one.</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CSS Reset</a:t>
            </a:r>
            <a:endParaRPr lang="uk-UA" sz="4400" dirty="0"/>
          </a:p>
        </p:txBody>
      </p:sp>
    </p:spTree>
    <p:extLst>
      <p:ext uri="{BB962C8B-B14F-4D97-AF65-F5344CB8AC3E}">
        <p14:creationId xmlns:p14="http://schemas.microsoft.com/office/powerpoint/2010/main" val="3549819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5513035" cy="3810000"/>
          </a:xfrm>
        </p:spPr>
        <p:txBody>
          <a:bodyPr/>
          <a:lstStyle/>
          <a:p>
            <a:r>
              <a:rPr lang="en-US" dirty="0"/>
              <a:t>It’s a good idea to validate your HTML and CSS to prevent problems. </a:t>
            </a:r>
          </a:p>
          <a:p>
            <a:r>
              <a:rPr lang="en-US" dirty="0"/>
              <a:t>Use the W3C </a:t>
            </a:r>
            <a:r>
              <a:rPr lang="en-US" dirty="0">
                <a:hlinkClick r:id="rId2"/>
              </a:rPr>
              <a:t>HTML Validator</a:t>
            </a:r>
            <a:r>
              <a:rPr lang="en-US" dirty="0"/>
              <a:t> and </a:t>
            </a:r>
            <a:r>
              <a:rPr lang="en-US" dirty="0">
                <a:hlinkClick r:id="rId3"/>
              </a:rPr>
              <a:t>CSS Validator</a:t>
            </a:r>
            <a:r>
              <a:rPr lang="en-US" dirty="0"/>
              <a:t> to make sure your code is error free and fix it if it’s not.</a:t>
            </a:r>
          </a:p>
          <a:p>
            <a:r>
              <a:rPr lang="en-US" dirty="0"/>
              <a:t>Use </a:t>
            </a:r>
            <a:r>
              <a:rPr lang="en-US" dirty="0">
                <a:hlinkClick r:id="rId4"/>
              </a:rPr>
              <a:t>caniuse.com</a:t>
            </a:r>
            <a:r>
              <a:rPr lang="en-US" dirty="0"/>
              <a:t> to check if tag/feature/technology you want to use is supported by latest versions of popular browsers.</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Validate</a:t>
            </a:r>
            <a:endParaRPr lang="uk-UA" sz="4400" dirty="0"/>
          </a:p>
        </p:txBody>
      </p:sp>
      <p:pic>
        <p:nvPicPr>
          <p:cNvPr id="3" name="Picture 2">
            <a:extLst>
              <a:ext uri="{FF2B5EF4-FFF2-40B4-BE49-F238E27FC236}">
                <a16:creationId xmlns:a16="http://schemas.microsoft.com/office/drawing/2014/main" id="{F4546C8C-6AAC-4005-ACB2-C70288828B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36311" y="1457786"/>
            <a:ext cx="4687409" cy="3300646"/>
          </a:xfrm>
          <a:prstGeom prst="rect">
            <a:avLst/>
          </a:prstGeom>
        </p:spPr>
      </p:pic>
    </p:spTree>
    <p:extLst>
      <p:ext uri="{BB962C8B-B14F-4D97-AF65-F5344CB8AC3E}">
        <p14:creationId xmlns:p14="http://schemas.microsoft.com/office/powerpoint/2010/main" val="1172944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4569781" cy="3810000"/>
          </a:xfrm>
        </p:spPr>
        <p:txBody>
          <a:bodyPr/>
          <a:lstStyle/>
          <a:p>
            <a:r>
              <a:rPr lang="en-US" dirty="0"/>
              <a:t>Conditional comments allow you to link style sheets for different browsers, which is especially helpful when it comes to design challenges that are common with Internet Explorer.</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Conditional Comments</a:t>
            </a:r>
            <a:endParaRPr lang="uk-UA" sz="4400" dirty="0"/>
          </a:p>
        </p:txBody>
      </p:sp>
      <p:pic>
        <p:nvPicPr>
          <p:cNvPr id="7" name="Picture 6">
            <a:extLst>
              <a:ext uri="{FF2B5EF4-FFF2-40B4-BE49-F238E27FC236}">
                <a16:creationId xmlns:a16="http://schemas.microsoft.com/office/drawing/2014/main" id="{9430B8E3-BC5C-4755-B2E8-B1C64CFB89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5581" y="1738548"/>
            <a:ext cx="5239481" cy="2600688"/>
          </a:xfrm>
          <a:prstGeom prst="rect">
            <a:avLst/>
          </a:prstGeom>
        </p:spPr>
      </p:pic>
    </p:spTree>
    <p:extLst>
      <p:ext uri="{BB962C8B-B14F-4D97-AF65-F5344CB8AC3E}">
        <p14:creationId xmlns:p14="http://schemas.microsoft.com/office/powerpoint/2010/main" val="925826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5093563" cy="3810000"/>
          </a:xfrm>
        </p:spPr>
        <p:txBody>
          <a:bodyPr/>
          <a:lstStyle/>
          <a:p>
            <a:r>
              <a:rPr lang="en-US" dirty="0"/>
              <a:t>CSS vendor prefixes, also sometimes known as or </a:t>
            </a:r>
            <a:r>
              <a:rPr lang="en-US" dirty="0">
                <a:hlinkClick r:id="rId2"/>
              </a:rPr>
              <a:t>CSS</a:t>
            </a:r>
            <a:r>
              <a:rPr lang="en-US" dirty="0"/>
              <a:t> browser prefixes, are a way for browser makers to add support for </a:t>
            </a:r>
            <a:r>
              <a:rPr lang="en-US" dirty="0">
                <a:hlinkClick r:id="rId3"/>
              </a:rPr>
              <a:t>new CSS features</a:t>
            </a:r>
            <a:r>
              <a:rPr lang="en-US" dirty="0"/>
              <a:t> before those features are fully supported in all browsers. </a:t>
            </a:r>
          </a:p>
          <a:p>
            <a:r>
              <a:rPr lang="en-US" dirty="0"/>
              <a:t>This may be done during a sort of testing and experimentation period where the browser manufacturer is determining exactly how these new CSS features will be implemented. </a:t>
            </a:r>
          </a:p>
          <a:p>
            <a:r>
              <a:rPr lang="en-US" dirty="0"/>
              <a:t>These prefixes became very popular with the rise of </a:t>
            </a:r>
            <a:r>
              <a:rPr lang="en-US" dirty="0">
                <a:hlinkClick r:id="rId4"/>
              </a:rPr>
              <a:t>CSS3</a:t>
            </a:r>
            <a:r>
              <a:rPr lang="en-US" dirty="0"/>
              <a:t> a few years ago. </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Vendor Prefixes</a:t>
            </a:r>
            <a:endParaRPr lang="uk-UA" sz="4400" dirty="0"/>
          </a:p>
        </p:txBody>
      </p:sp>
      <p:sp>
        <p:nvSpPr>
          <p:cNvPr id="3" name="TextBox 2">
            <a:extLst>
              <a:ext uri="{FF2B5EF4-FFF2-40B4-BE49-F238E27FC236}">
                <a16:creationId xmlns:a16="http://schemas.microsoft.com/office/drawing/2014/main" id="{721A736A-9EB4-4343-9488-71D39E552EAE}"/>
              </a:ext>
            </a:extLst>
          </p:cNvPr>
          <p:cNvSpPr txBox="1"/>
          <p:nvPr/>
        </p:nvSpPr>
        <p:spPr>
          <a:xfrm>
            <a:off x="6196614" y="1580225"/>
            <a:ext cx="4900473" cy="2862322"/>
          </a:xfrm>
          <a:prstGeom prst="rect">
            <a:avLst/>
          </a:prstGeom>
          <a:noFill/>
        </p:spPr>
        <p:txBody>
          <a:bodyPr wrap="square" rtlCol="0">
            <a:spAutoFit/>
          </a:bodyPr>
          <a:lstStyle/>
          <a:p>
            <a:r>
              <a:rPr lang="en-US" dirty="0"/>
              <a:t>The major browsers use the following prefixes:</a:t>
            </a:r>
          </a:p>
          <a:p>
            <a:endParaRPr lang="en-US" dirty="0"/>
          </a:p>
          <a:p>
            <a:pPr marL="285750" indent="-285750">
              <a:buFont typeface="Arial" panose="020B0604020202020204" pitchFamily="34" charset="0"/>
              <a:buChar char="•"/>
            </a:pPr>
            <a:r>
              <a:rPr lang="en-US" dirty="0">
                <a:highlight>
                  <a:srgbClr val="C0C0C0"/>
                </a:highlight>
              </a:rPr>
              <a:t>-</a:t>
            </a:r>
            <a:r>
              <a:rPr lang="en-US" dirty="0" err="1">
                <a:highlight>
                  <a:srgbClr val="C0C0C0"/>
                </a:highlight>
              </a:rPr>
              <a:t>webkit</a:t>
            </a:r>
            <a:r>
              <a:rPr lang="en-US" dirty="0">
                <a:highlight>
                  <a:srgbClr val="C0C0C0"/>
                </a:highlight>
              </a:rPr>
              <a:t>-</a:t>
            </a:r>
            <a:r>
              <a:rPr lang="en-US" dirty="0"/>
              <a:t> (Chrome, Safari, newer versions of Opera, almost all iOS browsers, basically all </a:t>
            </a:r>
            <a:r>
              <a:rPr lang="en-US" dirty="0" err="1"/>
              <a:t>WebKit</a:t>
            </a:r>
            <a:r>
              <a:rPr lang="en-US" dirty="0"/>
              <a:t> based browsers)</a:t>
            </a:r>
          </a:p>
          <a:p>
            <a:pPr marL="285750" indent="-285750">
              <a:buFont typeface="Arial" panose="020B0604020202020204" pitchFamily="34" charset="0"/>
              <a:buChar char="•"/>
            </a:pPr>
            <a:r>
              <a:rPr lang="en-US" dirty="0">
                <a:highlight>
                  <a:srgbClr val="C0C0C0"/>
                </a:highlight>
              </a:rPr>
              <a:t>-</a:t>
            </a:r>
            <a:r>
              <a:rPr lang="en-US" dirty="0" err="1">
                <a:highlight>
                  <a:srgbClr val="C0C0C0"/>
                </a:highlight>
              </a:rPr>
              <a:t>moz</a:t>
            </a:r>
            <a:r>
              <a:rPr lang="en-US" dirty="0">
                <a:highlight>
                  <a:srgbClr val="C0C0C0"/>
                </a:highlight>
              </a:rPr>
              <a:t>-</a:t>
            </a:r>
            <a:r>
              <a:rPr lang="en-US" dirty="0"/>
              <a:t> (Firefox)</a:t>
            </a:r>
          </a:p>
          <a:p>
            <a:pPr marL="285750" indent="-285750">
              <a:buFont typeface="Arial" panose="020B0604020202020204" pitchFamily="34" charset="0"/>
              <a:buChar char="•"/>
            </a:pPr>
            <a:r>
              <a:rPr lang="en-US" dirty="0">
                <a:highlight>
                  <a:srgbClr val="C0C0C0"/>
                </a:highlight>
              </a:rPr>
              <a:t>-o-</a:t>
            </a:r>
            <a:r>
              <a:rPr lang="en-US" dirty="0"/>
              <a:t> (old, pre-</a:t>
            </a:r>
            <a:r>
              <a:rPr lang="en-US" dirty="0" err="1"/>
              <a:t>WebKit</a:t>
            </a:r>
            <a:r>
              <a:rPr lang="en-US" dirty="0"/>
              <a:t> version of Opera)</a:t>
            </a:r>
          </a:p>
          <a:p>
            <a:pPr marL="285750" indent="-285750">
              <a:buFont typeface="Arial" panose="020B0604020202020204" pitchFamily="34" charset="0"/>
              <a:buChar char="•"/>
            </a:pPr>
            <a:r>
              <a:rPr lang="en-US" dirty="0">
                <a:highlight>
                  <a:srgbClr val="C0C0C0"/>
                </a:highlight>
              </a:rPr>
              <a:t>-</a:t>
            </a:r>
            <a:r>
              <a:rPr lang="en-US" dirty="0" err="1">
                <a:highlight>
                  <a:srgbClr val="C0C0C0"/>
                </a:highlight>
              </a:rPr>
              <a:t>ms</a:t>
            </a:r>
            <a:r>
              <a:rPr lang="en-US" dirty="0">
                <a:highlight>
                  <a:srgbClr val="C0C0C0"/>
                </a:highlight>
              </a:rPr>
              <a:t>-</a:t>
            </a:r>
            <a:r>
              <a:rPr lang="en-US" dirty="0"/>
              <a:t> (Internet Explorer and Microsoft Edge)</a:t>
            </a:r>
          </a:p>
          <a:p>
            <a:pPr marL="285750" indent="-285750">
              <a:buFont typeface="Arial" panose="020B0604020202020204" pitchFamily="34" charset="0"/>
              <a:buChar char="•"/>
            </a:pPr>
            <a:endParaRPr lang="en-US" dirty="0"/>
          </a:p>
          <a:p>
            <a:endParaRPr lang="en-US" dirty="0"/>
          </a:p>
        </p:txBody>
      </p:sp>
      <p:pic>
        <p:nvPicPr>
          <p:cNvPr id="12" name="Picture 11">
            <a:extLst>
              <a:ext uri="{FF2B5EF4-FFF2-40B4-BE49-F238E27FC236}">
                <a16:creationId xmlns:a16="http://schemas.microsoft.com/office/drawing/2014/main" id="{F6850214-179C-4B98-A7E6-A9ED7F6D2E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35607" y="4057652"/>
            <a:ext cx="3514725" cy="1466850"/>
          </a:xfrm>
          <a:prstGeom prst="rect">
            <a:avLst/>
          </a:prstGeom>
        </p:spPr>
      </p:pic>
    </p:spTree>
    <p:extLst>
      <p:ext uri="{BB962C8B-B14F-4D97-AF65-F5344CB8AC3E}">
        <p14:creationId xmlns:p14="http://schemas.microsoft.com/office/powerpoint/2010/main" val="4373121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Again, it’s pretty much impossible to have a design that looks the same on every browser unless it’s extremely basic. </a:t>
            </a:r>
          </a:p>
          <a:p>
            <a:r>
              <a:rPr lang="en-US" dirty="0"/>
              <a:t>Details like forms and typography will likely vary no matter what rules you follow. Your main concern should not be making the design look identical on every browser. </a:t>
            </a:r>
          </a:p>
          <a:p>
            <a:r>
              <a:rPr lang="en-US" dirty="0"/>
              <a:t>Instead, you should make sure that it looks acceptable and is usable without having elements that are out of place or that prevent someone from accessing certain functions.</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Prepare For Differences</a:t>
            </a:r>
            <a:endParaRPr lang="uk-UA" sz="4400" dirty="0"/>
          </a:p>
        </p:txBody>
      </p:sp>
    </p:spTree>
    <p:extLst>
      <p:ext uri="{BB962C8B-B14F-4D97-AF65-F5344CB8AC3E}">
        <p14:creationId xmlns:p14="http://schemas.microsoft.com/office/powerpoint/2010/main" val="2282422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It’s not just enough to keep these tips in mind while developing. As hard as you try to avoid it, it’s easy to accidentally write something that doesn’t work in one browser. </a:t>
            </a:r>
          </a:p>
          <a:p>
            <a:r>
              <a:rPr lang="en-US" dirty="0"/>
              <a:t>This is why you need to check that the site actually works on different browsers before delivery. </a:t>
            </a:r>
          </a:p>
          <a:p>
            <a:r>
              <a:rPr lang="en-US" dirty="0"/>
              <a:t>Using a tool like </a:t>
            </a:r>
            <a:r>
              <a:rPr lang="en-US" dirty="0" err="1">
                <a:hlinkClick r:id="rId2"/>
              </a:rPr>
              <a:t>CrossBrowserTesting</a:t>
            </a:r>
            <a:r>
              <a:rPr lang="en-US" dirty="0"/>
              <a:t>  and </a:t>
            </a:r>
            <a:r>
              <a:rPr lang="en-US" dirty="0" err="1">
                <a:hlinkClick r:id="rId3"/>
              </a:rPr>
              <a:t>BrowserStack</a:t>
            </a:r>
            <a:r>
              <a:rPr lang="en-US" dirty="0"/>
              <a:t> gives you access to do this in over 1,500 browsers, so you never have to wonder what users are seeing when they visit your page from a different machine.</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Don’t skip Cross-Browser Testing</a:t>
            </a:r>
            <a:endParaRPr lang="uk-UA" sz="4400" dirty="0"/>
          </a:p>
        </p:txBody>
      </p:sp>
    </p:spTree>
    <p:extLst>
      <p:ext uri="{BB962C8B-B14F-4D97-AF65-F5344CB8AC3E}">
        <p14:creationId xmlns:p14="http://schemas.microsoft.com/office/powerpoint/2010/main" val="24290676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QUESTIONS ?</a:t>
            </a:r>
            <a:endParaRPr lang="uk-UA" dirty="0"/>
          </a:p>
        </p:txBody>
      </p:sp>
    </p:spTree>
    <p:extLst>
      <p:ext uri="{BB962C8B-B14F-4D97-AF65-F5344CB8AC3E}">
        <p14:creationId xmlns:p14="http://schemas.microsoft.com/office/powerpoint/2010/main" val="221689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USED MATERIALS</a:t>
            </a:r>
            <a:endParaRPr lang="uk-UA" dirty="0"/>
          </a:p>
        </p:txBody>
      </p:sp>
      <p:sp>
        <p:nvSpPr>
          <p:cNvPr id="2" name="Rectangle 1">
            <a:extLst>
              <a:ext uri="{FF2B5EF4-FFF2-40B4-BE49-F238E27FC236}">
                <a16:creationId xmlns:a16="http://schemas.microsoft.com/office/drawing/2014/main" id="{DB40ABE4-A9F8-4A95-B31B-CF861D743B3B}"/>
              </a:ext>
            </a:extLst>
          </p:cNvPr>
          <p:cNvSpPr/>
          <p:nvPr/>
        </p:nvSpPr>
        <p:spPr>
          <a:xfrm>
            <a:off x="685799" y="3940606"/>
            <a:ext cx="9207844" cy="1831271"/>
          </a:xfrm>
          <a:prstGeom prst="rect">
            <a:avLst/>
          </a:prstGeom>
        </p:spPr>
        <p:txBody>
          <a:bodyPr wrap="square">
            <a:spAutoFit/>
          </a:bodyPr>
          <a:lstStyle/>
          <a:p>
            <a:pPr defTabSz="438911">
              <a:lnSpc>
                <a:spcPct val="90000"/>
              </a:lnSpc>
              <a:spcBef>
                <a:spcPts val="1000"/>
              </a:spcBef>
              <a:defRPr sz="1536"/>
            </a:pPr>
            <a:r>
              <a:rPr lang="en-US" sz="1000" dirty="0">
                <a:hlinkClick r:id="rId2"/>
              </a:rPr>
              <a:t>https://medium.com/@space.alpaca/so-what-exactly-is-the-difference-between-fixed-fluid-adaptive-and-responsive-layouts-and-why-3773272d8481</a:t>
            </a:r>
            <a:endParaRPr lang="en-US" sz="1000" dirty="0">
              <a:hlinkClick r:id="rId3"/>
            </a:endParaRPr>
          </a:p>
          <a:p>
            <a:pPr defTabSz="438911">
              <a:lnSpc>
                <a:spcPct val="90000"/>
              </a:lnSpc>
              <a:spcBef>
                <a:spcPts val="1000"/>
              </a:spcBef>
              <a:defRPr sz="1536"/>
            </a:pPr>
            <a:r>
              <a:rPr lang="en-US" sz="1000" dirty="0">
                <a:hlinkClick r:id="rId3"/>
              </a:rPr>
              <a:t>https://www.awwwards.com/why-responsive-design-support-is-the-most-important-feature-you-can-add-to-your-website.html</a:t>
            </a:r>
            <a:endParaRPr lang="en-US" sz="1000" dirty="0"/>
          </a:p>
          <a:p>
            <a:pPr defTabSz="438911">
              <a:lnSpc>
                <a:spcPct val="90000"/>
              </a:lnSpc>
              <a:spcBef>
                <a:spcPts val="1000"/>
              </a:spcBef>
              <a:defRPr sz="1536"/>
            </a:pPr>
            <a:r>
              <a:rPr lang="en-US" sz="1000" dirty="0">
                <a:hlinkClick r:id="rId4"/>
              </a:rPr>
              <a:t>https://www.w3schools.com/html/html_accessibility.asp</a:t>
            </a:r>
            <a:endParaRPr lang="en-US" sz="1000" dirty="0"/>
          </a:p>
          <a:p>
            <a:pPr defTabSz="438911">
              <a:lnSpc>
                <a:spcPct val="90000"/>
              </a:lnSpc>
              <a:spcBef>
                <a:spcPts val="1000"/>
              </a:spcBef>
              <a:defRPr sz="1536"/>
            </a:pPr>
            <a:r>
              <a:rPr lang="en-US" sz="1000" dirty="0">
                <a:hlinkClick r:id="rId5"/>
              </a:rPr>
              <a:t>https://www.crazyegg.com/blog/speed-up-your-website/</a:t>
            </a:r>
            <a:endParaRPr lang="en-US" sz="1000" dirty="0"/>
          </a:p>
          <a:p>
            <a:pPr defTabSz="438911">
              <a:lnSpc>
                <a:spcPct val="90000"/>
              </a:lnSpc>
              <a:spcBef>
                <a:spcPts val="1000"/>
              </a:spcBef>
              <a:defRPr sz="1536"/>
            </a:pPr>
            <a:r>
              <a:rPr lang="en-US" sz="1000" dirty="0">
                <a:hlinkClick r:id="rId6"/>
              </a:rPr>
              <a:t>https://www.thesitewizard.com/webdesign/htmlvalidation.shtml</a:t>
            </a:r>
            <a:endParaRPr lang="en-US" sz="1000" dirty="0"/>
          </a:p>
          <a:p>
            <a:pPr defTabSz="438911">
              <a:lnSpc>
                <a:spcPct val="90000"/>
              </a:lnSpc>
              <a:spcBef>
                <a:spcPts val="1000"/>
              </a:spcBef>
              <a:defRPr sz="1536"/>
            </a:pPr>
            <a:r>
              <a:rPr lang="en-US" sz="1000" dirty="0">
                <a:hlinkClick r:id="rId7"/>
              </a:rPr>
              <a:t>https://developer.mozilla.org/en-US/docs/Learn/Tools_and_testing/Cross_browser_testing/HTML_and_CSS</a:t>
            </a:r>
            <a:endParaRPr lang="en-US" sz="1000" dirty="0"/>
          </a:p>
          <a:p>
            <a:pPr defTabSz="438911">
              <a:lnSpc>
                <a:spcPct val="90000"/>
              </a:lnSpc>
              <a:spcBef>
                <a:spcPts val="1000"/>
              </a:spcBef>
              <a:defRPr sz="1536"/>
            </a:pPr>
            <a:r>
              <a:rPr lang="en-US" sz="1000" dirty="0">
                <a:hlinkClick r:id="rId8"/>
              </a:rPr>
              <a:t>https://crossbrowsertesting.com/blog/development/cross-platform-website-development/</a:t>
            </a:r>
            <a:endParaRPr lang="en-US" sz="1000" dirty="0">
              <a:solidFill>
                <a:schemeClr val="accent6">
                  <a:lumMod val="75000"/>
                </a:schemeClr>
              </a:solidFill>
            </a:endParaRPr>
          </a:p>
        </p:txBody>
      </p:sp>
    </p:spTree>
    <p:extLst>
      <p:ext uri="{BB962C8B-B14F-4D97-AF65-F5344CB8AC3E}">
        <p14:creationId xmlns:p14="http://schemas.microsoft.com/office/powerpoint/2010/main" val="23366664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THANK YOU</a:t>
            </a:r>
            <a:endParaRPr lang="uk-UA" dirty="0"/>
          </a:p>
        </p:txBody>
      </p:sp>
    </p:spTree>
    <p:extLst>
      <p:ext uri="{BB962C8B-B14F-4D97-AF65-F5344CB8AC3E}">
        <p14:creationId xmlns:p14="http://schemas.microsoft.com/office/powerpoint/2010/main" val="3285299940"/>
      </p:ext>
    </p:extLst>
  </p:cSld>
  <p:clrMapOvr>
    <a:masterClrMapping/>
  </p:clrMapOvr>
</p:sld>
</file>

<file path=ppt/theme/theme1.xml><?xml version="1.0" encoding="utf-8"?>
<a:theme xmlns:a="http://schemas.openxmlformats.org/drawingml/2006/main" name="DARK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ftServeTemplate" id="{1EECC8DE-A8A5-45A7-969A-C21752D4B3E4}" vid="{444DEE5D-51F1-4029-8FDB-DB417F7B394A}"/>
    </a:ext>
  </a:extLst>
</a:theme>
</file>

<file path=ppt/theme/theme2.xml><?xml version="1.0" encoding="utf-8"?>
<a:theme xmlns:a="http://schemas.openxmlformats.org/drawingml/2006/main" name="LIGHT-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ftServeTemplate" id="{1EECC8DE-A8A5-45A7-969A-C21752D4B3E4}" vid="{0103479C-70CD-40C7-BA0E-A151EE336BC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4195FC54A15F344D83577B1CDDD67A5D" ma:contentTypeVersion="9" ma:contentTypeDescription="Создание документа." ma:contentTypeScope="" ma:versionID="961ec8db58076c7d3e9f84b9cd82fd45">
  <xsd:schema xmlns:xsd="http://www.w3.org/2001/XMLSchema" xmlns:xs="http://www.w3.org/2001/XMLSchema" xmlns:p="http://schemas.microsoft.com/office/2006/metadata/properties" xmlns:ns2="341e6018-ac0a-4dfb-8409-db9e0d25502e" xmlns:ns3="835f28f2-30f1-4728-84d2-86d96e143488" targetNamespace="http://schemas.microsoft.com/office/2006/metadata/properties" ma:root="true" ma:fieldsID="bd9f0c80ada20ee560e77d723f3ef44e" ns2:_="" ns3:_="">
    <xsd:import namespace="341e6018-ac0a-4dfb-8409-db9e0d25502e"/>
    <xsd:import namespace="835f28f2-30f1-4728-84d2-86d96e14348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_x041a__x043e__x043c__x0435__x0442__x0430__x044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1e6018-ac0a-4dfb-8409-db9e0d25502e" elementFormDefault="qualified">
    <xsd:import namespace="http://schemas.microsoft.com/office/2006/documentManagement/types"/>
    <xsd:import namespace="http://schemas.microsoft.com/office/infopath/2007/PartnerControls"/>
    <xsd:element name="SharedWithUsers" ma:index="8" nillable="true" ma:displayName="Общий доступ с использованием"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Совместно с подробностями"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35f28f2-30f1-4728-84d2-86d96e14348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_x041a__x043e__x043c__x0435__x0442__x0430__x0440_" ma:index="16" nillable="true" ma:displayName="Кометар" ma:internalName="_x041a__x043e__x043c__x0435__x0442__x0430__x0440_">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x041a__x043e__x043c__x0435__x0442__x0430__x0440_ xmlns="835f28f2-30f1-4728-84d2-86d96e143488" xsi:nil="true"/>
  </documentManagement>
</p:properties>
</file>

<file path=customXml/itemProps1.xml><?xml version="1.0" encoding="utf-8"?>
<ds:datastoreItem xmlns:ds="http://schemas.openxmlformats.org/officeDocument/2006/customXml" ds:itemID="{CAFDAB34-20E1-438F-BCB2-ECDA5496F3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1e6018-ac0a-4dfb-8409-db9e0d25502e"/>
    <ds:schemaRef ds:uri="835f28f2-30f1-4728-84d2-86d96e14348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96B3B9E-03D8-4766-BF45-6129617CF026}">
  <ds:schemaRefs>
    <ds:schemaRef ds:uri="http://schemas.microsoft.com/sharepoint/v3/contenttype/forms"/>
  </ds:schemaRefs>
</ds:datastoreItem>
</file>

<file path=customXml/itemProps3.xml><?xml version="1.0" encoding="utf-8"?>
<ds:datastoreItem xmlns:ds="http://schemas.openxmlformats.org/officeDocument/2006/customXml" ds:itemID="{B3A1340B-3A1B-4156-ADE3-51DF6C2C795D}">
  <ds:schemaRefs>
    <ds:schemaRef ds:uri="http://purl.org/dc/dcmitype/"/>
    <ds:schemaRef ds:uri="http://schemas.microsoft.com/office/2006/documentManagement/types"/>
    <ds:schemaRef ds:uri="http://purl.org/dc/elements/1.1/"/>
    <ds:schemaRef ds:uri="http://schemas.microsoft.com/office/2006/metadata/properties"/>
    <ds:schemaRef ds:uri="835f28f2-30f1-4728-84d2-86d96e143488"/>
    <ds:schemaRef ds:uri="http://purl.org/dc/terms/"/>
    <ds:schemaRef ds:uri="http://schemas.microsoft.com/office/infopath/2007/PartnerControls"/>
    <ds:schemaRef ds:uri="http://schemas.openxmlformats.org/package/2006/metadata/core-properties"/>
    <ds:schemaRef ds:uri="341e6018-ac0a-4dfb-8409-db9e0d25502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SoftServeTemplate_Black</Template>
  <TotalTime>1489</TotalTime>
  <Words>1382</Words>
  <Application>Microsoft Office PowerPoint</Application>
  <PresentationFormat>Widescreen</PresentationFormat>
  <Paragraphs>158</Paragraphs>
  <Slides>32</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32</vt:i4>
      </vt:variant>
    </vt:vector>
  </HeadingPairs>
  <TitlesOfParts>
    <vt:vector size="38" baseType="lpstr">
      <vt:lpstr>Proxima Nova Black</vt:lpstr>
      <vt:lpstr>Arial</vt:lpstr>
      <vt:lpstr>Open Sans</vt:lpstr>
      <vt:lpstr>Calibri</vt:lpstr>
      <vt:lpstr>DARK THEME</vt:lpstr>
      <vt:lpstr>LIGHT-THEME</vt:lpstr>
      <vt:lpstr> Site Layout   Best practices   Cross browser’s implementation</vt:lpstr>
      <vt:lpstr>What is  Site Layout</vt:lpstr>
      <vt:lpstr>PowerPoint Presentation</vt:lpstr>
      <vt:lpstr>Types of site layout</vt:lpstr>
      <vt:lpstr>PowerPoint Presentation</vt:lpstr>
      <vt:lpstr>PowerPoint Presentation</vt:lpstr>
      <vt:lpstr>PowerPoint Presentation</vt:lpstr>
      <vt:lpstr>PowerPoint Presentation</vt:lpstr>
      <vt:lpstr>PowerPoint Presentation</vt:lpstr>
      <vt:lpstr>PowerPoint Presentation</vt:lpstr>
      <vt:lpstr>Best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Cross-Browser Compatibility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 ?</vt:lpstr>
      <vt:lpstr>USED MATERIALS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Liubov Koliasa</dc:creator>
  <cp:lastModifiedBy>Vitaliy Tkachuk</cp:lastModifiedBy>
  <cp:revision>87</cp:revision>
  <dcterms:created xsi:type="dcterms:W3CDTF">2018-12-11T16:43:22Z</dcterms:created>
  <dcterms:modified xsi:type="dcterms:W3CDTF">2019-04-04T08:22:51Z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0x0101004195FC54A15F344D83577B1CDDD67A5D</vt:lpwstr>
  </property>
</Properties>
</file>