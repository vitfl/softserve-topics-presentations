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4"/>
    <p:sldMasterId id="2147483656" r:id="rId5"/>
  </p:sldMasterIdLst>
  <p:sldIdLst>
    <p:sldId id="257" r:id="rId6"/>
    <p:sldId id="259" r:id="rId7"/>
    <p:sldId id="274" r:id="rId8"/>
    <p:sldId id="258" r:id="rId9"/>
    <p:sldId id="275" r:id="rId10"/>
    <p:sldId id="286" r:id="rId11"/>
    <p:sldId id="287" r:id="rId12"/>
    <p:sldId id="288" r:id="rId13"/>
    <p:sldId id="289" r:id="rId14"/>
    <p:sldId id="290" r:id="rId15"/>
    <p:sldId id="291" r:id="rId16"/>
    <p:sldId id="292" r:id="rId17"/>
    <p:sldId id="293" r:id="rId18"/>
    <p:sldId id="294" r:id="rId19"/>
    <p:sldId id="295" r:id="rId20"/>
    <p:sldId id="296" r:id="rId21"/>
    <p:sldId id="297" r:id="rId22"/>
    <p:sldId id="298" r:id="rId23"/>
    <p:sldId id="299" r:id="rId24"/>
    <p:sldId id="300" r:id="rId25"/>
    <p:sldId id="301" r:id="rId26"/>
    <p:sldId id="302" r:id="rId27"/>
    <p:sldId id="303" r:id="rId28"/>
    <p:sldId id="304" r:id="rId29"/>
    <p:sldId id="270" r:id="rId30"/>
    <p:sldId id="307" r:id="rId31"/>
    <p:sldId id="309" r:id="rId32"/>
    <p:sldId id="310" r:id="rId33"/>
    <p:sldId id="306" r:id="rId34"/>
    <p:sldId id="312" r:id="rId35"/>
    <p:sldId id="311" r:id="rId36"/>
    <p:sldId id="271" r:id="rId37"/>
    <p:sldId id="273" r:id="rId38"/>
  </p:sldIdLst>
  <p:sldSz cx="12192000" cy="6858000"/>
  <p:notesSz cx="6858000" cy="9144000"/>
  <p:embeddedFontLst>
    <p:embeddedFont>
      <p:font typeface="Calibri" panose="020F0502020204030204" pitchFamily="34" charset="0"/>
      <p:regular r:id="rId39"/>
      <p:bold r:id="rId40"/>
      <p:italic r:id="rId41"/>
      <p:boldItalic r:id="rId42"/>
    </p:embeddedFont>
    <p:embeddedFont>
      <p:font typeface="Open Sans" panose="020B0604020202020204" charset="0"/>
      <p:regular r:id="rId43"/>
      <p:bold r:id="rId44"/>
      <p:italic r:id="rId45"/>
      <p:boldItalic r:id="rId46"/>
    </p:embeddedFont>
    <p:embeddedFont>
      <p:font typeface="Proxima Nova Black" panose="020B0604020202020204" charset="0"/>
      <p:bold r:id="rId4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166" autoAdjust="0"/>
    <p:restoredTop sz="86957" autoAdjust="0"/>
  </p:normalViewPr>
  <p:slideViewPr>
    <p:cSldViewPr snapToGrid="0">
      <p:cViewPr varScale="1">
        <p:scale>
          <a:sx n="86" d="100"/>
          <a:sy n="86" d="100"/>
        </p:scale>
        <p:origin x="643" y="72"/>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font" Target="fonts/font1.fntdata"/><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font" Target="fonts/font4.fntdata"/><Relationship Id="rId47" Type="http://schemas.openxmlformats.org/officeDocument/2006/relationships/font" Target="fonts/font9.fntdata"/><Relationship Id="rId50" Type="http://schemas.openxmlformats.org/officeDocument/2006/relationships/theme" Target="theme/theme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font" Target="fonts/font8.fntdata"/><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font" Target="fonts/font3.fntdata"/><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font" Target="fonts/font2.fntdata"/><Relationship Id="rId45" Type="http://schemas.openxmlformats.org/officeDocument/2006/relationships/font" Target="fonts/font7.fntdata"/><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font" Target="fonts/font6.fntdata"/><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font" Target="fonts/font5.fntdata"/><Relationship Id="rId48" Type="http://schemas.openxmlformats.org/officeDocument/2006/relationships/presProps" Target="presProps.xml"/><Relationship Id="rId8" Type="http://schemas.openxmlformats.org/officeDocument/2006/relationships/slide" Target="slides/slide3.xml"/><Relationship Id="rId51"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SLIDE-DARK-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208308" y="174928"/>
            <a:ext cx="12390783" cy="6683071"/>
          </a:xfrm>
          <a:prstGeom prst="rect">
            <a:avLst/>
          </a:prstGeom>
        </p:spPr>
        <p:txBody>
          <a:bodyPr anchor="t">
            <a:noAutofit/>
          </a:bodyPr>
          <a:lstStyle>
            <a:lvl1pPr>
              <a:lnSpc>
                <a:spcPts val="11000"/>
              </a:lnSpc>
              <a:defRPr sz="15000">
                <a:latin typeface="Proxima Nova Black" panose="02000506030000020004" pitchFamily="50" charset="0"/>
              </a:defRPr>
            </a:lvl1pPr>
          </a:lstStyle>
          <a:p>
            <a:r>
              <a:rPr lang="en-US" dirty="0"/>
              <a:t>TITLE</a:t>
            </a:r>
            <a:br>
              <a:rPr lang="uk-UA" dirty="0"/>
            </a:br>
            <a:r>
              <a:rPr lang="en-US" dirty="0"/>
              <a:t>TO</a:t>
            </a:r>
            <a:r>
              <a:rPr lang="uk-UA" dirty="0"/>
              <a:t> </a:t>
            </a:r>
            <a:r>
              <a:rPr lang="en-US" dirty="0"/>
              <a:t>BE</a:t>
            </a:r>
            <a:r>
              <a:rPr lang="uk-UA" dirty="0"/>
              <a:t> </a:t>
            </a:r>
            <a:r>
              <a:rPr lang="en-US" dirty="0"/>
              <a:t>CAPI</a:t>
            </a:r>
            <a:br>
              <a:rPr lang="uk-UA" dirty="0"/>
            </a:br>
            <a:r>
              <a:rPr lang="en-US" dirty="0"/>
              <a:t>TALIZED</a:t>
            </a:r>
          </a:p>
        </p:txBody>
      </p:sp>
      <p:sp>
        <p:nvSpPr>
          <p:cNvPr id="20" name="Text Placeholder 19"/>
          <p:cNvSpPr>
            <a:spLocks noGrp="1"/>
          </p:cNvSpPr>
          <p:nvPr>
            <p:ph type="body" sz="quarter" idx="10" hasCustomPrompt="1"/>
          </p:nvPr>
        </p:nvSpPr>
        <p:spPr>
          <a:xfrm>
            <a:off x="685800" y="5915025"/>
            <a:ext cx="3467100" cy="295275"/>
          </a:xfrm>
          <a:prstGeom prst="rect">
            <a:avLst/>
          </a:prstGeom>
        </p:spPr>
        <p:txBody>
          <a:bodyPr lIns="0"/>
          <a:lstStyle>
            <a:lvl1pPr marL="0" indent="0">
              <a:buNone/>
              <a:defRPr sz="2000" baseline="0">
                <a:latin typeface="Open Sans" panose="020B0606030504020204" pitchFamily="34" charset="0"/>
                <a:ea typeface="Open Sans" panose="020B0606030504020204" pitchFamily="34" charset="0"/>
                <a:cs typeface="Open Sans" panose="020B0606030504020204" pitchFamily="34" charset="0"/>
              </a:defRPr>
            </a:lvl1pPr>
          </a:lstStyle>
          <a:p>
            <a:pPr lvl="0"/>
            <a:r>
              <a:rPr lang="en-US" dirty="0"/>
              <a:t>by Speaker</a:t>
            </a:r>
          </a:p>
        </p:txBody>
      </p:sp>
    </p:spTree>
    <p:extLst>
      <p:ext uri="{BB962C8B-B14F-4D97-AF65-F5344CB8AC3E}">
        <p14:creationId xmlns:p14="http://schemas.microsoft.com/office/powerpoint/2010/main" val="5707514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SLIDE-DARK-2">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685801" y="685799"/>
            <a:ext cx="10820400" cy="4800601"/>
          </a:xfrm>
          <a:prstGeom prst="rect">
            <a:avLst/>
          </a:prstGeom>
        </p:spPr>
        <p:txBody>
          <a:bodyPr lIns="0" anchor="t">
            <a:noAutofit/>
          </a:bodyPr>
          <a:lstStyle>
            <a:lvl1pPr>
              <a:lnSpc>
                <a:spcPts val="11000"/>
              </a:lnSpc>
              <a:defRPr sz="12500">
                <a:latin typeface="Proxima Nova Black" panose="02000506030000020004" pitchFamily="50" charset="0"/>
              </a:defRPr>
            </a:lvl1pPr>
          </a:lstStyle>
          <a:p>
            <a:r>
              <a:rPr lang="en-US" dirty="0"/>
              <a:t>TITLE TO BE CAPITALIZED</a:t>
            </a:r>
          </a:p>
        </p:txBody>
      </p:sp>
      <p:sp>
        <p:nvSpPr>
          <p:cNvPr id="4" name="Text Placeholder 19"/>
          <p:cNvSpPr>
            <a:spLocks noGrp="1"/>
          </p:cNvSpPr>
          <p:nvPr>
            <p:ph type="body" sz="quarter" idx="10" hasCustomPrompt="1"/>
          </p:nvPr>
        </p:nvSpPr>
        <p:spPr>
          <a:xfrm>
            <a:off x="685800" y="5915025"/>
            <a:ext cx="3467100" cy="295275"/>
          </a:xfrm>
          <a:prstGeom prst="rect">
            <a:avLst/>
          </a:prstGeom>
        </p:spPr>
        <p:txBody>
          <a:bodyPr lIns="0"/>
          <a:lstStyle>
            <a:lvl1pPr marL="0" indent="0">
              <a:buNone/>
              <a:defRPr sz="2000" baseline="0">
                <a:latin typeface="Open Sans" panose="020B0606030504020204" pitchFamily="34" charset="0"/>
                <a:ea typeface="Open Sans" panose="020B0606030504020204" pitchFamily="34" charset="0"/>
                <a:cs typeface="Open Sans" panose="020B0606030504020204" pitchFamily="34" charset="0"/>
              </a:defRPr>
            </a:lvl1pPr>
          </a:lstStyle>
          <a:p>
            <a:pPr lvl="0"/>
            <a:r>
              <a:rPr lang="en-US" dirty="0"/>
              <a:t>by Speaker</a:t>
            </a:r>
          </a:p>
        </p:txBody>
      </p:sp>
    </p:spTree>
    <p:extLst>
      <p:ext uri="{BB962C8B-B14F-4D97-AF65-F5344CB8AC3E}">
        <p14:creationId xmlns:p14="http://schemas.microsoft.com/office/powerpoint/2010/main" val="9664868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EXT-ONE-COLUMN-DAR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dirty="0"/>
              <a:t>TITLE TO BE CAPITALIZED</a:t>
            </a:r>
          </a:p>
        </p:txBody>
      </p:sp>
      <p:sp>
        <p:nvSpPr>
          <p:cNvPr id="7" name="Text Placeholder 6"/>
          <p:cNvSpPr>
            <a:spLocks noGrp="1"/>
          </p:cNvSpPr>
          <p:nvPr>
            <p:ph type="body" sz="quarter" idx="10" hasCustomPrompt="1"/>
          </p:nvPr>
        </p:nvSpPr>
        <p:spPr>
          <a:xfrm>
            <a:off x="685800" y="2057400"/>
            <a:ext cx="10820400"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extBox 13"/>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Tree>
    <p:extLst>
      <p:ext uri="{BB962C8B-B14F-4D97-AF65-F5344CB8AC3E}">
        <p14:creationId xmlns:p14="http://schemas.microsoft.com/office/powerpoint/2010/main" val="22546376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XT-TWO-COLUMNS-DAR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dirty="0"/>
              <a:t>TITLE TO BE CAPITALIZED</a:t>
            </a:r>
          </a:p>
        </p:txBody>
      </p:sp>
      <p:sp>
        <p:nvSpPr>
          <p:cNvPr id="7" name="Text Placeholder 6"/>
          <p:cNvSpPr>
            <a:spLocks noGrp="1"/>
          </p:cNvSpPr>
          <p:nvPr>
            <p:ph type="body" sz="quarter" idx="10" hasCustomPrompt="1"/>
          </p:nvPr>
        </p:nvSpPr>
        <p:spPr>
          <a:xfrm>
            <a:off x="685800" y="2057400"/>
            <a:ext cx="5174998"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6"/>
          <p:cNvSpPr>
            <a:spLocks noGrp="1"/>
          </p:cNvSpPr>
          <p:nvPr>
            <p:ph type="body" sz="quarter" idx="11" hasCustomPrompt="1"/>
          </p:nvPr>
        </p:nvSpPr>
        <p:spPr>
          <a:xfrm>
            <a:off x="6330696" y="2057400"/>
            <a:ext cx="5175504"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Box 7"/>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Tree>
    <p:extLst>
      <p:ext uri="{BB962C8B-B14F-4D97-AF65-F5344CB8AC3E}">
        <p14:creationId xmlns:p14="http://schemas.microsoft.com/office/powerpoint/2010/main" val="19777268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THREE-COLUMNS-DAR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dirty="0"/>
              <a:t>TITLE TO BE CAPITALIZED</a:t>
            </a:r>
          </a:p>
        </p:txBody>
      </p:sp>
      <p:sp>
        <p:nvSpPr>
          <p:cNvPr id="7" name="Text Placeholder 6"/>
          <p:cNvSpPr>
            <a:spLocks noGrp="1"/>
          </p:cNvSpPr>
          <p:nvPr>
            <p:ph type="body" sz="quarter" idx="10" hasCustomPrompt="1"/>
          </p:nvPr>
        </p:nvSpPr>
        <p:spPr>
          <a:xfrm>
            <a:off x="685800" y="2057400"/>
            <a:ext cx="3467100"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6"/>
          <p:cNvSpPr>
            <a:spLocks noGrp="1"/>
          </p:cNvSpPr>
          <p:nvPr>
            <p:ph type="body" sz="quarter" idx="11" hasCustomPrompt="1"/>
          </p:nvPr>
        </p:nvSpPr>
        <p:spPr>
          <a:xfrm>
            <a:off x="4363212" y="2057400"/>
            <a:ext cx="3465576"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6"/>
          <p:cNvSpPr>
            <a:spLocks noGrp="1"/>
          </p:cNvSpPr>
          <p:nvPr>
            <p:ph type="body" sz="quarter" idx="12" hasCustomPrompt="1"/>
          </p:nvPr>
        </p:nvSpPr>
        <p:spPr>
          <a:xfrm>
            <a:off x="8039100" y="2057400"/>
            <a:ext cx="3467100"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Box 7"/>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Tree>
    <p:extLst>
      <p:ext uri="{BB962C8B-B14F-4D97-AF65-F5344CB8AC3E}">
        <p14:creationId xmlns:p14="http://schemas.microsoft.com/office/powerpoint/2010/main" val="26604433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DESCRIPTION-SIDETEXT-DARK">
    <p:spTree>
      <p:nvGrpSpPr>
        <p:cNvPr id="1" name=""/>
        <p:cNvGrpSpPr/>
        <p:nvPr/>
      </p:nvGrpSpPr>
      <p:grpSpPr>
        <a:xfrm>
          <a:off x="0" y="0"/>
          <a:ext cx="0" cy="0"/>
          <a:chOff x="0" y="0"/>
          <a:chExt cx="0" cy="0"/>
        </a:xfrm>
      </p:grpSpPr>
      <p:sp>
        <p:nvSpPr>
          <p:cNvPr id="5" name="Text Placeholder 6"/>
          <p:cNvSpPr>
            <a:spLocks noGrp="1"/>
          </p:cNvSpPr>
          <p:nvPr>
            <p:ph type="body" sz="quarter" idx="12" hasCustomPrompt="1"/>
          </p:nvPr>
        </p:nvSpPr>
        <p:spPr>
          <a:xfrm>
            <a:off x="4381500" y="1382486"/>
            <a:ext cx="7124700" cy="4103914"/>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685800" y="1382486"/>
            <a:ext cx="3467100" cy="1913709"/>
          </a:xfrm>
          <a:prstGeom prst="rect">
            <a:avLst/>
          </a:prstGeom>
        </p:spPr>
        <p:txBody>
          <a:bodyPr lIns="0"/>
          <a:lstStyle>
            <a:lvl1pPr>
              <a:lnSpc>
                <a:spcPct val="80000"/>
              </a:lnSpc>
              <a:defRPr baseline="0">
                <a:latin typeface="Proxima Nova Black" panose="02000506030000020004" pitchFamily="50" charset="0"/>
              </a:defRPr>
            </a:lvl1pPr>
          </a:lstStyle>
          <a:p>
            <a:r>
              <a:rPr lang="en-US" dirty="0"/>
              <a:t>TITLE TO</a:t>
            </a:r>
            <a:br>
              <a:rPr lang="uk-UA" dirty="0"/>
            </a:br>
            <a:r>
              <a:rPr lang="en-US" dirty="0"/>
              <a:t>BE CAPITA</a:t>
            </a:r>
            <a:br>
              <a:rPr lang="uk-UA" dirty="0"/>
            </a:br>
            <a:r>
              <a:rPr lang="en-US" dirty="0"/>
              <a:t>LIZED</a:t>
            </a:r>
          </a:p>
        </p:txBody>
      </p:sp>
      <p:sp>
        <p:nvSpPr>
          <p:cNvPr id="8" name="Text Placeholder 6"/>
          <p:cNvSpPr>
            <a:spLocks noGrp="1"/>
          </p:cNvSpPr>
          <p:nvPr>
            <p:ph type="body" sz="quarter" idx="13" hasCustomPrompt="1"/>
          </p:nvPr>
        </p:nvSpPr>
        <p:spPr>
          <a:xfrm>
            <a:off x="685800" y="3429001"/>
            <a:ext cx="3467100" cy="2057400"/>
          </a:xfrm>
          <a:prstGeom prst="rect">
            <a:avLst/>
          </a:prstGeom>
        </p:spPr>
        <p:txBody>
          <a:bodyPr lIns="0"/>
          <a:lstStyle>
            <a:lvl1pPr marL="0" indent="0">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p:txBody>
      </p:sp>
      <p:sp>
        <p:nvSpPr>
          <p:cNvPr id="9" name="TextBox 8"/>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Tree>
    <p:extLst>
      <p:ext uri="{BB962C8B-B14F-4D97-AF65-F5344CB8AC3E}">
        <p14:creationId xmlns:p14="http://schemas.microsoft.com/office/powerpoint/2010/main" val="26078818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SIDETEXT-PROCESS-DARK">
    <p:spTree>
      <p:nvGrpSpPr>
        <p:cNvPr id="1" name=""/>
        <p:cNvGrpSpPr/>
        <p:nvPr/>
      </p:nvGrpSpPr>
      <p:grpSpPr>
        <a:xfrm>
          <a:off x="0" y="0"/>
          <a:ext cx="0" cy="0"/>
          <a:chOff x="0" y="0"/>
          <a:chExt cx="0" cy="0"/>
        </a:xfrm>
      </p:grpSpPr>
      <p:sp>
        <p:nvSpPr>
          <p:cNvPr id="5" name="Text Placeholder 6"/>
          <p:cNvSpPr>
            <a:spLocks noGrp="1"/>
          </p:cNvSpPr>
          <p:nvPr>
            <p:ph type="body" sz="quarter" idx="12" hasCustomPrompt="1"/>
          </p:nvPr>
        </p:nvSpPr>
        <p:spPr>
          <a:xfrm>
            <a:off x="4381500" y="1377043"/>
            <a:ext cx="7124700" cy="2051957"/>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685800" y="1377043"/>
            <a:ext cx="3467100" cy="2051957"/>
          </a:xfrm>
          <a:prstGeom prst="rect">
            <a:avLst/>
          </a:prstGeom>
        </p:spPr>
        <p:txBody>
          <a:bodyPr lIns="0"/>
          <a:lstStyle>
            <a:lvl1pPr>
              <a:lnSpc>
                <a:spcPct val="80000"/>
              </a:lnSpc>
              <a:defRPr baseline="0">
                <a:latin typeface="Proxima Nova Black" panose="02000506030000020004" pitchFamily="50" charset="0"/>
              </a:defRPr>
            </a:lvl1pPr>
          </a:lstStyle>
          <a:p>
            <a:r>
              <a:rPr lang="en-US" dirty="0"/>
              <a:t>TITLE TO</a:t>
            </a:r>
            <a:br>
              <a:rPr lang="uk-UA" dirty="0"/>
            </a:br>
            <a:r>
              <a:rPr lang="en-US" dirty="0"/>
              <a:t>BE CAPITA</a:t>
            </a:r>
            <a:br>
              <a:rPr lang="uk-UA" dirty="0"/>
            </a:br>
            <a:r>
              <a:rPr lang="en-US" dirty="0"/>
              <a:t>LIZED</a:t>
            </a:r>
          </a:p>
        </p:txBody>
      </p:sp>
      <p:sp>
        <p:nvSpPr>
          <p:cNvPr id="4" name="Oval 3"/>
          <p:cNvSpPr/>
          <p:nvPr userDrawn="1"/>
        </p:nvSpPr>
        <p:spPr>
          <a:xfrm>
            <a:off x="917664" y="3638007"/>
            <a:ext cx="1598024" cy="1598024"/>
          </a:xfrm>
          <a:prstGeom prst="ellipse">
            <a:avLst/>
          </a:prstGeom>
          <a:noFill/>
          <a:ln w="28575">
            <a:solidFill>
              <a:schemeClr val="bg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userDrawn="1"/>
        </p:nvSpPr>
        <p:spPr>
          <a:xfrm>
            <a:off x="3113586" y="3638007"/>
            <a:ext cx="1598024" cy="1598024"/>
          </a:xfrm>
          <a:prstGeom prst="ellipse">
            <a:avLst/>
          </a:prstGeom>
          <a:noFill/>
          <a:ln w="28575">
            <a:solidFill>
              <a:schemeClr val="bg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userDrawn="1"/>
        </p:nvSpPr>
        <p:spPr>
          <a:xfrm>
            <a:off x="5309508" y="3638007"/>
            <a:ext cx="1598024" cy="1598024"/>
          </a:xfrm>
          <a:prstGeom prst="ellipse">
            <a:avLst/>
          </a:prstGeom>
          <a:noFill/>
          <a:ln w="28575">
            <a:solidFill>
              <a:schemeClr val="bg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userDrawn="1"/>
        </p:nvSpPr>
        <p:spPr>
          <a:xfrm>
            <a:off x="7505429" y="3638007"/>
            <a:ext cx="1598024" cy="1598024"/>
          </a:xfrm>
          <a:prstGeom prst="ellipse">
            <a:avLst/>
          </a:prstGeom>
          <a:noFill/>
          <a:ln w="28575">
            <a:solidFill>
              <a:schemeClr val="bg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userDrawn="1"/>
        </p:nvSpPr>
        <p:spPr>
          <a:xfrm>
            <a:off x="9701348" y="3638007"/>
            <a:ext cx="1598024" cy="1598024"/>
          </a:xfrm>
          <a:prstGeom prst="ellipse">
            <a:avLst/>
          </a:prstGeom>
          <a:noFill/>
          <a:ln w="28575">
            <a:solidFill>
              <a:schemeClr val="bg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p:cNvCxnSpPr/>
          <p:nvPr userDrawn="1"/>
        </p:nvCxnSpPr>
        <p:spPr>
          <a:xfrm>
            <a:off x="2700337" y="4437019"/>
            <a:ext cx="228600" cy="0"/>
          </a:xfrm>
          <a:prstGeom prst="straightConnector1">
            <a:avLst/>
          </a:prstGeom>
          <a:ln w="19050">
            <a:solidFill>
              <a:schemeClr val="bg1">
                <a:lumMod val="65000"/>
                <a:lumOff val="35000"/>
              </a:schemeClr>
            </a:solidFill>
            <a:tailEnd type="arrow" w="lg" len="med"/>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userDrawn="1"/>
        </p:nvCxnSpPr>
        <p:spPr>
          <a:xfrm>
            <a:off x="4896259" y="4437019"/>
            <a:ext cx="228600" cy="0"/>
          </a:xfrm>
          <a:prstGeom prst="straightConnector1">
            <a:avLst/>
          </a:prstGeom>
          <a:ln w="19050">
            <a:solidFill>
              <a:schemeClr val="bg1">
                <a:lumMod val="65000"/>
                <a:lumOff val="35000"/>
              </a:schemeClr>
            </a:solidFill>
            <a:tailEnd type="arrow" w="lg" len="med"/>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userDrawn="1"/>
        </p:nvCxnSpPr>
        <p:spPr>
          <a:xfrm>
            <a:off x="7092181" y="4437019"/>
            <a:ext cx="228600" cy="0"/>
          </a:xfrm>
          <a:prstGeom prst="straightConnector1">
            <a:avLst/>
          </a:prstGeom>
          <a:ln w="19050">
            <a:solidFill>
              <a:schemeClr val="bg1">
                <a:lumMod val="65000"/>
                <a:lumOff val="35000"/>
              </a:schemeClr>
            </a:solidFill>
            <a:tailEnd type="arrow" w="lg" len="med"/>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userDrawn="1"/>
        </p:nvCxnSpPr>
        <p:spPr>
          <a:xfrm>
            <a:off x="9288101" y="4437019"/>
            <a:ext cx="228600" cy="0"/>
          </a:xfrm>
          <a:prstGeom prst="straightConnector1">
            <a:avLst/>
          </a:prstGeom>
          <a:ln w="19050">
            <a:solidFill>
              <a:schemeClr val="bg1">
                <a:lumMod val="65000"/>
                <a:lumOff val="35000"/>
              </a:schemeClr>
            </a:solidFill>
            <a:tailEnd type="arrow" w="lg" len="med"/>
          </a:ln>
        </p:spPr>
        <p:style>
          <a:lnRef idx="1">
            <a:schemeClr val="accent1"/>
          </a:lnRef>
          <a:fillRef idx="0">
            <a:schemeClr val="accent1"/>
          </a:fillRef>
          <a:effectRef idx="0">
            <a:schemeClr val="accent1"/>
          </a:effectRef>
          <a:fontRef idx="minor">
            <a:schemeClr val="tx1"/>
          </a:fontRef>
        </p:style>
      </p:cxnSp>
      <p:sp>
        <p:nvSpPr>
          <p:cNvPr id="20" name="Text Placeholder 6"/>
          <p:cNvSpPr>
            <a:spLocks noGrp="1"/>
          </p:cNvSpPr>
          <p:nvPr>
            <p:ph type="body" sz="quarter" idx="13" hasCustomPrompt="1"/>
          </p:nvPr>
        </p:nvSpPr>
        <p:spPr>
          <a:xfrm>
            <a:off x="1045028" y="4040777"/>
            <a:ext cx="1349829" cy="809897"/>
          </a:xfrm>
          <a:prstGeom prst="rect">
            <a:avLst/>
          </a:prstGeom>
        </p:spPr>
        <p:txBody>
          <a:bodyPr lIns="0"/>
          <a:lstStyle>
            <a:lvl1pPr marL="0" indent="0" algn="ctr">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p:txBody>
      </p:sp>
      <p:sp>
        <p:nvSpPr>
          <p:cNvPr id="22" name="Text Placeholder 6"/>
          <p:cNvSpPr>
            <a:spLocks noGrp="1"/>
          </p:cNvSpPr>
          <p:nvPr>
            <p:ph type="body" sz="quarter" idx="14" hasCustomPrompt="1"/>
          </p:nvPr>
        </p:nvSpPr>
        <p:spPr>
          <a:xfrm>
            <a:off x="3247481" y="4040777"/>
            <a:ext cx="1349829" cy="809897"/>
          </a:xfrm>
          <a:prstGeom prst="rect">
            <a:avLst/>
          </a:prstGeom>
        </p:spPr>
        <p:txBody>
          <a:bodyPr lIns="0"/>
          <a:lstStyle>
            <a:lvl1pPr marL="0" indent="0" algn="ctr">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p:txBody>
      </p:sp>
      <p:sp>
        <p:nvSpPr>
          <p:cNvPr id="23" name="Text Placeholder 6"/>
          <p:cNvSpPr>
            <a:spLocks noGrp="1"/>
          </p:cNvSpPr>
          <p:nvPr>
            <p:ph type="body" sz="quarter" idx="15" hasCustomPrompt="1"/>
          </p:nvPr>
        </p:nvSpPr>
        <p:spPr>
          <a:xfrm>
            <a:off x="5433605" y="4040777"/>
            <a:ext cx="1349829" cy="809897"/>
          </a:xfrm>
          <a:prstGeom prst="rect">
            <a:avLst/>
          </a:prstGeom>
        </p:spPr>
        <p:txBody>
          <a:bodyPr lIns="0"/>
          <a:lstStyle>
            <a:lvl1pPr marL="0" indent="0" algn="ctr">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p:txBody>
      </p:sp>
      <p:sp>
        <p:nvSpPr>
          <p:cNvPr id="24" name="Text Placeholder 6"/>
          <p:cNvSpPr>
            <a:spLocks noGrp="1"/>
          </p:cNvSpPr>
          <p:nvPr>
            <p:ph type="body" sz="quarter" idx="16" hasCustomPrompt="1"/>
          </p:nvPr>
        </p:nvSpPr>
        <p:spPr>
          <a:xfrm>
            <a:off x="7639324" y="4040777"/>
            <a:ext cx="1349829" cy="809897"/>
          </a:xfrm>
          <a:prstGeom prst="rect">
            <a:avLst/>
          </a:prstGeom>
        </p:spPr>
        <p:txBody>
          <a:bodyPr lIns="0"/>
          <a:lstStyle>
            <a:lvl1pPr marL="0" indent="0" algn="ctr">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p:txBody>
      </p:sp>
      <p:sp>
        <p:nvSpPr>
          <p:cNvPr id="25" name="Text Placeholder 6"/>
          <p:cNvSpPr>
            <a:spLocks noGrp="1"/>
          </p:cNvSpPr>
          <p:nvPr>
            <p:ph type="body" sz="quarter" idx="17" hasCustomPrompt="1"/>
          </p:nvPr>
        </p:nvSpPr>
        <p:spPr>
          <a:xfrm>
            <a:off x="9825445" y="4040777"/>
            <a:ext cx="1349829" cy="809897"/>
          </a:xfrm>
          <a:prstGeom prst="rect">
            <a:avLst/>
          </a:prstGeom>
        </p:spPr>
        <p:txBody>
          <a:bodyPr lIns="0"/>
          <a:lstStyle>
            <a:lvl1pPr marL="0" indent="0" algn="ctr">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p:txBody>
      </p:sp>
      <p:sp>
        <p:nvSpPr>
          <p:cNvPr id="26" name="TextBox 25"/>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Tree>
    <p:extLst>
      <p:ext uri="{BB962C8B-B14F-4D97-AF65-F5344CB8AC3E}">
        <p14:creationId xmlns:p14="http://schemas.microsoft.com/office/powerpoint/2010/main" val="25623639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TIMELINE-DARK">
    <p:spTree>
      <p:nvGrpSpPr>
        <p:cNvPr id="1" name=""/>
        <p:cNvGrpSpPr/>
        <p:nvPr/>
      </p:nvGrpSpPr>
      <p:grpSpPr>
        <a:xfrm>
          <a:off x="0" y="0"/>
          <a:ext cx="0" cy="0"/>
          <a:chOff x="0" y="0"/>
          <a:chExt cx="0" cy="0"/>
        </a:xfrm>
      </p:grpSpPr>
      <p:sp>
        <p:nvSpPr>
          <p:cNvPr id="20" name="Text Placeholder 6"/>
          <p:cNvSpPr>
            <a:spLocks noGrp="1"/>
          </p:cNvSpPr>
          <p:nvPr>
            <p:ph type="body" sz="quarter" idx="13" hasCustomPrompt="1"/>
          </p:nvPr>
        </p:nvSpPr>
        <p:spPr>
          <a:xfrm>
            <a:off x="685800" y="2057400"/>
            <a:ext cx="1466850" cy="809897"/>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a:t>
            </a:r>
          </a:p>
        </p:txBody>
      </p:sp>
      <p:sp>
        <p:nvSpPr>
          <p:cNvPr id="21"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dirty="0"/>
              <a:t>TITLE TO BE CAPITALIZED</a:t>
            </a:r>
          </a:p>
        </p:txBody>
      </p:sp>
      <p:cxnSp>
        <p:nvCxnSpPr>
          <p:cNvPr id="6" name="Straight Connector 5"/>
          <p:cNvCxnSpPr/>
          <p:nvPr userDrawn="1"/>
        </p:nvCxnSpPr>
        <p:spPr>
          <a:xfrm>
            <a:off x="-28575" y="2743200"/>
            <a:ext cx="12252960" cy="0"/>
          </a:xfrm>
          <a:prstGeom prst="line">
            <a:avLst/>
          </a:prstGeom>
          <a:ln w="19050">
            <a:solidFill>
              <a:schemeClr val="bg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7" name="Oval 6"/>
          <p:cNvSpPr/>
          <p:nvPr userDrawn="1"/>
        </p:nvSpPr>
        <p:spPr>
          <a:xfrm>
            <a:off x="617220" y="2674620"/>
            <a:ext cx="137160" cy="137160"/>
          </a:xfrm>
          <a:prstGeom prst="ellipse">
            <a:avLst/>
          </a:prstGeom>
          <a:solidFill>
            <a:schemeClr val="bg1">
              <a:lumMod val="65000"/>
              <a:lumOff val="35000"/>
            </a:schemeClr>
          </a:solidFill>
          <a:ln>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userDrawn="1"/>
        </p:nvSpPr>
        <p:spPr>
          <a:xfrm>
            <a:off x="2827020" y="2674620"/>
            <a:ext cx="137160" cy="137160"/>
          </a:xfrm>
          <a:prstGeom prst="ellipse">
            <a:avLst/>
          </a:prstGeom>
          <a:solidFill>
            <a:schemeClr val="bg1">
              <a:lumMod val="65000"/>
              <a:lumOff val="35000"/>
            </a:schemeClr>
          </a:solidFill>
          <a:ln>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userDrawn="1"/>
        </p:nvSpPr>
        <p:spPr>
          <a:xfrm>
            <a:off x="5036820" y="2674620"/>
            <a:ext cx="137160" cy="137160"/>
          </a:xfrm>
          <a:prstGeom prst="ellipse">
            <a:avLst/>
          </a:prstGeom>
          <a:solidFill>
            <a:schemeClr val="bg1">
              <a:lumMod val="65000"/>
              <a:lumOff val="35000"/>
            </a:schemeClr>
          </a:solidFill>
          <a:ln>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userDrawn="1"/>
        </p:nvSpPr>
        <p:spPr>
          <a:xfrm>
            <a:off x="7246620" y="2674620"/>
            <a:ext cx="137160" cy="137160"/>
          </a:xfrm>
          <a:prstGeom prst="ellipse">
            <a:avLst/>
          </a:prstGeom>
          <a:solidFill>
            <a:schemeClr val="bg1">
              <a:lumMod val="65000"/>
              <a:lumOff val="35000"/>
            </a:schemeClr>
          </a:solidFill>
          <a:ln>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userDrawn="1"/>
        </p:nvSpPr>
        <p:spPr>
          <a:xfrm>
            <a:off x="9456420" y="2674620"/>
            <a:ext cx="137160" cy="137160"/>
          </a:xfrm>
          <a:prstGeom prst="ellipse">
            <a:avLst/>
          </a:prstGeom>
          <a:solidFill>
            <a:schemeClr val="bg1">
              <a:lumMod val="65000"/>
              <a:lumOff val="35000"/>
            </a:schemeClr>
          </a:solidFill>
          <a:ln>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 Placeholder 6"/>
          <p:cNvSpPr>
            <a:spLocks noGrp="1"/>
          </p:cNvSpPr>
          <p:nvPr>
            <p:ph type="body" sz="quarter" idx="18" hasCustomPrompt="1"/>
          </p:nvPr>
        </p:nvSpPr>
        <p:spPr>
          <a:xfrm>
            <a:off x="2895600" y="2057400"/>
            <a:ext cx="1466850" cy="809897"/>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a:t>
            </a:r>
          </a:p>
        </p:txBody>
      </p:sp>
      <p:sp>
        <p:nvSpPr>
          <p:cNvPr id="31" name="Text Placeholder 6"/>
          <p:cNvSpPr>
            <a:spLocks noGrp="1"/>
          </p:cNvSpPr>
          <p:nvPr>
            <p:ph type="body" sz="quarter" idx="19" hasCustomPrompt="1"/>
          </p:nvPr>
        </p:nvSpPr>
        <p:spPr>
          <a:xfrm>
            <a:off x="5114925" y="2057400"/>
            <a:ext cx="1466850" cy="809897"/>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a:t>
            </a:r>
          </a:p>
        </p:txBody>
      </p:sp>
      <p:sp>
        <p:nvSpPr>
          <p:cNvPr id="32" name="Text Placeholder 6"/>
          <p:cNvSpPr>
            <a:spLocks noGrp="1"/>
          </p:cNvSpPr>
          <p:nvPr>
            <p:ph type="body" sz="quarter" idx="20" hasCustomPrompt="1"/>
          </p:nvPr>
        </p:nvSpPr>
        <p:spPr>
          <a:xfrm>
            <a:off x="7315200" y="2057400"/>
            <a:ext cx="1466850" cy="809897"/>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a:t>
            </a:r>
          </a:p>
        </p:txBody>
      </p:sp>
      <p:sp>
        <p:nvSpPr>
          <p:cNvPr id="33" name="Text Placeholder 6"/>
          <p:cNvSpPr>
            <a:spLocks noGrp="1"/>
          </p:cNvSpPr>
          <p:nvPr>
            <p:ph type="body" sz="quarter" idx="21" hasCustomPrompt="1"/>
          </p:nvPr>
        </p:nvSpPr>
        <p:spPr>
          <a:xfrm>
            <a:off x="9534525" y="2076450"/>
            <a:ext cx="1466850" cy="809897"/>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a:t>
            </a:r>
          </a:p>
        </p:txBody>
      </p:sp>
      <p:sp>
        <p:nvSpPr>
          <p:cNvPr id="34" name="Text Placeholder 6"/>
          <p:cNvSpPr>
            <a:spLocks noGrp="1"/>
          </p:cNvSpPr>
          <p:nvPr>
            <p:ph type="body" sz="quarter" idx="12" hasCustomPrompt="1"/>
          </p:nvPr>
        </p:nvSpPr>
        <p:spPr>
          <a:xfrm>
            <a:off x="685800" y="3076575"/>
            <a:ext cx="1981200" cy="2276475"/>
          </a:xfrm>
          <a:prstGeom prst="rect">
            <a:avLst/>
          </a:prstGeom>
        </p:spPr>
        <p:txBody>
          <a:bodyPr lIns="0"/>
          <a:lstStyle>
            <a:lvl1pPr marL="0" indent="0">
              <a:lnSpc>
                <a:spcPct val="10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a:t>
            </a:r>
          </a:p>
        </p:txBody>
      </p:sp>
      <p:sp>
        <p:nvSpPr>
          <p:cNvPr id="35" name="Text Placeholder 6"/>
          <p:cNvSpPr>
            <a:spLocks noGrp="1"/>
          </p:cNvSpPr>
          <p:nvPr>
            <p:ph type="body" sz="quarter" idx="22" hasCustomPrompt="1"/>
          </p:nvPr>
        </p:nvSpPr>
        <p:spPr>
          <a:xfrm>
            <a:off x="2895600" y="3076575"/>
            <a:ext cx="1981200" cy="2276475"/>
          </a:xfrm>
          <a:prstGeom prst="rect">
            <a:avLst/>
          </a:prstGeom>
        </p:spPr>
        <p:txBody>
          <a:bodyPr lIns="0"/>
          <a:lstStyle>
            <a:lvl1pPr marL="0" indent="0">
              <a:lnSpc>
                <a:spcPct val="10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a:t>
            </a:r>
          </a:p>
        </p:txBody>
      </p:sp>
      <p:sp>
        <p:nvSpPr>
          <p:cNvPr id="36" name="Text Placeholder 6"/>
          <p:cNvSpPr>
            <a:spLocks noGrp="1"/>
          </p:cNvSpPr>
          <p:nvPr>
            <p:ph type="body" sz="quarter" idx="23" hasCustomPrompt="1"/>
          </p:nvPr>
        </p:nvSpPr>
        <p:spPr>
          <a:xfrm>
            <a:off x="5114925" y="3076574"/>
            <a:ext cx="1981200" cy="2276475"/>
          </a:xfrm>
          <a:prstGeom prst="rect">
            <a:avLst/>
          </a:prstGeom>
        </p:spPr>
        <p:txBody>
          <a:bodyPr lIns="0"/>
          <a:lstStyle>
            <a:lvl1pPr marL="0" indent="0">
              <a:lnSpc>
                <a:spcPct val="10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a:t>
            </a:r>
          </a:p>
        </p:txBody>
      </p:sp>
      <p:sp>
        <p:nvSpPr>
          <p:cNvPr id="37" name="Text Placeholder 6"/>
          <p:cNvSpPr>
            <a:spLocks noGrp="1"/>
          </p:cNvSpPr>
          <p:nvPr>
            <p:ph type="body" sz="quarter" idx="24" hasCustomPrompt="1"/>
          </p:nvPr>
        </p:nvSpPr>
        <p:spPr>
          <a:xfrm>
            <a:off x="7315200" y="3076575"/>
            <a:ext cx="1981200" cy="2276475"/>
          </a:xfrm>
          <a:prstGeom prst="rect">
            <a:avLst/>
          </a:prstGeom>
        </p:spPr>
        <p:txBody>
          <a:bodyPr lIns="0"/>
          <a:lstStyle>
            <a:lvl1pPr marL="0" indent="0">
              <a:lnSpc>
                <a:spcPct val="10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a:t>
            </a:r>
          </a:p>
        </p:txBody>
      </p:sp>
      <p:sp>
        <p:nvSpPr>
          <p:cNvPr id="38" name="Text Placeholder 6"/>
          <p:cNvSpPr>
            <a:spLocks noGrp="1"/>
          </p:cNvSpPr>
          <p:nvPr>
            <p:ph type="body" sz="quarter" idx="25" hasCustomPrompt="1"/>
          </p:nvPr>
        </p:nvSpPr>
        <p:spPr>
          <a:xfrm>
            <a:off x="9515475" y="3076574"/>
            <a:ext cx="1981200" cy="2276475"/>
          </a:xfrm>
          <a:prstGeom prst="rect">
            <a:avLst/>
          </a:prstGeom>
        </p:spPr>
        <p:txBody>
          <a:bodyPr lIns="0"/>
          <a:lstStyle>
            <a:lvl1pPr marL="0" indent="0">
              <a:lnSpc>
                <a:spcPct val="10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a:t>
            </a:r>
          </a:p>
        </p:txBody>
      </p:sp>
      <p:sp>
        <p:nvSpPr>
          <p:cNvPr id="39" name="TextBox 38"/>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Tree>
    <p:extLst>
      <p:ext uri="{BB962C8B-B14F-4D97-AF65-F5344CB8AC3E}">
        <p14:creationId xmlns:p14="http://schemas.microsoft.com/office/powerpoint/2010/main" val="9862825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HOTO-RIGHT-DARK">
    <p:spTree>
      <p:nvGrpSpPr>
        <p:cNvPr id="1" name=""/>
        <p:cNvGrpSpPr/>
        <p:nvPr/>
      </p:nvGrpSpPr>
      <p:grpSpPr>
        <a:xfrm>
          <a:off x="0" y="0"/>
          <a:ext cx="0" cy="0"/>
          <a:chOff x="0" y="0"/>
          <a:chExt cx="0" cy="0"/>
        </a:xfrm>
      </p:grpSpPr>
      <p:sp>
        <p:nvSpPr>
          <p:cNvPr id="21"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dirty="0"/>
              <a:t>TITLE TO BE CAPITALIZED</a:t>
            </a:r>
          </a:p>
        </p:txBody>
      </p:sp>
      <p:sp>
        <p:nvSpPr>
          <p:cNvPr id="19" name="Text Placeholder 6"/>
          <p:cNvSpPr>
            <a:spLocks noGrp="1"/>
          </p:cNvSpPr>
          <p:nvPr>
            <p:ph type="body" sz="quarter" idx="10" hasCustomPrompt="1"/>
          </p:nvPr>
        </p:nvSpPr>
        <p:spPr>
          <a:xfrm>
            <a:off x="685800" y="2057400"/>
            <a:ext cx="5295900"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Picture Placeholder 2"/>
          <p:cNvSpPr>
            <a:spLocks noGrp="1"/>
          </p:cNvSpPr>
          <p:nvPr>
            <p:ph type="pic" sz="quarter" idx="11"/>
          </p:nvPr>
        </p:nvSpPr>
        <p:spPr>
          <a:xfrm>
            <a:off x="6219825" y="2057400"/>
            <a:ext cx="5286375" cy="3429000"/>
          </a:xfrm>
          <a:prstGeom prst="rect">
            <a:avLst/>
          </a:prstGeom>
        </p:spPr>
        <p:txBody>
          <a:bodyPr/>
          <a:lstStyle/>
          <a:p>
            <a:r>
              <a:rPr lang="en-US"/>
              <a:t>Click icon to add picture</a:t>
            </a:r>
          </a:p>
        </p:txBody>
      </p:sp>
      <p:sp>
        <p:nvSpPr>
          <p:cNvPr id="22" name="TextBox 21"/>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Tree>
    <p:extLst>
      <p:ext uri="{BB962C8B-B14F-4D97-AF65-F5344CB8AC3E}">
        <p14:creationId xmlns:p14="http://schemas.microsoft.com/office/powerpoint/2010/main" val="35337679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WIDE-PHOTOT-DAR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dirty="0"/>
              <a:t>CLICK TO EDIT THE TITLE</a:t>
            </a:r>
          </a:p>
        </p:txBody>
      </p:sp>
      <p:sp>
        <p:nvSpPr>
          <p:cNvPr id="4" name="Picture Placeholder 3"/>
          <p:cNvSpPr>
            <a:spLocks noGrp="1"/>
          </p:cNvSpPr>
          <p:nvPr>
            <p:ph type="pic" sz="quarter" idx="10"/>
          </p:nvPr>
        </p:nvSpPr>
        <p:spPr>
          <a:xfrm>
            <a:off x="0" y="2057400"/>
            <a:ext cx="12192000" cy="4800600"/>
          </a:xfrm>
          <a:prstGeom prst="rect">
            <a:avLst/>
          </a:prstGeom>
        </p:spPr>
        <p:txBody>
          <a:bodyPr/>
          <a:lstStyle/>
          <a:p>
            <a:r>
              <a:rPr lang="en-US"/>
              <a:t>Click icon to add picture</a:t>
            </a:r>
          </a:p>
        </p:txBody>
      </p:sp>
      <p:sp>
        <p:nvSpPr>
          <p:cNvPr id="8" name="TextBox 7"/>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Tree>
    <p:extLst>
      <p:ext uri="{BB962C8B-B14F-4D97-AF65-F5344CB8AC3E}">
        <p14:creationId xmlns:p14="http://schemas.microsoft.com/office/powerpoint/2010/main" val="21273960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HOTO-LEFT-DARK">
    <p:spTree>
      <p:nvGrpSpPr>
        <p:cNvPr id="1" name=""/>
        <p:cNvGrpSpPr/>
        <p:nvPr/>
      </p:nvGrpSpPr>
      <p:grpSpPr>
        <a:xfrm>
          <a:off x="0" y="0"/>
          <a:ext cx="0" cy="0"/>
          <a:chOff x="0" y="0"/>
          <a:chExt cx="0" cy="0"/>
        </a:xfrm>
      </p:grpSpPr>
      <p:sp>
        <p:nvSpPr>
          <p:cNvPr id="5" name="Text Placeholder 6"/>
          <p:cNvSpPr>
            <a:spLocks noGrp="1"/>
          </p:cNvSpPr>
          <p:nvPr>
            <p:ph type="body" sz="quarter" idx="12" hasCustomPrompt="1"/>
          </p:nvPr>
        </p:nvSpPr>
        <p:spPr>
          <a:xfrm>
            <a:off x="6210300" y="2743200"/>
            <a:ext cx="5295900" cy="27432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6210300" y="1371601"/>
            <a:ext cx="5295900" cy="1371600"/>
          </a:xfrm>
          <a:prstGeom prst="rect">
            <a:avLst/>
          </a:prstGeom>
        </p:spPr>
        <p:txBody>
          <a:bodyPr lIns="0"/>
          <a:lstStyle>
            <a:lvl1pPr>
              <a:lnSpc>
                <a:spcPct val="80000"/>
              </a:lnSpc>
              <a:defRPr baseline="0">
                <a:latin typeface="Proxima Nova Black" panose="02000506030000020004" pitchFamily="50" charset="0"/>
              </a:defRPr>
            </a:lvl1pPr>
          </a:lstStyle>
          <a:p>
            <a:r>
              <a:rPr lang="en-US" dirty="0"/>
              <a:t>TITLE TO BE CAPITALIZED</a:t>
            </a:r>
          </a:p>
        </p:txBody>
      </p:sp>
      <p:sp>
        <p:nvSpPr>
          <p:cNvPr id="4" name="Picture Placeholder 3"/>
          <p:cNvSpPr>
            <a:spLocks noGrp="1"/>
          </p:cNvSpPr>
          <p:nvPr>
            <p:ph type="pic" sz="quarter" idx="13"/>
          </p:nvPr>
        </p:nvSpPr>
        <p:spPr>
          <a:xfrm>
            <a:off x="0" y="0"/>
            <a:ext cx="5295900" cy="6858000"/>
          </a:xfrm>
          <a:prstGeom prst="rect">
            <a:avLst/>
          </a:prstGeom>
        </p:spPr>
        <p:txBody>
          <a:bodyPr/>
          <a:lstStyle/>
          <a:p>
            <a:r>
              <a:rPr lang="en-US"/>
              <a:t>Click icon to add picture</a:t>
            </a:r>
          </a:p>
        </p:txBody>
      </p:sp>
      <p:sp>
        <p:nvSpPr>
          <p:cNvPr id="7" name="TextBox 6"/>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Tree>
    <p:extLst>
      <p:ext uri="{BB962C8B-B14F-4D97-AF65-F5344CB8AC3E}">
        <p14:creationId xmlns:p14="http://schemas.microsoft.com/office/powerpoint/2010/main" val="38020258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ESCRIPTION-PHOTO-RIGHT-DARK">
    <p:spTree>
      <p:nvGrpSpPr>
        <p:cNvPr id="1" name=""/>
        <p:cNvGrpSpPr/>
        <p:nvPr/>
      </p:nvGrpSpPr>
      <p:grpSpPr>
        <a:xfrm>
          <a:off x="0" y="0"/>
          <a:ext cx="0" cy="0"/>
          <a:chOff x="0" y="0"/>
          <a:chExt cx="0" cy="0"/>
        </a:xfrm>
      </p:grpSpPr>
      <p:sp>
        <p:nvSpPr>
          <p:cNvPr id="3" name="Title 2"/>
          <p:cNvSpPr>
            <a:spLocks noGrp="1"/>
          </p:cNvSpPr>
          <p:nvPr>
            <p:ph type="title" hasCustomPrompt="1"/>
          </p:nvPr>
        </p:nvSpPr>
        <p:spPr>
          <a:xfrm>
            <a:off x="685800" y="1382486"/>
            <a:ext cx="3467100" cy="1913709"/>
          </a:xfrm>
          <a:prstGeom prst="rect">
            <a:avLst/>
          </a:prstGeom>
        </p:spPr>
        <p:txBody>
          <a:bodyPr lIns="0"/>
          <a:lstStyle>
            <a:lvl1pPr>
              <a:lnSpc>
                <a:spcPct val="80000"/>
              </a:lnSpc>
              <a:defRPr baseline="0">
                <a:latin typeface="Proxima Nova Black" panose="02000506030000020004" pitchFamily="50" charset="0"/>
              </a:defRPr>
            </a:lvl1pPr>
          </a:lstStyle>
          <a:p>
            <a:r>
              <a:rPr lang="en-US" dirty="0"/>
              <a:t>TITLE TO</a:t>
            </a:r>
            <a:br>
              <a:rPr lang="uk-UA" dirty="0"/>
            </a:br>
            <a:r>
              <a:rPr lang="en-US" dirty="0"/>
              <a:t>BE</a:t>
            </a:r>
            <a:r>
              <a:rPr lang="uk-UA" dirty="0"/>
              <a:t> С</a:t>
            </a:r>
            <a:r>
              <a:rPr lang="en-US" dirty="0"/>
              <a:t>APITA</a:t>
            </a:r>
            <a:br>
              <a:rPr lang="uk-UA" dirty="0"/>
            </a:br>
            <a:r>
              <a:rPr lang="en-US" dirty="0"/>
              <a:t>LIZED</a:t>
            </a:r>
          </a:p>
        </p:txBody>
      </p:sp>
      <p:sp>
        <p:nvSpPr>
          <p:cNvPr id="9" name="TextBox 8"/>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
        <p:nvSpPr>
          <p:cNvPr id="4" name="Picture Placeholder 3"/>
          <p:cNvSpPr>
            <a:spLocks noGrp="1"/>
          </p:cNvSpPr>
          <p:nvPr>
            <p:ph type="pic" sz="quarter" idx="14"/>
          </p:nvPr>
        </p:nvSpPr>
        <p:spPr>
          <a:xfrm>
            <a:off x="4381500" y="1371600"/>
            <a:ext cx="7124700" cy="4114800"/>
          </a:xfrm>
          <a:prstGeom prst="rect">
            <a:avLst/>
          </a:prstGeom>
        </p:spPr>
        <p:txBody>
          <a:bodyPr/>
          <a:lstStyle/>
          <a:p>
            <a:r>
              <a:rPr lang="en-US"/>
              <a:t>Click icon to add picture</a:t>
            </a:r>
          </a:p>
        </p:txBody>
      </p:sp>
      <p:sp>
        <p:nvSpPr>
          <p:cNvPr id="10" name="Text Placeholder 6"/>
          <p:cNvSpPr>
            <a:spLocks noGrp="1"/>
          </p:cNvSpPr>
          <p:nvPr>
            <p:ph type="body" sz="quarter" idx="12" hasCustomPrompt="1"/>
          </p:nvPr>
        </p:nvSpPr>
        <p:spPr>
          <a:xfrm>
            <a:off x="685800" y="3429000"/>
            <a:ext cx="3467100" cy="2057400"/>
          </a:xfrm>
          <a:prstGeom prst="rect">
            <a:avLst/>
          </a:prstGeom>
        </p:spPr>
        <p:txBody>
          <a:bodyPr lIns="0"/>
          <a:lstStyle>
            <a:lvl1pPr marL="0" indent="0">
              <a:lnSpc>
                <a:spcPct val="10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p:txBody>
      </p:sp>
    </p:spTree>
    <p:extLst>
      <p:ext uri="{BB962C8B-B14F-4D97-AF65-F5344CB8AC3E}">
        <p14:creationId xmlns:p14="http://schemas.microsoft.com/office/powerpoint/2010/main" val="37345149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WIDE-CHART-DAR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dirty="0"/>
              <a:t>TITLE TO BE CAPITALIZED</a:t>
            </a:r>
          </a:p>
        </p:txBody>
      </p:sp>
      <p:sp>
        <p:nvSpPr>
          <p:cNvPr id="8" name="TextBox 7"/>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
        <p:nvSpPr>
          <p:cNvPr id="5" name="Chart Placeholder 4"/>
          <p:cNvSpPr>
            <a:spLocks noGrp="1"/>
          </p:cNvSpPr>
          <p:nvPr>
            <p:ph type="chart" sz="quarter" idx="11"/>
          </p:nvPr>
        </p:nvSpPr>
        <p:spPr>
          <a:xfrm>
            <a:off x="685800" y="2057400"/>
            <a:ext cx="10820400" cy="3429000"/>
          </a:xfrm>
          <a:prstGeom prst="rect">
            <a:avLst/>
          </a:prstGeom>
        </p:spPr>
        <p:txBody>
          <a:bodyPr/>
          <a:lstStyle/>
          <a:p>
            <a:r>
              <a:rPr lang="en-US"/>
              <a:t>Click icon to add chart</a:t>
            </a:r>
          </a:p>
        </p:txBody>
      </p:sp>
    </p:spTree>
    <p:extLst>
      <p:ext uri="{BB962C8B-B14F-4D97-AF65-F5344CB8AC3E}">
        <p14:creationId xmlns:p14="http://schemas.microsoft.com/office/powerpoint/2010/main" val="16854359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HART-LEFT-DARK">
    <p:spTree>
      <p:nvGrpSpPr>
        <p:cNvPr id="1" name=""/>
        <p:cNvGrpSpPr/>
        <p:nvPr/>
      </p:nvGrpSpPr>
      <p:grpSpPr>
        <a:xfrm>
          <a:off x="0" y="0"/>
          <a:ext cx="0" cy="0"/>
          <a:chOff x="0" y="0"/>
          <a:chExt cx="0" cy="0"/>
        </a:xfrm>
      </p:grpSpPr>
      <p:sp>
        <p:nvSpPr>
          <p:cNvPr id="3" name="Title 2"/>
          <p:cNvSpPr>
            <a:spLocks noGrp="1"/>
          </p:cNvSpPr>
          <p:nvPr>
            <p:ph type="title" hasCustomPrompt="1"/>
          </p:nvPr>
        </p:nvSpPr>
        <p:spPr>
          <a:xfrm>
            <a:off x="685800" y="1382486"/>
            <a:ext cx="3467100" cy="1913709"/>
          </a:xfrm>
          <a:prstGeom prst="rect">
            <a:avLst/>
          </a:prstGeom>
        </p:spPr>
        <p:txBody>
          <a:bodyPr lIns="0"/>
          <a:lstStyle>
            <a:lvl1pPr>
              <a:lnSpc>
                <a:spcPct val="80000"/>
              </a:lnSpc>
              <a:defRPr baseline="0">
                <a:latin typeface="Proxima Nova Black" panose="02000506030000020004" pitchFamily="50" charset="0"/>
              </a:defRPr>
            </a:lvl1pPr>
          </a:lstStyle>
          <a:p>
            <a:r>
              <a:rPr lang="en-US" dirty="0"/>
              <a:t>TITLE TO</a:t>
            </a:r>
            <a:br>
              <a:rPr lang="uk-UA" dirty="0"/>
            </a:br>
            <a:r>
              <a:rPr lang="en-US" dirty="0"/>
              <a:t>BE CAPITA</a:t>
            </a:r>
            <a:br>
              <a:rPr lang="uk-UA" dirty="0"/>
            </a:br>
            <a:r>
              <a:rPr lang="en-US" dirty="0"/>
              <a:t>LIZED</a:t>
            </a:r>
          </a:p>
        </p:txBody>
      </p:sp>
      <p:sp>
        <p:nvSpPr>
          <p:cNvPr id="9" name="TextBox 8"/>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
        <p:nvSpPr>
          <p:cNvPr id="10" name="Text Placeholder 6"/>
          <p:cNvSpPr>
            <a:spLocks noGrp="1"/>
          </p:cNvSpPr>
          <p:nvPr>
            <p:ph type="body" sz="quarter" idx="12" hasCustomPrompt="1"/>
          </p:nvPr>
        </p:nvSpPr>
        <p:spPr>
          <a:xfrm>
            <a:off x="685800" y="3429000"/>
            <a:ext cx="3467100" cy="2057400"/>
          </a:xfrm>
          <a:prstGeom prst="rect">
            <a:avLst/>
          </a:prstGeom>
        </p:spPr>
        <p:txBody>
          <a:bodyPr lIns="0"/>
          <a:lstStyle>
            <a:lvl1pPr marL="0" indent="0">
              <a:lnSpc>
                <a:spcPct val="10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p:txBody>
      </p:sp>
      <p:sp>
        <p:nvSpPr>
          <p:cNvPr id="5" name="Chart Placeholder 4"/>
          <p:cNvSpPr>
            <a:spLocks noGrp="1"/>
          </p:cNvSpPr>
          <p:nvPr>
            <p:ph type="chart" sz="quarter" idx="13"/>
          </p:nvPr>
        </p:nvSpPr>
        <p:spPr>
          <a:xfrm>
            <a:off x="4381500" y="1371600"/>
            <a:ext cx="7124700" cy="4114800"/>
          </a:xfrm>
          <a:prstGeom prst="rect">
            <a:avLst/>
          </a:prstGeom>
        </p:spPr>
        <p:txBody>
          <a:bodyPr/>
          <a:lstStyle/>
          <a:p>
            <a:r>
              <a:rPr lang="en-US"/>
              <a:t>Click icon to add chart</a:t>
            </a:r>
          </a:p>
        </p:txBody>
      </p:sp>
    </p:spTree>
    <p:extLst>
      <p:ext uri="{BB962C8B-B14F-4D97-AF65-F5344CB8AC3E}">
        <p14:creationId xmlns:p14="http://schemas.microsoft.com/office/powerpoint/2010/main" val="40225396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SLIDE-LIGHT-1">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208308" y="174928"/>
            <a:ext cx="12390783" cy="6683071"/>
          </a:xfrm>
          <a:prstGeom prst="rect">
            <a:avLst/>
          </a:prstGeom>
        </p:spPr>
        <p:txBody>
          <a:bodyPr anchor="t">
            <a:noAutofit/>
          </a:bodyPr>
          <a:lstStyle>
            <a:lvl1pPr>
              <a:lnSpc>
                <a:spcPts val="11000"/>
              </a:lnSpc>
              <a:defRPr sz="15000">
                <a:latin typeface="Proxima Nova Black" panose="02000506030000020004" pitchFamily="50" charset="0"/>
              </a:defRPr>
            </a:lvl1pPr>
          </a:lstStyle>
          <a:p>
            <a:r>
              <a:rPr lang="en-US" dirty="0"/>
              <a:t>TITLE</a:t>
            </a:r>
            <a:br>
              <a:rPr lang="uk-UA" dirty="0"/>
            </a:br>
            <a:r>
              <a:rPr lang="en-US" dirty="0"/>
              <a:t>TO</a:t>
            </a:r>
            <a:r>
              <a:rPr lang="uk-UA" dirty="0"/>
              <a:t> </a:t>
            </a:r>
            <a:r>
              <a:rPr lang="en-US" dirty="0"/>
              <a:t>BE</a:t>
            </a:r>
            <a:r>
              <a:rPr lang="uk-UA" dirty="0"/>
              <a:t> </a:t>
            </a:r>
            <a:r>
              <a:rPr lang="en-US" dirty="0"/>
              <a:t>CAPI</a:t>
            </a:r>
            <a:br>
              <a:rPr lang="uk-UA" dirty="0"/>
            </a:br>
            <a:r>
              <a:rPr lang="en-US" dirty="0"/>
              <a:t>TALIZED</a:t>
            </a:r>
          </a:p>
        </p:txBody>
      </p:sp>
      <p:sp>
        <p:nvSpPr>
          <p:cNvPr id="20" name="Text Placeholder 19"/>
          <p:cNvSpPr>
            <a:spLocks noGrp="1"/>
          </p:cNvSpPr>
          <p:nvPr>
            <p:ph type="body" sz="quarter" idx="10" hasCustomPrompt="1"/>
          </p:nvPr>
        </p:nvSpPr>
        <p:spPr>
          <a:xfrm>
            <a:off x="685800" y="5915025"/>
            <a:ext cx="3467100" cy="295275"/>
          </a:xfrm>
          <a:prstGeom prst="rect">
            <a:avLst/>
          </a:prstGeom>
        </p:spPr>
        <p:txBody>
          <a:bodyPr lIns="0"/>
          <a:lstStyle>
            <a:lvl1pPr marL="0" indent="0">
              <a:buNone/>
              <a:defRPr sz="2000" baseline="0">
                <a:latin typeface="Open Sans" panose="020B0606030504020204" pitchFamily="34" charset="0"/>
                <a:ea typeface="Open Sans" panose="020B0606030504020204" pitchFamily="34" charset="0"/>
                <a:cs typeface="Open Sans" panose="020B0606030504020204" pitchFamily="34" charset="0"/>
              </a:defRPr>
            </a:lvl1pPr>
          </a:lstStyle>
          <a:p>
            <a:pPr lvl="0"/>
            <a:r>
              <a:rPr lang="en-US" dirty="0"/>
              <a:t>by Speaker</a:t>
            </a:r>
          </a:p>
        </p:txBody>
      </p:sp>
    </p:spTree>
    <p:extLst>
      <p:ext uri="{BB962C8B-B14F-4D97-AF65-F5344CB8AC3E}">
        <p14:creationId xmlns:p14="http://schemas.microsoft.com/office/powerpoint/2010/main" val="42424576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SLIDE-LIGHT-2">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685801" y="685799"/>
            <a:ext cx="10820400" cy="4800601"/>
          </a:xfrm>
          <a:prstGeom prst="rect">
            <a:avLst/>
          </a:prstGeom>
        </p:spPr>
        <p:txBody>
          <a:bodyPr lIns="0" anchor="t">
            <a:noAutofit/>
          </a:bodyPr>
          <a:lstStyle>
            <a:lvl1pPr>
              <a:lnSpc>
                <a:spcPts val="11000"/>
              </a:lnSpc>
              <a:defRPr sz="12500">
                <a:latin typeface="Proxima Nova Black" panose="02000506030000020004" pitchFamily="50" charset="0"/>
              </a:defRPr>
            </a:lvl1pPr>
          </a:lstStyle>
          <a:p>
            <a:r>
              <a:rPr lang="en-US" dirty="0"/>
              <a:t>TITLE TO BE CAPITALIZED</a:t>
            </a:r>
          </a:p>
        </p:txBody>
      </p:sp>
      <p:sp>
        <p:nvSpPr>
          <p:cNvPr id="4" name="Text Placeholder 19"/>
          <p:cNvSpPr>
            <a:spLocks noGrp="1"/>
          </p:cNvSpPr>
          <p:nvPr>
            <p:ph type="body" sz="quarter" idx="10" hasCustomPrompt="1"/>
          </p:nvPr>
        </p:nvSpPr>
        <p:spPr>
          <a:xfrm>
            <a:off x="685800" y="5915025"/>
            <a:ext cx="3467100" cy="295275"/>
          </a:xfrm>
          <a:prstGeom prst="rect">
            <a:avLst/>
          </a:prstGeom>
        </p:spPr>
        <p:txBody>
          <a:bodyPr lIns="0"/>
          <a:lstStyle>
            <a:lvl1pPr marL="0" indent="0">
              <a:buNone/>
              <a:defRPr sz="2000" baseline="0">
                <a:latin typeface="Open Sans" panose="020B0606030504020204" pitchFamily="34" charset="0"/>
                <a:ea typeface="Open Sans" panose="020B0606030504020204" pitchFamily="34" charset="0"/>
                <a:cs typeface="Open Sans" panose="020B0606030504020204" pitchFamily="34" charset="0"/>
              </a:defRPr>
            </a:lvl1pPr>
          </a:lstStyle>
          <a:p>
            <a:pPr lvl="0"/>
            <a:r>
              <a:rPr lang="en-US" dirty="0"/>
              <a:t>by Speaker</a:t>
            </a:r>
          </a:p>
        </p:txBody>
      </p:sp>
    </p:spTree>
    <p:extLst>
      <p:ext uri="{BB962C8B-B14F-4D97-AF65-F5344CB8AC3E}">
        <p14:creationId xmlns:p14="http://schemas.microsoft.com/office/powerpoint/2010/main" val="26677534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ONE-COLUMN-LIGH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dirty="0"/>
              <a:t>TITLE TO BE CAPITALIZED</a:t>
            </a:r>
          </a:p>
        </p:txBody>
      </p:sp>
      <p:sp>
        <p:nvSpPr>
          <p:cNvPr id="7" name="Text Placeholder 6"/>
          <p:cNvSpPr>
            <a:spLocks noGrp="1"/>
          </p:cNvSpPr>
          <p:nvPr>
            <p:ph type="body" sz="quarter" idx="10" hasCustomPrompt="1"/>
          </p:nvPr>
        </p:nvSpPr>
        <p:spPr>
          <a:xfrm>
            <a:off x="685800" y="2057400"/>
            <a:ext cx="10820400"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extBox 13"/>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Tree>
    <p:extLst>
      <p:ext uri="{BB962C8B-B14F-4D97-AF65-F5344CB8AC3E}">
        <p14:creationId xmlns:p14="http://schemas.microsoft.com/office/powerpoint/2010/main" val="371893865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XT-TWO-COLUMNS-LIGH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dirty="0"/>
              <a:t>TITLE TO BE CAPITALIZED</a:t>
            </a:r>
          </a:p>
        </p:txBody>
      </p:sp>
      <p:sp>
        <p:nvSpPr>
          <p:cNvPr id="7" name="Text Placeholder 6"/>
          <p:cNvSpPr>
            <a:spLocks noGrp="1"/>
          </p:cNvSpPr>
          <p:nvPr>
            <p:ph type="body" sz="quarter" idx="10" hasCustomPrompt="1"/>
          </p:nvPr>
        </p:nvSpPr>
        <p:spPr>
          <a:xfrm>
            <a:off x="685800" y="2057400"/>
            <a:ext cx="5174998"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6"/>
          <p:cNvSpPr>
            <a:spLocks noGrp="1"/>
          </p:cNvSpPr>
          <p:nvPr>
            <p:ph type="body" sz="quarter" idx="11" hasCustomPrompt="1"/>
          </p:nvPr>
        </p:nvSpPr>
        <p:spPr>
          <a:xfrm>
            <a:off x="6330696" y="2057400"/>
            <a:ext cx="5175504"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Box 7"/>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Tree>
    <p:extLst>
      <p:ext uri="{BB962C8B-B14F-4D97-AF65-F5344CB8AC3E}">
        <p14:creationId xmlns:p14="http://schemas.microsoft.com/office/powerpoint/2010/main" val="277016868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THREE-COLUMNS-LIGH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dirty="0"/>
              <a:t>TITLE TO BE CAPITALIZED</a:t>
            </a:r>
          </a:p>
        </p:txBody>
      </p:sp>
      <p:sp>
        <p:nvSpPr>
          <p:cNvPr id="7" name="Text Placeholder 6"/>
          <p:cNvSpPr>
            <a:spLocks noGrp="1"/>
          </p:cNvSpPr>
          <p:nvPr>
            <p:ph type="body" sz="quarter" idx="10" hasCustomPrompt="1"/>
          </p:nvPr>
        </p:nvSpPr>
        <p:spPr>
          <a:xfrm>
            <a:off x="685800" y="2057400"/>
            <a:ext cx="3467100"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6"/>
          <p:cNvSpPr>
            <a:spLocks noGrp="1"/>
          </p:cNvSpPr>
          <p:nvPr>
            <p:ph type="body" sz="quarter" idx="11" hasCustomPrompt="1"/>
          </p:nvPr>
        </p:nvSpPr>
        <p:spPr>
          <a:xfrm>
            <a:off x="4363212" y="2057400"/>
            <a:ext cx="3465576"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6"/>
          <p:cNvSpPr>
            <a:spLocks noGrp="1"/>
          </p:cNvSpPr>
          <p:nvPr>
            <p:ph type="body" sz="quarter" idx="12" hasCustomPrompt="1"/>
          </p:nvPr>
        </p:nvSpPr>
        <p:spPr>
          <a:xfrm>
            <a:off x="8039100" y="2057400"/>
            <a:ext cx="3467100"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Box 7"/>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Tree>
    <p:extLst>
      <p:ext uri="{BB962C8B-B14F-4D97-AF65-F5344CB8AC3E}">
        <p14:creationId xmlns:p14="http://schemas.microsoft.com/office/powerpoint/2010/main" val="21419608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DESCRIPTION-SIDETEXT-LIGHT">
    <p:spTree>
      <p:nvGrpSpPr>
        <p:cNvPr id="1" name=""/>
        <p:cNvGrpSpPr/>
        <p:nvPr/>
      </p:nvGrpSpPr>
      <p:grpSpPr>
        <a:xfrm>
          <a:off x="0" y="0"/>
          <a:ext cx="0" cy="0"/>
          <a:chOff x="0" y="0"/>
          <a:chExt cx="0" cy="0"/>
        </a:xfrm>
      </p:grpSpPr>
      <p:sp>
        <p:nvSpPr>
          <p:cNvPr id="5" name="Text Placeholder 6"/>
          <p:cNvSpPr>
            <a:spLocks noGrp="1"/>
          </p:cNvSpPr>
          <p:nvPr>
            <p:ph type="body" sz="quarter" idx="12" hasCustomPrompt="1"/>
          </p:nvPr>
        </p:nvSpPr>
        <p:spPr>
          <a:xfrm>
            <a:off x="4381500" y="1382486"/>
            <a:ext cx="7124700" cy="4103914"/>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685800" y="1382486"/>
            <a:ext cx="3467100" cy="1913709"/>
          </a:xfrm>
          <a:prstGeom prst="rect">
            <a:avLst/>
          </a:prstGeom>
        </p:spPr>
        <p:txBody>
          <a:bodyPr lIns="0"/>
          <a:lstStyle>
            <a:lvl1pPr>
              <a:lnSpc>
                <a:spcPct val="80000"/>
              </a:lnSpc>
              <a:defRPr baseline="0">
                <a:latin typeface="Proxima Nova Black" panose="02000506030000020004" pitchFamily="50" charset="0"/>
              </a:defRPr>
            </a:lvl1pPr>
          </a:lstStyle>
          <a:p>
            <a:r>
              <a:rPr lang="en-US" dirty="0"/>
              <a:t>TITLE TO</a:t>
            </a:r>
            <a:br>
              <a:rPr lang="uk-UA" dirty="0"/>
            </a:br>
            <a:r>
              <a:rPr lang="en-US" dirty="0"/>
              <a:t>BE CAPITA</a:t>
            </a:r>
            <a:br>
              <a:rPr lang="uk-UA" dirty="0"/>
            </a:br>
            <a:r>
              <a:rPr lang="en-US" dirty="0"/>
              <a:t>LIZED</a:t>
            </a:r>
          </a:p>
        </p:txBody>
      </p:sp>
      <p:sp>
        <p:nvSpPr>
          <p:cNvPr id="8" name="Text Placeholder 6"/>
          <p:cNvSpPr>
            <a:spLocks noGrp="1"/>
          </p:cNvSpPr>
          <p:nvPr>
            <p:ph type="body" sz="quarter" idx="13" hasCustomPrompt="1"/>
          </p:nvPr>
        </p:nvSpPr>
        <p:spPr>
          <a:xfrm>
            <a:off x="685800" y="3429001"/>
            <a:ext cx="3467100" cy="2057400"/>
          </a:xfrm>
          <a:prstGeom prst="rect">
            <a:avLst/>
          </a:prstGeom>
        </p:spPr>
        <p:txBody>
          <a:bodyPr lIns="0"/>
          <a:lstStyle>
            <a:lvl1pPr marL="0" indent="0">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p:txBody>
      </p:sp>
      <p:sp>
        <p:nvSpPr>
          <p:cNvPr id="9" name="TextBox 8"/>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Tree>
    <p:extLst>
      <p:ext uri="{BB962C8B-B14F-4D97-AF65-F5344CB8AC3E}">
        <p14:creationId xmlns:p14="http://schemas.microsoft.com/office/powerpoint/2010/main" val="388689739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SIDETEXT-PROCESS-LIGHT">
    <p:spTree>
      <p:nvGrpSpPr>
        <p:cNvPr id="1" name=""/>
        <p:cNvGrpSpPr/>
        <p:nvPr/>
      </p:nvGrpSpPr>
      <p:grpSpPr>
        <a:xfrm>
          <a:off x="0" y="0"/>
          <a:ext cx="0" cy="0"/>
          <a:chOff x="0" y="0"/>
          <a:chExt cx="0" cy="0"/>
        </a:xfrm>
      </p:grpSpPr>
      <p:sp>
        <p:nvSpPr>
          <p:cNvPr id="5" name="Text Placeholder 6"/>
          <p:cNvSpPr>
            <a:spLocks noGrp="1"/>
          </p:cNvSpPr>
          <p:nvPr>
            <p:ph type="body" sz="quarter" idx="12" hasCustomPrompt="1"/>
          </p:nvPr>
        </p:nvSpPr>
        <p:spPr>
          <a:xfrm>
            <a:off x="4381500" y="1377043"/>
            <a:ext cx="7124700" cy="2051957"/>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685800" y="1377043"/>
            <a:ext cx="3467100" cy="2051957"/>
          </a:xfrm>
          <a:prstGeom prst="rect">
            <a:avLst/>
          </a:prstGeom>
        </p:spPr>
        <p:txBody>
          <a:bodyPr lIns="0"/>
          <a:lstStyle>
            <a:lvl1pPr>
              <a:lnSpc>
                <a:spcPct val="80000"/>
              </a:lnSpc>
              <a:defRPr baseline="0">
                <a:latin typeface="Proxima Nova Black" panose="02000506030000020004" pitchFamily="50" charset="0"/>
              </a:defRPr>
            </a:lvl1pPr>
          </a:lstStyle>
          <a:p>
            <a:r>
              <a:rPr lang="en-US" dirty="0"/>
              <a:t>TITLE TO</a:t>
            </a:r>
            <a:br>
              <a:rPr lang="uk-UA" dirty="0"/>
            </a:br>
            <a:r>
              <a:rPr lang="en-US" dirty="0"/>
              <a:t>BE CAPITA</a:t>
            </a:r>
            <a:br>
              <a:rPr lang="uk-UA" dirty="0"/>
            </a:br>
            <a:r>
              <a:rPr lang="en-US" dirty="0"/>
              <a:t>LIZED</a:t>
            </a:r>
          </a:p>
        </p:txBody>
      </p:sp>
      <p:sp>
        <p:nvSpPr>
          <p:cNvPr id="4" name="Oval 3"/>
          <p:cNvSpPr/>
          <p:nvPr userDrawn="1"/>
        </p:nvSpPr>
        <p:spPr>
          <a:xfrm>
            <a:off x="917664" y="3638007"/>
            <a:ext cx="1598024" cy="1598024"/>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userDrawn="1"/>
        </p:nvSpPr>
        <p:spPr>
          <a:xfrm>
            <a:off x="3113586" y="3638007"/>
            <a:ext cx="1598024" cy="1598024"/>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userDrawn="1"/>
        </p:nvSpPr>
        <p:spPr>
          <a:xfrm>
            <a:off x="5309508" y="3638007"/>
            <a:ext cx="1598024" cy="1598024"/>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userDrawn="1"/>
        </p:nvSpPr>
        <p:spPr>
          <a:xfrm>
            <a:off x="7505429" y="3638007"/>
            <a:ext cx="1598024" cy="1598024"/>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userDrawn="1"/>
        </p:nvSpPr>
        <p:spPr>
          <a:xfrm>
            <a:off x="9701348" y="3638007"/>
            <a:ext cx="1598024" cy="1598024"/>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p:cNvCxnSpPr/>
          <p:nvPr userDrawn="1"/>
        </p:nvCxnSpPr>
        <p:spPr>
          <a:xfrm>
            <a:off x="2700337" y="4437019"/>
            <a:ext cx="228600" cy="0"/>
          </a:xfrm>
          <a:prstGeom prst="straightConnector1">
            <a:avLst/>
          </a:prstGeom>
          <a:ln w="19050">
            <a:solidFill>
              <a:schemeClr val="bg1">
                <a:lumMod val="65000"/>
                <a:lumOff val="35000"/>
              </a:schemeClr>
            </a:solidFill>
            <a:tailEnd type="arrow" w="lg" len="med"/>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userDrawn="1"/>
        </p:nvCxnSpPr>
        <p:spPr>
          <a:xfrm>
            <a:off x="4896259" y="4437019"/>
            <a:ext cx="228600" cy="0"/>
          </a:xfrm>
          <a:prstGeom prst="straightConnector1">
            <a:avLst/>
          </a:prstGeom>
          <a:ln w="19050">
            <a:solidFill>
              <a:schemeClr val="bg1">
                <a:lumMod val="65000"/>
                <a:lumOff val="35000"/>
              </a:schemeClr>
            </a:solidFill>
            <a:tailEnd type="arrow" w="lg" len="med"/>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userDrawn="1"/>
        </p:nvCxnSpPr>
        <p:spPr>
          <a:xfrm>
            <a:off x="7092181" y="4437019"/>
            <a:ext cx="228600" cy="0"/>
          </a:xfrm>
          <a:prstGeom prst="straightConnector1">
            <a:avLst/>
          </a:prstGeom>
          <a:ln w="19050">
            <a:solidFill>
              <a:schemeClr val="bg1">
                <a:lumMod val="65000"/>
                <a:lumOff val="35000"/>
              </a:schemeClr>
            </a:solidFill>
            <a:tailEnd type="arrow" w="lg" len="med"/>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userDrawn="1"/>
        </p:nvCxnSpPr>
        <p:spPr>
          <a:xfrm>
            <a:off x="9288101" y="4437019"/>
            <a:ext cx="228600" cy="0"/>
          </a:xfrm>
          <a:prstGeom prst="straightConnector1">
            <a:avLst/>
          </a:prstGeom>
          <a:ln w="19050">
            <a:solidFill>
              <a:schemeClr val="bg1">
                <a:lumMod val="65000"/>
                <a:lumOff val="35000"/>
              </a:schemeClr>
            </a:solidFill>
            <a:tailEnd type="arrow" w="lg" len="med"/>
          </a:ln>
        </p:spPr>
        <p:style>
          <a:lnRef idx="1">
            <a:schemeClr val="accent1"/>
          </a:lnRef>
          <a:fillRef idx="0">
            <a:schemeClr val="accent1"/>
          </a:fillRef>
          <a:effectRef idx="0">
            <a:schemeClr val="accent1"/>
          </a:effectRef>
          <a:fontRef idx="minor">
            <a:schemeClr val="tx1"/>
          </a:fontRef>
        </p:style>
      </p:cxnSp>
      <p:sp>
        <p:nvSpPr>
          <p:cNvPr id="20" name="Text Placeholder 6"/>
          <p:cNvSpPr>
            <a:spLocks noGrp="1"/>
          </p:cNvSpPr>
          <p:nvPr>
            <p:ph type="body" sz="quarter" idx="13" hasCustomPrompt="1"/>
          </p:nvPr>
        </p:nvSpPr>
        <p:spPr>
          <a:xfrm>
            <a:off x="1045028" y="4040777"/>
            <a:ext cx="1349829" cy="809897"/>
          </a:xfrm>
          <a:prstGeom prst="rect">
            <a:avLst/>
          </a:prstGeom>
        </p:spPr>
        <p:txBody>
          <a:bodyPr lIns="0"/>
          <a:lstStyle>
            <a:lvl1pPr marL="0" indent="0" algn="ctr">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p:txBody>
      </p:sp>
      <p:sp>
        <p:nvSpPr>
          <p:cNvPr id="22" name="Text Placeholder 6"/>
          <p:cNvSpPr>
            <a:spLocks noGrp="1"/>
          </p:cNvSpPr>
          <p:nvPr>
            <p:ph type="body" sz="quarter" idx="14" hasCustomPrompt="1"/>
          </p:nvPr>
        </p:nvSpPr>
        <p:spPr>
          <a:xfrm>
            <a:off x="3247481" y="4040777"/>
            <a:ext cx="1349829" cy="809897"/>
          </a:xfrm>
          <a:prstGeom prst="rect">
            <a:avLst/>
          </a:prstGeom>
        </p:spPr>
        <p:txBody>
          <a:bodyPr lIns="0"/>
          <a:lstStyle>
            <a:lvl1pPr marL="0" indent="0" algn="ctr">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p:txBody>
      </p:sp>
      <p:sp>
        <p:nvSpPr>
          <p:cNvPr id="23" name="Text Placeholder 6"/>
          <p:cNvSpPr>
            <a:spLocks noGrp="1"/>
          </p:cNvSpPr>
          <p:nvPr>
            <p:ph type="body" sz="quarter" idx="15" hasCustomPrompt="1"/>
          </p:nvPr>
        </p:nvSpPr>
        <p:spPr>
          <a:xfrm>
            <a:off x="5433605" y="4040777"/>
            <a:ext cx="1349829" cy="809897"/>
          </a:xfrm>
          <a:prstGeom prst="rect">
            <a:avLst/>
          </a:prstGeom>
        </p:spPr>
        <p:txBody>
          <a:bodyPr lIns="0"/>
          <a:lstStyle>
            <a:lvl1pPr marL="0" indent="0" algn="ctr">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p:txBody>
      </p:sp>
      <p:sp>
        <p:nvSpPr>
          <p:cNvPr id="24" name="Text Placeholder 6"/>
          <p:cNvSpPr>
            <a:spLocks noGrp="1"/>
          </p:cNvSpPr>
          <p:nvPr>
            <p:ph type="body" sz="quarter" idx="16" hasCustomPrompt="1"/>
          </p:nvPr>
        </p:nvSpPr>
        <p:spPr>
          <a:xfrm>
            <a:off x="7639324" y="4040777"/>
            <a:ext cx="1349829" cy="809897"/>
          </a:xfrm>
          <a:prstGeom prst="rect">
            <a:avLst/>
          </a:prstGeom>
        </p:spPr>
        <p:txBody>
          <a:bodyPr lIns="0"/>
          <a:lstStyle>
            <a:lvl1pPr marL="0" indent="0" algn="ctr">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p:txBody>
      </p:sp>
      <p:sp>
        <p:nvSpPr>
          <p:cNvPr id="25" name="Text Placeholder 6"/>
          <p:cNvSpPr>
            <a:spLocks noGrp="1"/>
          </p:cNvSpPr>
          <p:nvPr>
            <p:ph type="body" sz="quarter" idx="17" hasCustomPrompt="1"/>
          </p:nvPr>
        </p:nvSpPr>
        <p:spPr>
          <a:xfrm>
            <a:off x="9825445" y="4040777"/>
            <a:ext cx="1349829" cy="809897"/>
          </a:xfrm>
          <a:prstGeom prst="rect">
            <a:avLst/>
          </a:prstGeom>
        </p:spPr>
        <p:txBody>
          <a:bodyPr lIns="0"/>
          <a:lstStyle>
            <a:lvl1pPr marL="0" indent="0" algn="ctr">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p:txBody>
      </p:sp>
      <p:sp>
        <p:nvSpPr>
          <p:cNvPr id="21" name="TextBox 20"/>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Tree>
    <p:extLst>
      <p:ext uri="{BB962C8B-B14F-4D97-AF65-F5344CB8AC3E}">
        <p14:creationId xmlns:p14="http://schemas.microsoft.com/office/powerpoint/2010/main" val="3874876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TIMELINE-LIGHT">
    <p:spTree>
      <p:nvGrpSpPr>
        <p:cNvPr id="1" name=""/>
        <p:cNvGrpSpPr/>
        <p:nvPr/>
      </p:nvGrpSpPr>
      <p:grpSpPr>
        <a:xfrm>
          <a:off x="0" y="0"/>
          <a:ext cx="0" cy="0"/>
          <a:chOff x="0" y="0"/>
          <a:chExt cx="0" cy="0"/>
        </a:xfrm>
      </p:grpSpPr>
      <p:sp>
        <p:nvSpPr>
          <p:cNvPr id="20" name="Text Placeholder 6"/>
          <p:cNvSpPr>
            <a:spLocks noGrp="1"/>
          </p:cNvSpPr>
          <p:nvPr>
            <p:ph type="body" sz="quarter" idx="13" hasCustomPrompt="1"/>
          </p:nvPr>
        </p:nvSpPr>
        <p:spPr>
          <a:xfrm>
            <a:off x="685800" y="2057400"/>
            <a:ext cx="1466850" cy="809897"/>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a:t>
            </a:r>
          </a:p>
        </p:txBody>
      </p:sp>
      <p:sp>
        <p:nvSpPr>
          <p:cNvPr id="21"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dirty="0"/>
              <a:t>TITLE TO BE CAPITALIZED</a:t>
            </a:r>
          </a:p>
        </p:txBody>
      </p:sp>
      <p:cxnSp>
        <p:nvCxnSpPr>
          <p:cNvPr id="6" name="Straight Connector 5"/>
          <p:cNvCxnSpPr/>
          <p:nvPr userDrawn="1"/>
        </p:nvCxnSpPr>
        <p:spPr>
          <a:xfrm>
            <a:off x="-28575" y="2743200"/>
            <a:ext cx="1225296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Oval 6"/>
          <p:cNvSpPr/>
          <p:nvPr userDrawn="1"/>
        </p:nvSpPr>
        <p:spPr>
          <a:xfrm>
            <a:off x="617220" y="2674620"/>
            <a:ext cx="137160" cy="13716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userDrawn="1"/>
        </p:nvSpPr>
        <p:spPr>
          <a:xfrm>
            <a:off x="2827020" y="2674620"/>
            <a:ext cx="137160" cy="13716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userDrawn="1"/>
        </p:nvSpPr>
        <p:spPr>
          <a:xfrm>
            <a:off x="5036820" y="2674620"/>
            <a:ext cx="137160" cy="13716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userDrawn="1"/>
        </p:nvSpPr>
        <p:spPr>
          <a:xfrm>
            <a:off x="7246620" y="2674620"/>
            <a:ext cx="137160" cy="13716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userDrawn="1"/>
        </p:nvSpPr>
        <p:spPr>
          <a:xfrm>
            <a:off x="9456420" y="2674620"/>
            <a:ext cx="137160" cy="13716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 Placeholder 6"/>
          <p:cNvSpPr>
            <a:spLocks noGrp="1"/>
          </p:cNvSpPr>
          <p:nvPr>
            <p:ph type="body" sz="quarter" idx="18" hasCustomPrompt="1"/>
          </p:nvPr>
        </p:nvSpPr>
        <p:spPr>
          <a:xfrm>
            <a:off x="2895600" y="2057400"/>
            <a:ext cx="1466850" cy="809897"/>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a:t>
            </a:r>
          </a:p>
        </p:txBody>
      </p:sp>
      <p:sp>
        <p:nvSpPr>
          <p:cNvPr id="31" name="Text Placeholder 6"/>
          <p:cNvSpPr>
            <a:spLocks noGrp="1"/>
          </p:cNvSpPr>
          <p:nvPr>
            <p:ph type="body" sz="quarter" idx="19" hasCustomPrompt="1"/>
          </p:nvPr>
        </p:nvSpPr>
        <p:spPr>
          <a:xfrm>
            <a:off x="5114925" y="2057400"/>
            <a:ext cx="1466850" cy="809897"/>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a:t>
            </a:r>
          </a:p>
        </p:txBody>
      </p:sp>
      <p:sp>
        <p:nvSpPr>
          <p:cNvPr id="32" name="Text Placeholder 6"/>
          <p:cNvSpPr>
            <a:spLocks noGrp="1"/>
          </p:cNvSpPr>
          <p:nvPr>
            <p:ph type="body" sz="quarter" idx="20" hasCustomPrompt="1"/>
          </p:nvPr>
        </p:nvSpPr>
        <p:spPr>
          <a:xfrm>
            <a:off x="7315200" y="2057400"/>
            <a:ext cx="1466850" cy="809897"/>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a:t>
            </a:r>
          </a:p>
        </p:txBody>
      </p:sp>
      <p:sp>
        <p:nvSpPr>
          <p:cNvPr id="33" name="Text Placeholder 6"/>
          <p:cNvSpPr>
            <a:spLocks noGrp="1"/>
          </p:cNvSpPr>
          <p:nvPr>
            <p:ph type="body" sz="quarter" idx="21" hasCustomPrompt="1"/>
          </p:nvPr>
        </p:nvSpPr>
        <p:spPr>
          <a:xfrm>
            <a:off x="9534525" y="2076450"/>
            <a:ext cx="1466850" cy="809897"/>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a:t>
            </a:r>
          </a:p>
        </p:txBody>
      </p:sp>
      <p:sp>
        <p:nvSpPr>
          <p:cNvPr id="34" name="Text Placeholder 6"/>
          <p:cNvSpPr>
            <a:spLocks noGrp="1"/>
          </p:cNvSpPr>
          <p:nvPr>
            <p:ph type="body" sz="quarter" idx="12" hasCustomPrompt="1"/>
          </p:nvPr>
        </p:nvSpPr>
        <p:spPr>
          <a:xfrm>
            <a:off x="685800" y="3076575"/>
            <a:ext cx="1981200" cy="2276475"/>
          </a:xfrm>
          <a:prstGeom prst="rect">
            <a:avLst/>
          </a:prstGeom>
        </p:spPr>
        <p:txBody>
          <a:bodyPr lIns="0"/>
          <a:lstStyle>
            <a:lvl1pPr marL="0" indent="0">
              <a:lnSpc>
                <a:spcPct val="10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a:t>
            </a:r>
          </a:p>
        </p:txBody>
      </p:sp>
      <p:sp>
        <p:nvSpPr>
          <p:cNvPr id="35" name="Text Placeholder 6"/>
          <p:cNvSpPr>
            <a:spLocks noGrp="1"/>
          </p:cNvSpPr>
          <p:nvPr>
            <p:ph type="body" sz="quarter" idx="22" hasCustomPrompt="1"/>
          </p:nvPr>
        </p:nvSpPr>
        <p:spPr>
          <a:xfrm>
            <a:off x="2895600" y="3076575"/>
            <a:ext cx="1981200" cy="2276475"/>
          </a:xfrm>
          <a:prstGeom prst="rect">
            <a:avLst/>
          </a:prstGeom>
        </p:spPr>
        <p:txBody>
          <a:bodyPr lIns="0"/>
          <a:lstStyle>
            <a:lvl1pPr marL="0" indent="0">
              <a:lnSpc>
                <a:spcPct val="10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a:t>
            </a:r>
          </a:p>
        </p:txBody>
      </p:sp>
      <p:sp>
        <p:nvSpPr>
          <p:cNvPr id="36" name="Text Placeholder 6"/>
          <p:cNvSpPr>
            <a:spLocks noGrp="1"/>
          </p:cNvSpPr>
          <p:nvPr>
            <p:ph type="body" sz="quarter" idx="23" hasCustomPrompt="1"/>
          </p:nvPr>
        </p:nvSpPr>
        <p:spPr>
          <a:xfrm>
            <a:off x="5114925" y="3076574"/>
            <a:ext cx="1981200" cy="2276475"/>
          </a:xfrm>
          <a:prstGeom prst="rect">
            <a:avLst/>
          </a:prstGeom>
        </p:spPr>
        <p:txBody>
          <a:bodyPr lIns="0"/>
          <a:lstStyle>
            <a:lvl1pPr marL="0" indent="0">
              <a:lnSpc>
                <a:spcPct val="10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a:t>
            </a:r>
          </a:p>
        </p:txBody>
      </p:sp>
      <p:sp>
        <p:nvSpPr>
          <p:cNvPr id="37" name="Text Placeholder 6"/>
          <p:cNvSpPr>
            <a:spLocks noGrp="1"/>
          </p:cNvSpPr>
          <p:nvPr>
            <p:ph type="body" sz="quarter" idx="24" hasCustomPrompt="1"/>
          </p:nvPr>
        </p:nvSpPr>
        <p:spPr>
          <a:xfrm>
            <a:off x="7315200" y="3076575"/>
            <a:ext cx="1981200" cy="2276475"/>
          </a:xfrm>
          <a:prstGeom prst="rect">
            <a:avLst/>
          </a:prstGeom>
        </p:spPr>
        <p:txBody>
          <a:bodyPr lIns="0"/>
          <a:lstStyle>
            <a:lvl1pPr marL="0" indent="0">
              <a:lnSpc>
                <a:spcPct val="10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a:t>
            </a:r>
          </a:p>
        </p:txBody>
      </p:sp>
      <p:sp>
        <p:nvSpPr>
          <p:cNvPr id="38" name="Text Placeholder 6"/>
          <p:cNvSpPr>
            <a:spLocks noGrp="1"/>
          </p:cNvSpPr>
          <p:nvPr>
            <p:ph type="body" sz="quarter" idx="25" hasCustomPrompt="1"/>
          </p:nvPr>
        </p:nvSpPr>
        <p:spPr>
          <a:xfrm>
            <a:off x="9515475" y="3076574"/>
            <a:ext cx="1981200" cy="2276475"/>
          </a:xfrm>
          <a:prstGeom prst="rect">
            <a:avLst/>
          </a:prstGeom>
        </p:spPr>
        <p:txBody>
          <a:bodyPr lIns="0"/>
          <a:lstStyle>
            <a:lvl1pPr marL="0" indent="0">
              <a:lnSpc>
                <a:spcPct val="10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a:t>
            </a:r>
          </a:p>
        </p:txBody>
      </p:sp>
    </p:spTree>
    <p:extLst>
      <p:ext uri="{BB962C8B-B14F-4D97-AF65-F5344CB8AC3E}">
        <p14:creationId xmlns:p14="http://schemas.microsoft.com/office/powerpoint/2010/main" val="112868998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HOTO-RIGHT-LIGHT">
    <p:spTree>
      <p:nvGrpSpPr>
        <p:cNvPr id="1" name=""/>
        <p:cNvGrpSpPr/>
        <p:nvPr/>
      </p:nvGrpSpPr>
      <p:grpSpPr>
        <a:xfrm>
          <a:off x="0" y="0"/>
          <a:ext cx="0" cy="0"/>
          <a:chOff x="0" y="0"/>
          <a:chExt cx="0" cy="0"/>
        </a:xfrm>
      </p:grpSpPr>
      <p:sp>
        <p:nvSpPr>
          <p:cNvPr id="21"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dirty="0"/>
              <a:t>TITLE TO BE CAPITALIZED</a:t>
            </a:r>
          </a:p>
        </p:txBody>
      </p:sp>
      <p:sp>
        <p:nvSpPr>
          <p:cNvPr id="19" name="Text Placeholder 6"/>
          <p:cNvSpPr>
            <a:spLocks noGrp="1"/>
          </p:cNvSpPr>
          <p:nvPr>
            <p:ph type="body" sz="quarter" idx="10" hasCustomPrompt="1"/>
          </p:nvPr>
        </p:nvSpPr>
        <p:spPr>
          <a:xfrm>
            <a:off x="685800" y="2057400"/>
            <a:ext cx="5295900"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Picture Placeholder 2"/>
          <p:cNvSpPr>
            <a:spLocks noGrp="1"/>
          </p:cNvSpPr>
          <p:nvPr>
            <p:ph type="pic" sz="quarter" idx="11"/>
          </p:nvPr>
        </p:nvSpPr>
        <p:spPr>
          <a:xfrm>
            <a:off x="6219825" y="2057400"/>
            <a:ext cx="5286375" cy="3429000"/>
          </a:xfrm>
          <a:prstGeom prst="rect">
            <a:avLst/>
          </a:prstGeom>
        </p:spPr>
        <p:txBody>
          <a:bodyPr/>
          <a:lstStyle/>
          <a:p>
            <a:endParaRPr lang="en-US"/>
          </a:p>
        </p:txBody>
      </p:sp>
      <p:sp>
        <p:nvSpPr>
          <p:cNvPr id="22" name="TextBox 21"/>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Tree>
    <p:extLst>
      <p:ext uri="{BB962C8B-B14F-4D97-AF65-F5344CB8AC3E}">
        <p14:creationId xmlns:p14="http://schemas.microsoft.com/office/powerpoint/2010/main" val="358427873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WIDE-PHOTO-LIGH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dirty="0"/>
              <a:t>CLICK TO EDIT THE TITLE</a:t>
            </a:r>
          </a:p>
        </p:txBody>
      </p:sp>
      <p:sp>
        <p:nvSpPr>
          <p:cNvPr id="4" name="Picture Placeholder 3"/>
          <p:cNvSpPr>
            <a:spLocks noGrp="1"/>
          </p:cNvSpPr>
          <p:nvPr>
            <p:ph type="pic" sz="quarter" idx="10"/>
          </p:nvPr>
        </p:nvSpPr>
        <p:spPr>
          <a:xfrm>
            <a:off x="0" y="2057400"/>
            <a:ext cx="12192000" cy="4800600"/>
          </a:xfrm>
          <a:prstGeom prst="rect">
            <a:avLst/>
          </a:prstGeom>
        </p:spPr>
        <p:txBody>
          <a:bodyPr/>
          <a:lstStyle/>
          <a:p>
            <a:endParaRPr lang="en-US"/>
          </a:p>
        </p:txBody>
      </p:sp>
      <p:sp>
        <p:nvSpPr>
          <p:cNvPr id="8" name="TextBox 7"/>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Tree>
    <p:extLst>
      <p:ext uri="{BB962C8B-B14F-4D97-AF65-F5344CB8AC3E}">
        <p14:creationId xmlns:p14="http://schemas.microsoft.com/office/powerpoint/2010/main" val="228554643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PHOTO-LEFT-LIGHT">
    <p:spTree>
      <p:nvGrpSpPr>
        <p:cNvPr id="1" name=""/>
        <p:cNvGrpSpPr/>
        <p:nvPr/>
      </p:nvGrpSpPr>
      <p:grpSpPr>
        <a:xfrm>
          <a:off x="0" y="0"/>
          <a:ext cx="0" cy="0"/>
          <a:chOff x="0" y="0"/>
          <a:chExt cx="0" cy="0"/>
        </a:xfrm>
      </p:grpSpPr>
      <p:sp>
        <p:nvSpPr>
          <p:cNvPr id="5" name="Text Placeholder 6"/>
          <p:cNvSpPr>
            <a:spLocks noGrp="1"/>
          </p:cNvSpPr>
          <p:nvPr>
            <p:ph type="body" sz="quarter" idx="12" hasCustomPrompt="1"/>
          </p:nvPr>
        </p:nvSpPr>
        <p:spPr>
          <a:xfrm>
            <a:off x="6210300" y="2743200"/>
            <a:ext cx="5295900" cy="27432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6210300" y="1371601"/>
            <a:ext cx="5295900" cy="1371600"/>
          </a:xfrm>
          <a:prstGeom prst="rect">
            <a:avLst/>
          </a:prstGeom>
        </p:spPr>
        <p:txBody>
          <a:bodyPr lIns="0"/>
          <a:lstStyle>
            <a:lvl1pPr>
              <a:lnSpc>
                <a:spcPct val="80000"/>
              </a:lnSpc>
              <a:defRPr baseline="0">
                <a:latin typeface="Proxima Nova Black" panose="02000506030000020004" pitchFamily="50" charset="0"/>
              </a:defRPr>
            </a:lvl1pPr>
          </a:lstStyle>
          <a:p>
            <a:r>
              <a:rPr lang="en-US" dirty="0"/>
              <a:t>TITLE TO BE CAPITALIZED</a:t>
            </a:r>
          </a:p>
        </p:txBody>
      </p:sp>
      <p:sp>
        <p:nvSpPr>
          <p:cNvPr id="4" name="Picture Placeholder 3"/>
          <p:cNvSpPr>
            <a:spLocks noGrp="1"/>
          </p:cNvSpPr>
          <p:nvPr>
            <p:ph type="pic" sz="quarter" idx="13"/>
          </p:nvPr>
        </p:nvSpPr>
        <p:spPr>
          <a:xfrm>
            <a:off x="0" y="0"/>
            <a:ext cx="5295900" cy="6858000"/>
          </a:xfrm>
          <a:prstGeom prst="rect">
            <a:avLst/>
          </a:prstGeom>
        </p:spPr>
        <p:txBody>
          <a:bodyPr/>
          <a:lstStyle/>
          <a:p>
            <a:endParaRPr lang="en-US"/>
          </a:p>
        </p:txBody>
      </p:sp>
      <p:sp>
        <p:nvSpPr>
          <p:cNvPr id="7" name="TextBox 6"/>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Tree>
    <p:extLst>
      <p:ext uri="{BB962C8B-B14F-4D97-AF65-F5344CB8AC3E}">
        <p14:creationId xmlns:p14="http://schemas.microsoft.com/office/powerpoint/2010/main" val="55904670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ESCRIPTION-PHOTO-RIGHT-LIGHT">
    <p:spTree>
      <p:nvGrpSpPr>
        <p:cNvPr id="1" name=""/>
        <p:cNvGrpSpPr/>
        <p:nvPr/>
      </p:nvGrpSpPr>
      <p:grpSpPr>
        <a:xfrm>
          <a:off x="0" y="0"/>
          <a:ext cx="0" cy="0"/>
          <a:chOff x="0" y="0"/>
          <a:chExt cx="0" cy="0"/>
        </a:xfrm>
      </p:grpSpPr>
      <p:sp>
        <p:nvSpPr>
          <p:cNvPr id="3" name="Title 2"/>
          <p:cNvSpPr>
            <a:spLocks noGrp="1"/>
          </p:cNvSpPr>
          <p:nvPr>
            <p:ph type="title" hasCustomPrompt="1"/>
          </p:nvPr>
        </p:nvSpPr>
        <p:spPr>
          <a:xfrm>
            <a:off x="685800" y="1382486"/>
            <a:ext cx="3467100" cy="1913709"/>
          </a:xfrm>
          <a:prstGeom prst="rect">
            <a:avLst/>
          </a:prstGeom>
        </p:spPr>
        <p:txBody>
          <a:bodyPr lIns="0"/>
          <a:lstStyle>
            <a:lvl1pPr>
              <a:lnSpc>
                <a:spcPct val="80000"/>
              </a:lnSpc>
              <a:defRPr baseline="0">
                <a:latin typeface="Proxima Nova Black" panose="02000506030000020004" pitchFamily="50" charset="0"/>
              </a:defRPr>
            </a:lvl1pPr>
          </a:lstStyle>
          <a:p>
            <a:r>
              <a:rPr lang="en-US" dirty="0"/>
              <a:t>TITLE TO</a:t>
            </a:r>
            <a:br>
              <a:rPr lang="uk-UA" dirty="0"/>
            </a:br>
            <a:r>
              <a:rPr lang="en-US" dirty="0"/>
              <a:t>BE</a:t>
            </a:r>
            <a:r>
              <a:rPr lang="uk-UA" dirty="0"/>
              <a:t> С</a:t>
            </a:r>
            <a:r>
              <a:rPr lang="en-US" dirty="0"/>
              <a:t>APITA</a:t>
            </a:r>
            <a:br>
              <a:rPr lang="uk-UA" dirty="0"/>
            </a:br>
            <a:r>
              <a:rPr lang="en-US" dirty="0"/>
              <a:t>LIZED</a:t>
            </a:r>
          </a:p>
        </p:txBody>
      </p:sp>
      <p:sp>
        <p:nvSpPr>
          <p:cNvPr id="9" name="TextBox 8"/>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
        <p:nvSpPr>
          <p:cNvPr id="4" name="Picture Placeholder 3"/>
          <p:cNvSpPr>
            <a:spLocks noGrp="1"/>
          </p:cNvSpPr>
          <p:nvPr>
            <p:ph type="pic" sz="quarter" idx="14"/>
          </p:nvPr>
        </p:nvSpPr>
        <p:spPr>
          <a:xfrm>
            <a:off x="4381500" y="1371600"/>
            <a:ext cx="7124700" cy="4114800"/>
          </a:xfrm>
          <a:prstGeom prst="rect">
            <a:avLst/>
          </a:prstGeom>
        </p:spPr>
        <p:txBody>
          <a:bodyPr/>
          <a:lstStyle/>
          <a:p>
            <a:endParaRPr lang="en-US"/>
          </a:p>
        </p:txBody>
      </p:sp>
      <p:sp>
        <p:nvSpPr>
          <p:cNvPr id="10" name="Text Placeholder 6"/>
          <p:cNvSpPr>
            <a:spLocks noGrp="1"/>
          </p:cNvSpPr>
          <p:nvPr>
            <p:ph type="body" sz="quarter" idx="12" hasCustomPrompt="1"/>
          </p:nvPr>
        </p:nvSpPr>
        <p:spPr>
          <a:xfrm>
            <a:off x="685800" y="3429000"/>
            <a:ext cx="3467100" cy="2057400"/>
          </a:xfrm>
          <a:prstGeom prst="rect">
            <a:avLst/>
          </a:prstGeom>
        </p:spPr>
        <p:txBody>
          <a:bodyPr lIns="0"/>
          <a:lstStyle>
            <a:lvl1pPr marL="0" indent="0">
              <a:lnSpc>
                <a:spcPct val="10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p:txBody>
      </p:sp>
    </p:spTree>
    <p:extLst>
      <p:ext uri="{BB962C8B-B14F-4D97-AF65-F5344CB8AC3E}">
        <p14:creationId xmlns:p14="http://schemas.microsoft.com/office/powerpoint/2010/main" val="17807099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WIDE-CHART-LIGH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dirty="0"/>
              <a:t>TITLE TO BE CAPITALIZED</a:t>
            </a:r>
          </a:p>
        </p:txBody>
      </p:sp>
      <p:sp>
        <p:nvSpPr>
          <p:cNvPr id="8" name="TextBox 7"/>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
        <p:nvSpPr>
          <p:cNvPr id="5" name="Chart Placeholder 4"/>
          <p:cNvSpPr>
            <a:spLocks noGrp="1"/>
          </p:cNvSpPr>
          <p:nvPr>
            <p:ph type="chart" sz="quarter" idx="11"/>
          </p:nvPr>
        </p:nvSpPr>
        <p:spPr>
          <a:xfrm>
            <a:off x="685800" y="2057400"/>
            <a:ext cx="10820400" cy="3429000"/>
          </a:xfrm>
          <a:prstGeom prst="rect">
            <a:avLst/>
          </a:prstGeom>
        </p:spPr>
        <p:txBody>
          <a:bodyPr/>
          <a:lstStyle/>
          <a:p>
            <a:endParaRPr lang="en-US"/>
          </a:p>
        </p:txBody>
      </p:sp>
    </p:spTree>
    <p:extLst>
      <p:ext uri="{BB962C8B-B14F-4D97-AF65-F5344CB8AC3E}">
        <p14:creationId xmlns:p14="http://schemas.microsoft.com/office/powerpoint/2010/main" val="229899215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HART-LEFT-LIGHT">
    <p:spTree>
      <p:nvGrpSpPr>
        <p:cNvPr id="1" name=""/>
        <p:cNvGrpSpPr/>
        <p:nvPr/>
      </p:nvGrpSpPr>
      <p:grpSpPr>
        <a:xfrm>
          <a:off x="0" y="0"/>
          <a:ext cx="0" cy="0"/>
          <a:chOff x="0" y="0"/>
          <a:chExt cx="0" cy="0"/>
        </a:xfrm>
      </p:grpSpPr>
      <p:sp>
        <p:nvSpPr>
          <p:cNvPr id="3" name="Title 2"/>
          <p:cNvSpPr>
            <a:spLocks noGrp="1"/>
          </p:cNvSpPr>
          <p:nvPr>
            <p:ph type="title" hasCustomPrompt="1"/>
          </p:nvPr>
        </p:nvSpPr>
        <p:spPr>
          <a:xfrm>
            <a:off x="685800" y="1382486"/>
            <a:ext cx="3467100" cy="1913709"/>
          </a:xfrm>
          <a:prstGeom prst="rect">
            <a:avLst/>
          </a:prstGeom>
        </p:spPr>
        <p:txBody>
          <a:bodyPr lIns="0"/>
          <a:lstStyle>
            <a:lvl1pPr>
              <a:lnSpc>
                <a:spcPct val="80000"/>
              </a:lnSpc>
              <a:defRPr baseline="0">
                <a:latin typeface="Proxima Nova Black" panose="02000506030000020004" pitchFamily="50" charset="0"/>
              </a:defRPr>
            </a:lvl1pPr>
          </a:lstStyle>
          <a:p>
            <a:r>
              <a:rPr lang="en-US" dirty="0"/>
              <a:t>TITLE TO</a:t>
            </a:r>
            <a:br>
              <a:rPr lang="uk-UA" dirty="0"/>
            </a:br>
            <a:r>
              <a:rPr lang="en-US" dirty="0"/>
              <a:t>BE CAPITA</a:t>
            </a:r>
            <a:br>
              <a:rPr lang="uk-UA" dirty="0"/>
            </a:br>
            <a:r>
              <a:rPr lang="en-US" dirty="0"/>
              <a:t>LIZED</a:t>
            </a:r>
          </a:p>
        </p:txBody>
      </p:sp>
      <p:sp>
        <p:nvSpPr>
          <p:cNvPr id="9" name="TextBox 8"/>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
        <p:nvSpPr>
          <p:cNvPr id="10" name="Text Placeholder 6"/>
          <p:cNvSpPr>
            <a:spLocks noGrp="1"/>
          </p:cNvSpPr>
          <p:nvPr>
            <p:ph type="body" sz="quarter" idx="12" hasCustomPrompt="1"/>
          </p:nvPr>
        </p:nvSpPr>
        <p:spPr>
          <a:xfrm>
            <a:off x="685800" y="3429000"/>
            <a:ext cx="3467100" cy="2057400"/>
          </a:xfrm>
          <a:prstGeom prst="rect">
            <a:avLst/>
          </a:prstGeom>
        </p:spPr>
        <p:txBody>
          <a:bodyPr lIns="0"/>
          <a:lstStyle>
            <a:lvl1pPr marL="0" indent="0">
              <a:lnSpc>
                <a:spcPct val="10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p:txBody>
      </p:sp>
      <p:sp>
        <p:nvSpPr>
          <p:cNvPr id="5" name="Chart Placeholder 4"/>
          <p:cNvSpPr>
            <a:spLocks noGrp="1"/>
          </p:cNvSpPr>
          <p:nvPr>
            <p:ph type="chart" sz="quarter" idx="13"/>
          </p:nvPr>
        </p:nvSpPr>
        <p:spPr>
          <a:xfrm>
            <a:off x="4381500" y="1371600"/>
            <a:ext cx="7124700" cy="4114800"/>
          </a:xfrm>
          <a:prstGeom prst="rect">
            <a:avLst/>
          </a:prstGeom>
        </p:spPr>
        <p:txBody>
          <a:bodyPr/>
          <a:lstStyle/>
          <a:p>
            <a:endParaRPr lang="en-US"/>
          </a:p>
        </p:txBody>
      </p:sp>
    </p:spTree>
    <p:extLst>
      <p:ext uri="{BB962C8B-B14F-4D97-AF65-F5344CB8AC3E}">
        <p14:creationId xmlns:p14="http://schemas.microsoft.com/office/powerpoint/2010/main" val="13102427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6" Type="http://schemas.openxmlformats.org/officeDocument/2006/relationships/image" Target="../media/image3.emf"/><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theme" Target="../theme/theme2.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16"/>
          <a:stretch>
            <a:fillRect/>
          </a:stretch>
        </p:blipFill>
        <p:spPr>
          <a:xfrm>
            <a:off x="9959145" y="5906728"/>
            <a:ext cx="1547055" cy="265471"/>
          </a:xfrm>
          <a:prstGeom prst="rect">
            <a:avLst/>
          </a:prstGeom>
        </p:spPr>
      </p:pic>
    </p:spTree>
    <p:extLst>
      <p:ext uri="{BB962C8B-B14F-4D97-AF65-F5344CB8AC3E}">
        <p14:creationId xmlns:p14="http://schemas.microsoft.com/office/powerpoint/2010/main" val="1934738578"/>
      </p:ext>
    </p:extLst>
  </p:cSld>
  <p:clrMap bg1="dk1" tx1="lt1" bg2="dk2" tx2="lt2" accent1="accent1" accent2="accent2" accent3="accent3" accent4="accent4" accent5="accent5" accent6="accent6" hlink="hlink" folHlink="folHlink"/>
  <p:sldLayoutIdLst>
    <p:sldLayoutId id="2147483649" r:id="rId1"/>
    <p:sldLayoutId id="2147483674" r:id="rId2"/>
    <p:sldLayoutId id="2147483652" r:id="rId3"/>
    <p:sldLayoutId id="2147483654" r:id="rId4"/>
    <p:sldLayoutId id="2147483657" r:id="rId5"/>
    <p:sldLayoutId id="2147483661" r:id="rId6"/>
    <p:sldLayoutId id="2147483663" r:id="rId7"/>
    <p:sldLayoutId id="2147483665" r:id="rId8"/>
    <p:sldLayoutId id="2147483667" r:id="rId9"/>
    <p:sldLayoutId id="2147483670" r:id="rId10"/>
    <p:sldLayoutId id="2147483669" r:id="rId11"/>
    <p:sldLayoutId id="2147483671" r:id="rId12"/>
    <p:sldLayoutId id="2147483672" r:id="rId13"/>
    <p:sldLayoutId id="2147483673"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432" userDrawn="1">
          <p15:clr>
            <a:srgbClr val="F26B43"/>
          </p15:clr>
        </p15:guide>
        <p15:guide id="4" pos="7248" userDrawn="1">
          <p15:clr>
            <a:srgbClr val="F26B43"/>
          </p15:clr>
        </p15:guide>
        <p15:guide id="5" orient="horz" pos="432" userDrawn="1">
          <p15:clr>
            <a:srgbClr val="F26B43"/>
          </p15:clr>
        </p15:guide>
        <p15:guide id="6" orient="horz" pos="864" userDrawn="1">
          <p15:clr>
            <a:srgbClr val="F26B43"/>
          </p15:clr>
        </p15:guide>
        <p15:guide id="7" orient="horz" pos="3456" userDrawn="1">
          <p15:clr>
            <a:srgbClr val="F26B43"/>
          </p15:clr>
        </p15:guide>
        <p15:guide id="8" orient="horz" pos="3888" userDrawn="1">
          <p15:clr>
            <a:srgbClr val="F26B43"/>
          </p15:clr>
        </p15:guide>
        <p15:guide id="9" pos="1680" userDrawn="1">
          <p15:clr>
            <a:srgbClr val="F26B43"/>
          </p15:clr>
        </p15:guide>
        <p15:guide id="10" pos="1824" userDrawn="1">
          <p15:clr>
            <a:srgbClr val="F26B43"/>
          </p15:clr>
        </p15:guide>
        <p15:guide id="11" pos="2616" userDrawn="1">
          <p15:clr>
            <a:srgbClr val="F26B43"/>
          </p15:clr>
        </p15:guide>
        <p15:guide id="12" pos="3072" userDrawn="1">
          <p15:clr>
            <a:srgbClr val="F26B43"/>
          </p15:clr>
        </p15:guide>
        <p15:guide id="13" pos="2760" userDrawn="1">
          <p15:clr>
            <a:srgbClr val="F26B43"/>
          </p15:clr>
        </p15:guide>
        <p15:guide id="14" pos="3216" userDrawn="1">
          <p15:clr>
            <a:srgbClr val="F26B43"/>
          </p15:clr>
        </p15:guide>
        <p15:guide id="15" pos="4464" userDrawn="1">
          <p15:clr>
            <a:srgbClr val="F26B43"/>
          </p15:clr>
        </p15:guide>
        <p15:guide id="16" pos="4608" userDrawn="1">
          <p15:clr>
            <a:srgbClr val="F26B43"/>
          </p15:clr>
        </p15:guide>
        <p15:guide id="17" pos="4920" userDrawn="1">
          <p15:clr>
            <a:srgbClr val="F26B43"/>
          </p15:clr>
        </p15:guide>
        <p15:guide id="18" pos="5064" userDrawn="1">
          <p15:clr>
            <a:srgbClr val="F26B43"/>
          </p15:clr>
        </p15:guide>
        <p15:guide id="19" pos="5856" userDrawn="1">
          <p15:clr>
            <a:srgbClr val="F26B43"/>
          </p15:clr>
        </p15:guide>
        <p15:guide id="20" pos="6000" userDrawn="1">
          <p15:clr>
            <a:srgbClr val="F26B43"/>
          </p15:clr>
        </p15:guide>
        <p15:guide id="21" orient="horz" pos="1296" userDrawn="1">
          <p15:clr>
            <a:srgbClr val="F26B43"/>
          </p15:clr>
        </p15:guide>
        <p15:guide id="22" orient="horz" pos="1728" userDrawn="1">
          <p15:clr>
            <a:srgbClr val="F26B43"/>
          </p15:clr>
        </p15:guide>
        <p15:guide id="23" pos="3768" userDrawn="1">
          <p15:clr>
            <a:srgbClr val="F26B43"/>
          </p15:clr>
        </p15:guide>
        <p15:guide id="24" pos="3912"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16"/>
          <a:stretch>
            <a:fillRect/>
          </a:stretch>
        </p:blipFill>
        <p:spPr>
          <a:xfrm>
            <a:off x="9959145" y="5906728"/>
            <a:ext cx="1547053" cy="265471"/>
          </a:xfrm>
          <a:prstGeom prst="rect">
            <a:avLst/>
          </a:prstGeom>
        </p:spPr>
      </p:pic>
    </p:spTree>
    <p:extLst>
      <p:ext uri="{BB962C8B-B14F-4D97-AF65-F5344CB8AC3E}">
        <p14:creationId xmlns:p14="http://schemas.microsoft.com/office/powerpoint/2010/main" val="23213711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64" r:id="rId7"/>
    <p:sldLayoutId id="2147483666" r:id="rId8"/>
    <p:sldLayoutId id="2147483683" r:id="rId9"/>
    <p:sldLayoutId id="2147483684" r:id="rId10"/>
    <p:sldLayoutId id="2147483685" r:id="rId11"/>
    <p:sldLayoutId id="2147483686" r:id="rId12"/>
    <p:sldLayoutId id="2147483687" r:id="rId13"/>
    <p:sldLayoutId id="2147483688"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6.xml"/><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6.xml"/><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6.xml"/><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2" Type="http://schemas.openxmlformats.org/officeDocument/2006/relationships/hyperlink" Target="https://www.robinwieruch.de/gentle-introduction-higher-order-components/" TargetMode="External"/><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hackernoon.com/conditional-rendering-on-react-57a864c2d04d" TargetMode="External"/><Relationship Id="rId2" Type="http://schemas.openxmlformats.org/officeDocument/2006/relationships/hyperlink" Target="https://blog.logrocket.com/conditional-rendering-in-react-c6b0e5af381e" TargetMode="External"/><Relationship Id="rId1" Type="http://schemas.openxmlformats.org/officeDocument/2006/relationships/slideLayout" Target="../slideLayouts/slideLayout2.xml"/><Relationship Id="rId4" Type="http://schemas.openxmlformats.org/officeDocument/2006/relationships/hyperlink" Target="https://www.robinwieruch.de/conditional-rendering-react/"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14625"/>
            <a:ext cx="12390783" cy="6683071"/>
          </a:xfrm>
        </p:spPr>
        <p:txBody>
          <a:bodyPr/>
          <a:lstStyle/>
          <a:p>
            <a:r>
              <a:rPr lang="en-US" dirty="0"/>
              <a:t>Conditional Rendering in React</a:t>
            </a:r>
            <a:br>
              <a:rPr lang="en-US" dirty="0"/>
            </a:br>
            <a:br>
              <a:rPr lang="en-US" dirty="0"/>
            </a:br>
            <a:endParaRPr lang="en-US" dirty="0">
              <a:latin typeface="Proxima Nova Black" panose="02000506030000020004" pitchFamily="2" charset="0"/>
            </a:endParaRPr>
          </a:p>
        </p:txBody>
      </p:sp>
      <p:sp>
        <p:nvSpPr>
          <p:cNvPr id="3" name="Text Placeholder 2"/>
          <p:cNvSpPr>
            <a:spLocks noGrp="1"/>
          </p:cNvSpPr>
          <p:nvPr>
            <p:ph type="body" sz="quarter" idx="10"/>
          </p:nvPr>
        </p:nvSpPr>
        <p:spPr/>
        <p:txBody>
          <a:bodyPr/>
          <a:lstStyle/>
          <a:p>
            <a:r>
              <a:rPr lang="en-US" dirty="0"/>
              <a:t>by Vitaliy Tkachuk</a:t>
            </a:r>
          </a:p>
        </p:txBody>
      </p:sp>
    </p:spTree>
    <p:extLst>
      <p:ext uri="{BB962C8B-B14F-4D97-AF65-F5344CB8AC3E}">
        <p14:creationId xmlns:p14="http://schemas.microsoft.com/office/powerpoint/2010/main" val="15527564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92964" y="685799"/>
            <a:ext cx="11540970" cy="4800601"/>
          </a:xfrm>
        </p:spPr>
        <p:txBody>
          <a:bodyPr/>
          <a:lstStyle/>
          <a:p>
            <a:r>
              <a:rPr lang="en-US" sz="9900" dirty="0"/>
              <a:t>What is conditional rendering in React?</a:t>
            </a:r>
            <a:br>
              <a:rPr lang="en-US" sz="9900" dirty="0"/>
            </a:br>
            <a:endParaRPr lang="uk-UA" sz="9900" dirty="0"/>
          </a:p>
        </p:txBody>
      </p:sp>
    </p:spTree>
    <p:extLst>
      <p:ext uri="{BB962C8B-B14F-4D97-AF65-F5344CB8AC3E}">
        <p14:creationId xmlns:p14="http://schemas.microsoft.com/office/powerpoint/2010/main" val="6583801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685800" y="1714502"/>
            <a:ext cx="9281160" cy="3810000"/>
          </a:xfrm>
        </p:spPr>
        <p:txBody>
          <a:bodyPr/>
          <a:lstStyle/>
          <a:p>
            <a:r>
              <a:rPr lang="en-US" dirty="0"/>
              <a:t>There may arise a situation when we want to render something based on some condition. </a:t>
            </a:r>
          </a:p>
          <a:p>
            <a:r>
              <a:rPr lang="en-US" dirty="0"/>
              <a:t>For example, consider the situation of handling a login/logout button. Both the buttons have different functions so they will be separate components. Now, the task is if a user is logged in then we will have to render the Logout component to display the logout button and if the user is not logged in then we will have to render the Login component to display the login button. </a:t>
            </a:r>
          </a:p>
          <a:p>
            <a:r>
              <a:rPr lang="en-US" dirty="0"/>
              <a:t>This is what we call </a:t>
            </a:r>
            <a:r>
              <a:rPr lang="en-US" b="1" dirty="0"/>
              <a:t>Conditional Rendering</a:t>
            </a:r>
            <a:r>
              <a:rPr lang="en-US" dirty="0"/>
              <a:t> in ReactJS. That is to create multiple components and render them based on some conditions. This is also a kind of encapsulation supported by React.</a:t>
            </a:r>
          </a:p>
        </p:txBody>
      </p:sp>
      <p:sp>
        <p:nvSpPr>
          <p:cNvPr id="6" name="Title 3">
            <a:extLst>
              <a:ext uri="{FF2B5EF4-FFF2-40B4-BE49-F238E27FC236}">
                <a16:creationId xmlns:a16="http://schemas.microsoft.com/office/drawing/2014/main" id="{552B119F-E694-4313-ADAC-69A9F9627046}"/>
              </a:ext>
            </a:extLst>
          </p:cNvPr>
          <p:cNvSpPr txBox="1">
            <a:spLocks/>
          </p:cNvSpPr>
          <p:nvPr/>
        </p:nvSpPr>
        <p:spPr>
          <a:xfrm>
            <a:off x="685800" y="0"/>
            <a:ext cx="10820400" cy="1714502"/>
          </a:xfrm>
          <a:prstGeom prst="rect">
            <a:avLst/>
          </a:prstGeom>
        </p:spPr>
        <p:txBody>
          <a:bodyPr lIns="0" anchor="t">
            <a:noAutofit/>
          </a:bodyPr>
          <a:lstStyle>
            <a:lvl1pPr algn="l" defTabSz="914400" rtl="0" eaLnBrk="1" latinLnBrk="0" hangingPunct="1">
              <a:lnSpc>
                <a:spcPts val="11000"/>
              </a:lnSpc>
              <a:spcBef>
                <a:spcPct val="0"/>
              </a:spcBef>
              <a:buNone/>
              <a:defRPr sz="12500" kern="1200">
                <a:solidFill>
                  <a:schemeClr val="tx1"/>
                </a:solidFill>
                <a:latin typeface="Proxima Nova Black" panose="02000506030000020004" pitchFamily="50" charset="0"/>
                <a:ea typeface="+mj-ea"/>
                <a:cs typeface="+mj-cs"/>
              </a:defRPr>
            </a:lvl1pPr>
          </a:lstStyle>
          <a:p>
            <a:r>
              <a:rPr lang="en-US" sz="4400" dirty="0"/>
              <a:t>INTRODUCTION</a:t>
            </a:r>
            <a:endParaRPr lang="uk-UA" sz="4400" dirty="0"/>
          </a:p>
        </p:txBody>
      </p:sp>
    </p:spTree>
    <p:extLst>
      <p:ext uri="{BB962C8B-B14F-4D97-AF65-F5344CB8AC3E}">
        <p14:creationId xmlns:p14="http://schemas.microsoft.com/office/powerpoint/2010/main" val="38022155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85801" y="452762"/>
            <a:ext cx="10820400" cy="1189608"/>
          </a:xfrm>
        </p:spPr>
        <p:txBody>
          <a:bodyPr/>
          <a:lstStyle/>
          <a:p>
            <a:r>
              <a:rPr lang="en-US" sz="10000" dirty="0"/>
              <a:t>LIST</a:t>
            </a:r>
            <a:endParaRPr lang="uk-UA" sz="10000" dirty="0"/>
          </a:p>
        </p:txBody>
      </p:sp>
      <p:sp>
        <p:nvSpPr>
          <p:cNvPr id="5" name="Text Placeholder 4"/>
          <p:cNvSpPr>
            <a:spLocks noGrp="1"/>
          </p:cNvSpPr>
          <p:nvPr>
            <p:ph type="body" sz="quarter" idx="10"/>
          </p:nvPr>
        </p:nvSpPr>
        <p:spPr>
          <a:xfrm>
            <a:off x="685800" y="3258105"/>
            <a:ext cx="4274820" cy="2952196"/>
          </a:xfrm>
        </p:spPr>
        <p:txBody>
          <a:bodyPr/>
          <a:lstStyle/>
          <a:p>
            <a:pPr marL="342900" indent="-342900">
              <a:buFont typeface="Arial" panose="020B0604020202020204" pitchFamily="34" charset="0"/>
              <a:buChar char="•"/>
            </a:pPr>
            <a:r>
              <a:rPr lang="en-US" dirty="0"/>
              <a:t>If/Else	</a:t>
            </a:r>
          </a:p>
          <a:p>
            <a:pPr marL="342900" indent="-342900">
              <a:buFont typeface="Arial" panose="020B0604020202020204" pitchFamily="34" charset="0"/>
              <a:buChar char="•"/>
            </a:pPr>
            <a:r>
              <a:rPr lang="en-US" dirty="0"/>
              <a:t>Ternary operator</a:t>
            </a:r>
          </a:p>
          <a:p>
            <a:pPr marL="342900" indent="-342900">
              <a:buFont typeface="Arial" panose="020B0604020202020204" pitchFamily="34" charset="0"/>
              <a:buChar char="•"/>
            </a:pPr>
            <a:r>
              <a:rPr lang="en-US" dirty="0"/>
              <a:t>Logical &amp;&amp; operator </a:t>
            </a:r>
          </a:p>
          <a:p>
            <a:pPr marL="342900" indent="-342900">
              <a:buFont typeface="Arial" panose="020B0604020202020204" pitchFamily="34" charset="0"/>
              <a:buChar char="•"/>
            </a:pPr>
            <a:r>
              <a:rPr lang="en-US" dirty="0"/>
              <a:t>Switch case operator </a:t>
            </a:r>
          </a:p>
          <a:p>
            <a:pPr marL="342900" indent="-342900">
              <a:buFont typeface="Arial" panose="020B0604020202020204" pitchFamily="34" charset="0"/>
              <a:buChar char="•"/>
            </a:pPr>
            <a:r>
              <a:rPr lang="en-US" dirty="0"/>
              <a:t>Conditional Rendering with enums</a:t>
            </a:r>
          </a:p>
        </p:txBody>
      </p:sp>
      <p:sp>
        <p:nvSpPr>
          <p:cNvPr id="9" name="Text Placeholder 4">
            <a:extLst>
              <a:ext uri="{FF2B5EF4-FFF2-40B4-BE49-F238E27FC236}">
                <a16:creationId xmlns:a16="http://schemas.microsoft.com/office/drawing/2014/main" id="{0D63D710-1F0C-47FA-808D-064AEFC05619}"/>
              </a:ext>
            </a:extLst>
          </p:cNvPr>
          <p:cNvSpPr txBox="1">
            <a:spLocks/>
          </p:cNvSpPr>
          <p:nvPr/>
        </p:nvSpPr>
        <p:spPr>
          <a:xfrm>
            <a:off x="5628443" y="3258105"/>
            <a:ext cx="4620459" cy="2952196"/>
          </a:xfrm>
          <a:prstGeom prst="rect">
            <a:avLst/>
          </a:prstGeom>
        </p:spPr>
        <p:txBody>
          <a:bodyPr lIns="0"/>
          <a:lstStyle>
            <a:lvl1pPr marL="0" indent="0" algn="l" defTabSz="914400" rtl="0" eaLnBrk="1" latinLnBrk="0" hangingPunct="1">
              <a:lnSpc>
                <a:spcPct val="90000"/>
              </a:lnSpc>
              <a:spcBef>
                <a:spcPts val="1000"/>
              </a:spcBef>
              <a:buFont typeface="Arial" panose="020B0604020202020204" pitchFamily="34" charset="0"/>
              <a:buNone/>
              <a:defRPr sz="2000" kern="1200" baseline="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panose="020B0604020202020204" pitchFamily="34" charset="0"/>
              <a:buChar char="•"/>
            </a:pPr>
            <a:r>
              <a:rPr lang="en-US" dirty="0"/>
              <a:t>Immediately-invoked function expressions (IIFE)</a:t>
            </a:r>
          </a:p>
          <a:p>
            <a:pPr marL="342900" indent="-342900">
              <a:buFont typeface="Arial" panose="020B0604020202020204" pitchFamily="34" charset="0"/>
              <a:buChar char="•"/>
            </a:pPr>
            <a:r>
              <a:rPr lang="en-US" dirty="0"/>
              <a:t>Subcomponents </a:t>
            </a:r>
          </a:p>
          <a:p>
            <a:pPr marL="342900" indent="-342900">
              <a:buFont typeface="Arial" panose="020B0604020202020204" pitchFamily="34" charset="0"/>
              <a:buChar char="•"/>
            </a:pPr>
            <a:r>
              <a:rPr lang="en-US" dirty="0"/>
              <a:t>Multi-Level Conditional Rendering</a:t>
            </a:r>
          </a:p>
          <a:p>
            <a:pPr marL="342900" indent="-342900">
              <a:buFont typeface="Arial" panose="020B0604020202020204" pitchFamily="34" charset="0"/>
              <a:buChar char="•"/>
            </a:pPr>
            <a:r>
              <a:rPr lang="en-US" dirty="0"/>
              <a:t>Higher-order components</a:t>
            </a:r>
            <a:endParaRPr lang="uk-UA" dirty="0"/>
          </a:p>
          <a:p>
            <a:pPr marL="342900" indent="-342900">
              <a:buFont typeface="Arial" panose="020B0604020202020204" pitchFamily="34" charset="0"/>
              <a:buChar char="•"/>
            </a:pPr>
            <a:r>
              <a:rPr lang="en-US" dirty="0"/>
              <a:t>External Templating Components</a:t>
            </a:r>
            <a:endParaRPr lang="uk-UA" dirty="0"/>
          </a:p>
          <a:p>
            <a:pPr marL="342900" indent="-342900">
              <a:buFont typeface="Arial" panose="020B0604020202020204" pitchFamily="34" charset="0"/>
              <a:buChar char="•"/>
            </a:pPr>
            <a:endParaRPr lang="uk-UA" dirty="0"/>
          </a:p>
        </p:txBody>
      </p:sp>
      <p:sp>
        <p:nvSpPr>
          <p:cNvPr id="2" name="TextBox 1">
            <a:extLst>
              <a:ext uri="{FF2B5EF4-FFF2-40B4-BE49-F238E27FC236}">
                <a16:creationId xmlns:a16="http://schemas.microsoft.com/office/drawing/2014/main" id="{2FC218E6-74AB-4992-9089-3464346E7311}"/>
              </a:ext>
            </a:extLst>
          </p:cNvPr>
          <p:cNvSpPr txBox="1"/>
          <p:nvPr/>
        </p:nvSpPr>
        <p:spPr>
          <a:xfrm>
            <a:off x="496190" y="1864336"/>
            <a:ext cx="10955784" cy="784830"/>
          </a:xfrm>
          <a:prstGeom prst="rect">
            <a:avLst/>
          </a:prstGeom>
          <a:noFill/>
        </p:spPr>
        <p:txBody>
          <a:bodyPr wrap="square" rtlCol="0">
            <a:spAutoFit/>
          </a:bodyPr>
          <a:lstStyle/>
          <a:p>
            <a:r>
              <a:rPr lang="en-US" sz="4500" dirty="0">
                <a:latin typeface="Open Sans" panose="020B0604020202020204" charset="0"/>
                <a:ea typeface="Open Sans" panose="020B0604020202020204" charset="0"/>
                <a:cs typeface="Open Sans" panose="020B0604020202020204" charset="0"/>
              </a:rPr>
              <a:t> </a:t>
            </a:r>
            <a:r>
              <a:rPr lang="en-US" sz="4500" b="1" dirty="0">
                <a:latin typeface="Open Sans" panose="020B0604020202020204" charset="0"/>
                <a:ea typeface="Open Sans" panose="020B0604020202020204" charset="0"/>
                <a:cs typeface="Open Sans" panose="020B0604020202020204" charset="0"/>
              </a:rPr>
              <a:t>of options for conditional rendering</a:t>
            </a:r>
          </a:p>
        </p:txBody>
      </p:sp>
    </p:spTree>
    <p:extLst>
      <p:ext uri="{BB962C8B-B14F-4D97-AF65-F5344CB8AC3E}">
        <p14:creationId xmlns:p14="http://schemas.microsoft.com/office/powerpoint/2010/main" val="30688828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685800" y="1714502"/>
            <a:ext cx="8422689" cy="3810000"/>
          </a:xfrm>
        </p:spPr>
        <p:txBody>
          <a:bodyPr/>
          <a:lstStyle/>
          <a:p>
            <a:r>
              <a:rPr lang="en-US" dirty="0"/>
              <a:t>The easiest way to have a conditional rendering is to use an if else in React in your render method. </a:t>
            </a:r>
          </a:p>
          <a:p>
            <a:r>
              <a:rPr lang="en-US" dirty="0"/>
              <a:t>Imagine you don’t want to render your component, because it doesn’t have the necessary props. </a:t>
            </a:r>
          </a:p>
          <a:p>
            <a:r>
              <a:rPr lang="en-US" dirty="0"/>
              <a:t>For instance, a List component shouldn’t render the list when there is no list of items. You can use an if statement to return earlier from the render lifecycle.</a:t>
            </a:r>
          </a:p>
        </p:txBody>
      </p:sp>
      <p:sp>
        <p:nvSpPr>
          <p:cNvPr id="6" name="Title 3">
            <a:extLst>
              <a:ext uri="{FF2B5EF4-FFF2-40B4-BE49-F238E27FC236}">
                <a16:creationId xmlns:a16="http://schemas.microsoft.com/office/drawing/2014/main" id="{552B119F-E694-4313-ADAC-69A9F9627046}"/>
              </a:ext>
            </a:extLst>
          </p:cNvPr>
          <p:cNvSpPr txBox="1">
            <a:spLocks/>
          </p:cNvSpPr>
          <p:nvPr/>
        </p:nvSpPr>
        <p:spPr>
          <a:xfrm>
            <a:off x="685800" y="0"/>
            <a:ext cx="10820400" cy="1714502"/>
          </a:xfrm>
          <a:prstGeom prst="rect">
            <a:avLst/>
          </a:prstGeom>
        </p:spPr>
        <p:txBody>
          <a:bodyPr lIns="0" anchor="t">
            <a:noAutofit/>
          </a:bodyPr>
          <a:lstStyle>
            <a:lvl1pPr algn="l" defTabSz="914400" rtl="0" eaLnBrk="1" latinLnBrk="0" hangingPunct="1">
              <a:lnSpc>
                <a:spcPts val="11000"/>
              </a:lnSpc>
              <a:spcBef>
                <a:spcPct val="0"/>
              </a:spcBef>
              <a:buNone/>
              <a:defRPr sz="12500" kern="1200">
                <a:solidFill>
                  <a:schemeClr val="tx1"/>
                </a:solidFill>
                <a:latin typeface="Proxima Nova Black" panose="02000506030000020004" pitchFamily="50" charset="0"/>
                <a:ea typeface="+mj-ea"/>
                <a:cs typeface="+mj-cs"/>
              </a:defRPr>
            </a:lvl1pPr>
          </a:lstStyle>
          <a:p>
            <a:r>
              <a:rPr lang="en-US" sz="4400" dirty="0"/>
              <a:t>If/Else</a:t>
            </a:r>
            <a:endParaRPr lang="uk-UA" sz="4400" dirty="0"/>
          </a:p>
        </p:txBody>
      </p:sp>
    </p:spTree>
    <p:extLst>
      <p:ext uri="{BB962C8B-B14F-4D97-AF65-F5344CB8AC3E}">
        <p14:creationId xmlns:p14="http://schemas.microsoft.com/office/powerpoint/2010/main" val="19393843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EB333EB-D34A-465C-AF56-91ED2C67FD03}"/>
              </a:ext>
            </a:extLst>
          </p:cNvPr>
          <p:cNvSpPr/>
          <p:nvPr/>
        </p:nvSpPr>
        <p:spPr>
          <a:xfrm>
            <a:off x="9966960" y="5692140"/>
            <a:ext cx="1539240" cy="64353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E57411CA-C856-489C-9DDB-1951B369A7EB}"/>
              </a:ext>
            </a:extLst>
          </p:cNvPr>
          <p:cNvSpPr txBox="1"/>
          <p:nvPr/>
        </p:nvSpPr>
        <p:spPr>
          <a:xfrm>
            <a:off x="328475" y="4275908"/>
            <a:ext cx="5078028" cy="1631216"/>
          </a:xfrm>
          <a:prstGeom prst="rect">
            <a:avLst/>
          </a:prstGeom>
          <a:noFill/>
        </p:spPr>
        <p:txBody>
          <a:bodyPr wrap="square" rtlCol="0">
            <a:spAutoFit/>
          </a:bodyPr>
          <a:lstStyle/>
          <a:p>
            <a:r>
              <a:rPr lang="en-US" sz="2000" dirty="0">
                <a:latin typeface="Open Sans" panose="020B0604020202020204" charset="0"/>
                <a:ea typeface="Open Sans" panose="020B0604020202020204" charset="0"/>
                <a:cs typeface="Open Sans" panose="020B0604020202020204" charset="0"/>
              </a:rPr>
              <a:t>A component that returns null will render nothing. However, you might want to show a text when a list is empty to give your app user some feedback for a better user experience.</a:t>
            </a:r>
          </a:p>
        </p:txBody>
      </p:sp>
      <p:sp>
        <p:nvSpPr>
          <p:cNvPr id="4" name="Rectangle 3">
            <a:extLst>
              <a:ext uri="{FF2B5EF4-FFF2-40B4-BE49-F238E27FC236}">
                <a16:creationId xmlns:a16="http://schemas.microsoft.com/office/drawing/2014/main" id="{F7F8B838-49D9-44DF-9199-6E5ADC9DE3B0}"/>
              </a:ext>
            </a:extLst>
          </p:cNvPr>
          <p:cNvSpPr/>
          <p:nvPr/>
        </p:nvSpPr>
        <p:spPr>
          <a:xfrm>
            <a:off x="5954282" y="4275908"/>
            <a:ext cx="6096000" cy="1631216"/>
          </a:xfrm>
          <a:prstGeom prst="rect">
            <a:avLst/>
          </a:prstGeom>
        </p:spPr>
        <p:txBody>
          <a:bodyPr>
            <a:spAutoFit/>
          </a:bodyPr>
          <a:lstStyle/>
          <a:p>
            <a:r>
              <a:rPr lang="en-US" sz="2000" dirty="0">
                <a:latin typeface="Open Sans" panose="020B0604020202020204" charset="0"/>
                <a:ea typeface="Open Sans" panose="020B0604020202020204" charset="0"/>
                <a:cs typeface="Open Sans" panose="020B0604020202020204" charset="0"/>
              </a:rPr>
              <a:t>The List renders either nothing, a text or the list of items. The if-else statement is the most basic option to have a conditional rendering in React.</a:t>
            </a:r>
          </a:p>
          <a:p>
            <a:br>
              <a:rPr lang="en-US" sz="2000" dirty="0">
                <a:latin typeface="Open Sans" panose="020B0604020202020204" charset="0"/>
                <a:ea typeface="Open Sans" panose="020B0604020202020204" charset="0"/>
                <a:cs typeface="Open Sans" panose="020B0604020202020204" charset="0"/>
              </a:rPr>
            </a:br>
            <a:endParaRPr lang="en-US" sz="2000" dirty="0">
              <a:latin typeface="Open Sans" panose="020B0604020202020204" charset="0"/>
              <a:ea typeface="Open Sans" panose="020B0604020202020204" charset="0"/>
              <a:cs typeface="Open Sans" panose="020B0604020202020204" charset="0"/>
            </a:endParaRPr>
          </a:p>
        </p:txBody>
      </p:sp>
      <p:pic>
        <p:nvPicPr>
          <p:cNvPr id="10" name="Picture 9">
            <a:extLst>
              <a:ext uri="{FF2B5EF4-FFF2-40B4-BE49-F238E27FC236}">
                <a16:creationId xmlns:a16="http://schemas.microsoft.com/office/drawing/2014/main" id="{07E2831C-A8C8-40F0-B4C8-78134957C1F1}"/>
              </a:ext>
            </a:extLst>
          </p:cNvPr>
          <p:cNvPicPr>
            <a:picLocks noChangeAspect="1"/>
          </p:cNvPicPr>
          <p:nvPr/>
        </p:nvPicPr>
        <p:blipFill>
          <a:blip r:embed="rId2"/>
          <a:stretch>
            <a:fillRect/>
          </a:stretch>
        </p:blipFill>
        <p:spPr>
          <a:xfrm>
            <a:off x="286907" y="539503"/>
            <a:ext cx="5667375" cy="2476500"/>
          </a:xfrm>
          <a:prstGeom prst="rect">
            <a:avLst/>
          </a:prstGeom>
        </p:spPr>
      </p:pic>
      <p:pic>
        <p:nvPicPr>
          <p:cNvPr id="11" name="Picture 10">
            <a:extLst>
              <a:ext uri="{FF2B5EF4-FFF2-40B4-BE49-F238E27FC236}">
                <a16:creationId xmlns:a16="http://schemas.microsoft.com/office/drawing/2014/main" id="{F5634FD7-A2F4-489E-8143-0222D747DB3E}"/>
              </a:ext>
            </a:extLst>
          </p:cNvPr>
          <p:cNvPicPr>
            <a:picLocks noChangeAspect="1"/>
          </p:cNvPicPr>
          <p:nvPr/>
        </p:nvPicPr>
        <p:blipFill>
          <a:blip r:embed="rId3"/>
          <a:stretch>
            <a:fillRect/>
          </a:stretch>
        </p:blipFill>
        <p:spPr>
          <a:xfrm>
            <a:off x="5954282" y="493729"/>
            <a:ext cx="5810250" cy="3381375"/>
          </a:xfrm>
          <a:prstGeom prst="rect">
            <a:avLst/>
          </a:prstGeom>
        </p:spPr>
      </p:pic>
    </p:spTree>
    <p:extLst>
      <p:ext uri="{BB962C8B-B14F-4D97-AF65-F5344CB8AC3E}">
        <p14:creationId xmlns:p14="http://schemas.microsoft.com/office/powerpoint/2010/main" val="16020410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685800" y="1714502"/>
            <a:ext cx="8422689" cy="3810000"/>
          </a:xfrm>
        </p:spPr>
        <p:txBody>
          <a:bodyPr/>
          <a:lstStyle/>
          <a:p>
            <a:r>
              <a:rPr lang="en-US" dirty="0"/>
              <a:t>Instead of using an if/else block we can use the ternary conditional operator:</a:t>
            </a:r>
          </a:p>
          <a:p>
            <a:endParaRPr lang="en-US" dirty="0"/>
          </a:p>
          <a:p>
            <a:endParaRPr lang="en-US" dirty="0"/>
          </a:p>
          <a:p>
            <a:endParaRPr lang="en-US" dirty="0"/>
          </a:p>
          <a:p>
            <a:r>
              <a:rPr lang="en-US" dirty="0"/>
              <a:t>The operator is wrapped in curly braces and the expressions can contain JSX, optionally wrapped in parentheses to improve readability.</a:t>
            </a:r>
          </a:p>
          <a:p>
            <a:r>
              <a:rPr lang="en-US" dirty="0"/>
              <a:t>And it can be applied in different parts of the component. Let’s apply it to the example so you can see this in action.</a:t>
            </a:r>
          </a:p>
          <a:p>
            <a:endParaRPr lang="en-US" dirty="0"/>
          </a:p>
        </p:txBody>
      </p:sp>
      <p:sp>
        <p:nvSpPr>
          <p:cNvPr id="6" name="Title 3">
            <a:extLst>
              <a:ext uri="{FF2B5EF4-FFF2-40B4-BE49-F238E27FC236}">
                <a16:creationId xmlns:a16="http://schemas.microsoft.com/office/drawing/2014/main" id="{552B119F-E694-4313-ADAC-69A9F9627046}"/>
              </a:ext>
            </a:extLst>
          </p:cNvPr>
          <p:cNvSpPr txBox="1">
            <a:spLocks/>
          </p:cNvSpPr>
          <p:nvPr/>
        </p:nvSpPr>
        <p:spPr>
          <a:xfrm>
            <a:off x="685800" y="0"/>
            <a:ext cx="10820400" cy="1714502"/>
          </a:xfrm>
          <a:prstGeom prst="rect">
            <a:avLst/>
          </a:prstGeom>
        </p:spPr>
        <p:txBody>
          <a:bodyPr lIns="0" anchor="t">
            <a:noAutofit/>
          </a:bodyPr>
          <a:lstStyle>
            <a:lvl1pPr algn="l" defTabSz="914400" rtl="0" eaLnBrk="1" latinLnBrk="0" hangingPunct="1">
              <a:lnSpc>
                <a:spcPts val="11000"/>
              </a:lnSpc>
              <a:spcBef>
                <a:spcPct val="0"/>
              </a:spcBef>
              <a:buNone/>
              <a:defRPr sz="12500" kern="1200">
                <a:solidFill>
                  <a:schemeClr val="tx1"/>
                </a:solidFill>
                <a:latin typeface="Proxima Nova Black" panose="02000506030000020004" pitchFamily="50" charset="0"/>
                <a:ea typeface="+mj-ea"/>
                <a:cs typeface="+mj-cs"/>
              </a:defRPr>
            </a:lvl1pPr>
          </a:lstStyle>
          <a:p>
            <a:r>
              <a:rPr lang="en-US" sz="4400" dirty="0"/>
              <a:t>Ternary operator</a:t>
            </a:r>
            <a:endParaRPr lang="uk-UA" sz="4400" dirty="0"/>
          </a:p>
        </p:txBody>
      </p:sp>
      <p:pic>
        <p:nvPicPr>
          <p:cNvPr id="3" name="Picture 2">
            <a:extLst>
              <a:ext uri="{FF2B5EF4-FFF2-40B4-BE49-F238E27FC236}">
                <a16:creationId xmlns:a16="http://schemas.microsoft.com/office/drawing/2014/main" id="{D56B3ED3-7BEA-4C92-96F4-DF3DF1901034}"/>
              </a:ext>
            </a:extLst>
          </p:cNvPr>
          <p:cNvPicPr>
            <a:picLocks noChangeAspect="1"/>
          </p:cNvPicPr>
          <p:nvPr/>
        </p:nvPicPr>
        <p:blipFill>
          <a:blip r:embed="rId2"/>
          <a:stretch>
            <a:fillRect/>
          </a:stretch>
        </p:blipFill>
        <p:spPr>
          <a:xfrm>
            <a:off x="685800" y="2513814"/>
            <a:ext cx="5057775" cy="676275"/>
          </a:xfrm>
          <a:prstGeom prst="rect">
            <a:avLst/>
          </a:prstGeom>
        </p:spPr>
      </p:pic>
    </p:spTree>
    <p:extLst>
      <p:ext uri="{BB962C8B-B14F-4D97-AF65-F5344CB8AC3E}">
        <p14:creationId xmlns:p14="http://schemas.microsoft.com/office/powerpoint/2010/main" val="12151225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E57411CA-C856-489C-9DDB-1951B369A7EB}"/>
              </a:ext>
            </a:extLst>
          </p:cNvPr>
          <p:cNvSpPr txBox="1"/>
          <p:nvPr/>
        </p:nvSpPr>
        <p:spPr>
          <a:xfrm>
            <a:off x="343579" y="5007733"/>
            <a:ext cx="5078028" cy="1631216"/>
          </a:xfrm>
          <a:prstGeom prst="rect">
            <a:avLst/>
          </a:prstGeom>
          <a:noFill/>
        </p:spPr>
        <p:txBody>
          <a:bodyPr wrap="square" rtlCol="0">
            <a:spAutoFit/>
          </a:bodyPr>
          <a:lstStyle/>
          <a:p>
            <a:r>
              <a:rPr lang="en-US" sz="2000" dirty="0">
                <a:latin typeface="Open Sans" panose="020B0604020202020204" charset="0"/>
                <a:ea typeface="Open Sans" panose="020B0604020202020204" charset="0"/>
                <a:cs typeface="Open Sans" panose="020B0604020202020204" charset="0"/>
              </a:rPr>
              <a:t>The ternary operation makes the conditional rendering in React more concise than the if-else statement. It is simple to inline it in your return statement.</a:t>
            </a:r>
          </a:p>
        </p:txBody>
      </p:sp>
      <p:sp>
        <p:nvSpPr>
          <p:cNvPr id="4" name="Rectangle 3">
            <a:extLst>
              <a:ext uri="{FF2B5EF4-FFF2-40B4-BE49-F238E27FC236}">
                <a16:creationId xmlns:a16="http://schemas.microsoft.com/office/drawing/2014/main" id="{F7F8B838-49D9-44DF-9199-6E5ADC9DE3B0}"/>
              </a:ext>
            </a:extLst>
          </p:cNvPr>
          <p:cNvSpPr/>
          <p:nvPr/>
        </p:nvSpPr>
        <p:spPr>
          <a:xfrm>
            <a:off x="5980915" y="5007733"/>
            <a:ext cx="6096000" cy="1323439"/>
          </a:xfrm>
          <a:prstGeom prst="rect">
            <a:avLst/>
          </a:prstGeom>
        </p:spPr>
        <p:txBody>
          <a:bodyPr>
            <a:spAutoFit/>
          </a:bodyPr>
          <a:lstStyle/>
          <a:p>
            <a:r>
              <a:rPr lang="en-US" sz="2000" dirty="0">
                <a:latin typeface="Open Sans" panose="020B0604020202020204" charset="0"/>
                <a:ea typeface="Open Sans" panose="020B0604020202020204" charset="0"/>
                <a:cs typeface="Open Sans" panose="020B0604020202020204" charset="0"/>
              </a:rPr>
              <a:t>If your blocks in both branches of the ternary operation are getting bigger, you can use parentheses.</a:t>
            </a:r>
            <a:br>
              <a:rPr lang="en-US" sz="2000" dirty="0">
                <a:latin typeface="Open Sans" panose="020B0604020202020204" charset="0"/>
                <a:ea typeface="Open Sans" panose="020B0604020202020204" charset="0"/>
                <a:cs typeface="Open Sans" panose="020B0604020202020204" charset="0"/>
              </a:rPr>
            </a:br>
            <a:endParaRPr lang="en-US" sz="2000" dirty="0">
              <a:latin typeface="Open Sans" panose="020B0604020202020204" charset="0"/>
              <a:ea typeface="Open Sans" panose="020B0604020202020204" charset="0"/>
              <a:cs typeface="Open Sans" panose="020B0604020202020204" charset="0"/>
            </a:endParaRPr>
          </a:p>
        </p:txBody>
      </p:sp>
      <p:sp>
        <p:nvSpPr>
          <p:cNvPr id="2" name="Rectangle 1">
            <a:extLst>
              <a:ext uri="{FF2B5EF4-FFF2-40B4-BE49-F238E27FC236}">
                <a16:creationId xmlns:a16="http://schemas.microsoft.com/office/drawing/2014/main" id="{80283078-2131-4788-9CBB-F831A53A1DBE}"/>
              </a:ext>
            </a:extLst>
          </p:cNvPr>
          <p:cNvSpPr/>
          <p:nvPr/>
        </p:nvSpPr>
        <p:spPr>
          <a:xfrm>
            <a:off x="402455" y="504599"/>
            <a:ext cx="10126462" cy="1015663"/>
          </a:xfrm>
          <a:prstGeom prst="rect">
            <a:avLst/>
          </a:prstGeom>
        </p:spPr>
        <p:txBody>
          <a:bodyPr wrap="square">
            <a:spAutoFit/>
          </a:bodyPr>
          <a:lstStyle/>
          <a:p>
            <a:r>
              <a:rPr lang="en-US" sz="2000" dirty="0">
                <a:latin typeface="Open Sans" panose="020B0604020202020204" charset="0"/>
                <a:ea typeface="Open Sans" panose="020B0604020202020204" charset="0"/>
                <a:cs typeface="Open Sans" panose="020B0604020202020204" charset="0"/>
              </a:rPr>
              <a:t>For instance, imagine you have a toggle to switch between two modes, edit and view, in your component. The derived condition is a simple Boolean. You can use the Boolean to decide which element you want to return.</a:t>
            </a:r>
          </a:p>
        </p:txBody>
      </p:sp>
      <p:pic>
        <p:nvPicPr>
          <p:cNvPr id="5" name="Picture 4">
            <a:extLst>
              <a:ext uri="{FF2B5EF4-FFF2-40B4-BE49-F238E27FC236}">
                <a16:creationId xmlns:a16="http://schemas.microsoft.com/office/drawing/2014/main" id="{AE271C08-D5DA-40FC-BA7C-9488BA336C01}"/>
              </a:ext>
            </a:extLst>
          </p:cNvPr>
          <p:cNvPicPr>
            <a:picLocks noChangeAspect="1"/>
          </p:cNvPicPr>
          <p:nvPr/>
        </p:nvPicPr>
        <p:blipFill>
          <a:blip r:embed="rId2"/>
          <a:stretch>
            <a:fillRect/>
          </a:stretch>
        </p:blipFill>
        <p:spPr>
          <a:xfrm>
            <a:off x="343579" y="1750981"/>
            <a:ext cx="4533900" cy="2486025"/>
          </a:xfrm>
          <a:prstGeom prst="rect">
            <a:avLst/>
          </a:prstGeom>
        </p:spPr>
      </p:pic>
      <p:pic>
        <p:nvPicPr>
          <p:cNvPr id="6" name="Picture 5">
            <a:extLst>
              <a:ext uri="{FF2B5EF4-FFF2-40B4-BE49-F238E27FC236}">
                <a16:creationId xmlns:a16="http://schemas.microsoft.com/office/drawing/2014/main" id="{1ED5690D-F6FF-4B7E-B6EF-D366C6E9F94E}"/>
              </a:ext>
            </a:extLst>
          </p:cNvPr>
          <p:cNvPicPr>
            <a:picLocks noChangeAspect="1"/>
          </p:cNvPicPr>
          <p:nvPr/>
        </p:nvPicPr>
        <p:blipFill>
          <a:blip r:embed="rId3"/>
          <a:stretch>
            <a:fillRect/>
          </a:stretch>
        </p:blipFill>
        <p:spPr>
          <a:xfrm>
            <a:off x="5980915" y="1750981"/>
            <a:ext cx="4352925" cy="2933700"/>
          </a:xfrm>
          <a:prstGeom prst="rect">
            <a:avLst/>
          </a:prstGeom>
        </p:spPr>
      </p:pic>
    </p:spTree>
    <p:extLst>
      <p:ext uri="{BB962C8B-B14F-4D97-AF65-F5344CB8AC3E}">
        <p14:creationId xmlns:p14="http://schemas.microsoft.com/office/powerpoint/2010/main" val="23642502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685798" y="1714502"/>
            <a:ext cx="9789851" cy="2120651"/>
          </a:xfrm>
        </p:spPr>
        <p:txBody>
          <a:bodyPr/>
          <a:lstStyle/>
          <a:p>
            <a:r>
              <a:rPr lang="en-US" dirty="0"/>
              <a:t>It happens often that you want to render either an element or nothing. For instance, you could have a LoadingIndicator component that returns a loading text or nothing. You can do it in JSX with an if statement or ternary operation.</a:t>
            </a:r>
          </a:p>
          <a:p>
            <a:r>
              <a:rPr lang="en-US" dirty="0"/>
              <a:t>But there is an alternative way that omits the necessity to return null. The logical &amp;&amp; operator helps you to make conditions that would return null more concise.</a:t>
            </a:r>
          </a:p>
          <a:p>
            <a:endParaRPr lang="en-US" dirty="0"/>
          </a:p>
        </p:txBody>
      </p:sp>
      <p:sp>
        <p:nvSpPr>
          <p:cNvPr id="6" name="Title 3">
            <a:extLst>
              <a:ext uri="{FF2B5EF4-FFF2-40B4-BE49-F238E27FC236}">
                <a16:creationId xmlns:a16="http://schemas.microsoft.com/office/drawing/2014/main" id="{552B119F-E694-4313-ADAC-69A9F9627046}"/>
              </a:ext>
            </a:extLst>
          </p:cNvPr>
          <p:cNvSpPr txBox="1">
            <a:spLocks/>
          </p:cNvSpPr>
          <p:nvPr/>
        </p:nvSpPr>
        <p:spPr>
          <a:xfrm>
            <a:off x="685800" y="0"/>
            <a:ext cx="10820400" cy="1714502"/>
          </a:xfrm>
          <a:prstGeom prst="rect">
            <a:avLst/>
          </a:prstGeom>
        </p:spPr>
        <p:txBody>
          <a:bodyPr lIns="0" anchor="t">
            <a:noAutofit/>
          </a:bodyPr>
          <a:lstStyle>
            <a:lvl1pPr algn="l" defTabSz="914400" rtl="0" eaLnBrk="1" latinLnBrk="0" hangingPunct="1">
              <a:lnSpc>
                <a:spcPts val="11000"/>
              </a:lnSpc>
              <a:spcBef>
                <a:spcPct val="0"/>
              </a:spcBef>
              <a:buNone/>
              <a:defRPr sz="12500" kern="1200">
                <a:solidFill>
                  <a:schemeClr val="tx1"/>
                </a:solidFill>
                <a:latin typeface="Proxima Nova Black" panose="02000506030000020004" pitchFamily="50" charset="0"/>
                <a:ea typeface="+mj-ea"/>
                <a:cs typeface="+mj-cs"/>
              </a:defRPr>
            </a:lvl1pPr>
          </a:lstStyle>
          <a:p>
            <a:r>
              <a:rPr lang="en-US" sz="4400" dirty="0"/>
              <a:t>Logical &amp;&amp; operator</a:t>
            </a:r>
            <a:endParaRPr lang="uk-UA" sz="4400" dirty="0"/>
          </a:p>
        </p:txBody>
      </p:sp>
      <p:pic>
        <p:nvPicPr>
          <p:cNvPr id="7" name="Picture 6">
            <a:extLst>
              <a:ext uri="{FF2B5EF4-FFF2-40B4-BE49-F238E27FC236}">
                <a16:creationId xmlns:a16="http://schemas.microsoft.com/office/drawing/2014/main" id="{7B8A4ED3-27F1-4A5B-9170-184197B12934}"/>
              </a:ext>
            </a:extLst>
          </p:cNvPr>
          <p:cNvPicPr>
            <a:picLocks noChangeAspect="1"/>
          </p:cNvPicPr>
          <p:nvPr/>
        </p:nvPicPr>
        <p:blipFill>
          <a:blip r:embed="rId2"/>
          <a:stretch>
            <a:fillRect/>
          </a:stretch>
        </p:blipFill>
        <p:spPr>
          <a:xfrm>
            <a:off x="601000" y="3571874"/>
            <a:ext cx="4400550" cy="1571625"/>
          </a:xfrm>
          <a:prstGeom prst="rect">
            <a:avLst/>
          </a:prstGeom>
        </p:spPr>
      </p:pic>
      <p:sp>
        <p:nvSpPr>
          <p:cNvPr id="11" name="Rectangle 10">
            <a:extLst>
              <a:ext uri="{FF2B5EF4-FFF2-40B4-BE49-F238E27FC236}">
                <a16:creationId xmlns:a16="http://schemas.microsoft.com/office/drawing/2014/main" id="{4569ABFB-4164-44B6-91C6-01DF6B47CC59}"/>
              </a:ext>
            </a:extLst>
          </p:cNvPr>
          <p:cNvSpPr/>
          <p:nvPr/>
        </p:nvSpPr>
        <p:spPr>
          <a:xfrm>
            <a:off x="6096000" y="3528042"/>
            <a:ext cx="4400550" cy="1938992"/>
          </a:xfrm>
          <a:prstGeom prst="rect">
            <a:avLst/>
          </a:prstGeom>
        </p:spPr>
        <p:txBody>
          <a:bodyPr wrap="square">
            <a:spAutoFit/>
          </a:bodyPr>
          <a:lstStyle/>
          <a:p>
            <a:r>
              <a:rPr lang="en-US" sz="2000" b="1" dirty="0">
                <a:latin typeface="Open Sans" panose="020B0604020202020204" charset="0"/>
                <a:ea typeface="Open Sans" panose="020B0604020202020204" charset="0"/>
                <a:cs typeface="Open Sans" panose="020B0604020202020204" charset="0"/>
              </a:rPr>
              <a:t>How does it work?</a:t>
            </a:r>
          </a:p>
          <a:p>
            <a:r>
              <a:rPr lang="en-US" sz="2000" dirty="0">
                <a:latin typeface="Open Sans" panose="020B0604020202020204" charset="0"/>
                <a:ea typeface="Open Sans" panose="020B0604020202020204" charset="0"/>
                <a:cs typeface="Open Sans" panose="020B0604020202020204" charset="0"/>
              </a:rPr>
              <a:t>In JavaScript a true &amp;&amp; 'Hello World' always evaluates to ‘Hello World’. </a:t>
            </a:r>
          </a:p>
          <a:p>
            <a:endParaRPr lang="en-US" sz="2000" dirty="0">
              <a:latin typeface="Open Sans" panose="020B0604020202020204" charset="0"/>
              <a:ea typeface="Open Sans" panose="020B0604020202020204" charset="0"/>
              <a:cs typeface="Open Sans" panose="020B0604020202020204" charset="0"/>
            </a:endParaRPr>
          </a:p>
          <a:p>
            <a:r>
              <a:rPr lang="en-US" sz="2000" dirty="0">
                <a:latin typeface="Open Sans" panose="020B0604020202020204" charset="0"/>
                <a:ea typeface="Open Sans" panose="020B0604020202020204" charset="0"/>
                <a:cs typeface="Open Sans" panose="020B0604020202020204" charset="0"/>
              </a:rPr>
              <a:t>A false &amp;&amp; 'Hello World' always evaluates to false.</a:t>
            </a:r>
            <a:endParaRPr lang="en-US" sz="2000" b="0" dirty="0">
              <a:effectLst/>
              <a:latin typeface="Open Sans" panose="020B0604020202020204" charset="0"/>
              <a:ea typeface="Open Sans" panose="020B0604020202020204" charset="0"/>
              <a:cs typeface="Open Sans" panose="020B0604020202020204" charset="0"/>
            </a:endParaRPr>
          </a:p>
        </p:txBody>
      </p:sp>
    </p:spTree>
    <p:extLst>
      <p:ext uri="{BB962C8B-B14F-4D97-AF65-F5344CB8AC3E}">
        <p14:creationId xmlns:p14="http://schemas.microsoft.com/office/powerpoint/2010/main" val="12521672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0283078-2131-4788-9CBB-F831A53A1DBE}"/>
              </a:ext>
            </a:extLst>
          </p:cNvPr>
          <p:cNvSpPr/>
          <p:nvPr/>
        </p:nvSpPr>
        <p:spPr>
          <a:xfrm>
            <a:off x="402455" y="1227620"/>
            <a:ext cx="10126462" cy="1323439"/>
          </a:xfrm>
          <a:prstGeom prst="rect">
            <a:avLst/>
          </a:prstGeom>
        </p:spPr>
        <p:txBody>
          <a:bodyPr wrap="square">
            <a:spAutoFit/>
          </a:bodyPr>
          <a:lstStyle/>
          <a:p>
            <a:r>
              <a:rPr lang="en-US" sz="2000" dirty="0">
                <a:latin typeface="Open Sans" panose="020B0604020202020204" charset="0"/>
                <a:ea typeface="Open Sans" panose="020B0604020202020204" charset="0"/>
                <a:cs typeface="Open Sans" panose="020B0604020202020204" charset="0"/>
              </a:rPr>
              <a:t>In React you can make use of that behavior. If the condition is true, the expression after the logical &amp;&amp; operator will be the output. If the condition is false, React ignores and skips the expression.</a:t>
            </a:r>
          </a:p>
          <a:p>
            <a:endParaRPr lang="en-US" sz="2000" dirty="0">
              <a:latin typeface="Open Sans" panose="020B0604020202020204" charset="0"/>
              <a:ea typeface="Open Sans" panose="020B0604020202020204" charset="0"/>
              <a:cs typeface="Open Sans" panose="020B0604020202020204" charset="0"/>
            </a:endParaRPr>
          </a:p>
        </p:txBody>
      </p:sp>
      <p:pic>
        <p:nvPicPr>
          <p:cNvPr id="3" name="Picture 2">
            <a:extLst>
              <a:ext uri="{FF2B5EF4-FFF2-40B4-BE49-F238E27FC236}">
                <a16:creationId xmlns:a16="http://schemas.microsoft.com/office/drawing/2014/main" id="{94887827-5053-452C-A8C6-57FE809740F4}"/>
              </a:ext>
            </a:extLst>
          </p:cNvPr>
          <p:cNvPicPr>
            <a:picLocks noChangeAspect="1"/>
          </p:cNvPicPr>
          <p:nvPr/>
        </p:nvPicPr>
        <p:blipFill>
          <a:blip r:embed="rId2"/>
          <a:stretch>
            <a:fillRect/>
          </a:stretch>
        </p:blipFill>
        <p:spPr>
          <a:xfrm>
            <a:off x="402455" y="2431800"/>
            <a:ext cx="4829175" cy="1600200"/>
          </a:xfrm>
          <a:prstGeom prst="rect">
            <a:avLst/>
          </a:prstGeom>
        </p:spPr>
      </p:pic>
      <p:sp>
        <p:nvSpPr>
          <p:cNvPr id="7" name="Rectangle 6">
            <a:extLst>
              <a:ext uri="{FF2B5EF4-FFF2-40B4-BE49-F238E27FC236}">
                <a16:creationId xmlns:a16="http://schemas.microsoft.com/office/drawing/2014/main" id="{14872E8D-171A-431F-8572-72069E45E091}"/>
              </a:ext>
            </a:extLst>
          </p:cNvPr>
          <p:cNvSpPr/>
          <p:nvPr/>
        </p:nvSpPr>
        <p:spPr>
          <a:xfrm>
            <a:off x="491232" y="4354004"/>
            <a:ext cx="9780232" cy="1631216"/>
          </a:xfrm>
          <a:prstGeom prst="rect">
            <a:avLst/>
          </a:prstGeom>
        </p:spPr>
        <p:txBody>
          <a:bodyPr wrap="square">
            <a:spAutoFit/>
          </a:bodyPr>
          <a:lstStyle/>
          <a:p>
            <a:r>
              <a:rPr lang="en-US" sz="2000" dirty="0">
                <a:latin typeface="Open Sans" panose="020B0604020202020204" charset="0"/>
                <a:ea typeface="Open Sans" panose="020B0604020202020204" charset="0"/>
                <a:cs typeface="Open Sans" panose="020B0604020202020204" charset="0"/>
              </a:rPr>
              <a:t>That’s your way to go when you want to return an element or nothing. The technique is also called short-circuit evaluation. It makes it even more concise than a ternary operation when you would return null for a condition.</a:t>
            </a:r>
          </a:p>
          <a:p>
            <a:br>
              <a:rPr lang="en-US" sz="2000" dirty="0">
                <a:latin typeface="Open Sans" panose="020B0604020202020204" charset="0"/>
                <a:ea typeface="Open Sans" panose="020B0604020202020204" charset="0"/>
                <a:cs typeface="Open Sans" panose="020B0604020202020204" charset="0"/>
              </a:rPr>
            </a:br>
            <a:endParaRPr lang="en-US" sz="2000" dirty="0">
              <a:latin typeface="Open Sans" panose="020B0604020202020204" charset="0"/>
              <a:ea typeface="Open Sans" panose="020B0604020202020204" charset="0"/>
              <a:cs typeface="Open Sans" panose="020B0604020202020204" charset="0"/>
            </a:endParaRPr>
          </a:p>
        </p:txBody>
      </p:sp>
    </p:spTree>
    <p:extLst>
      <p:ext uri="{BB962C8B-B14F-4D97-AF65-F5344CB8AC3E}">
        <p14:creationId xmlns:p14="http://schemas.microsoft.com/office/powerpoint/2010/main" val="8417029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676920" y="1752233"/>
            <a:ext cx="5324385" cy="3609880"/>
          </a:xfrm>
        </p:spPr>
        <p:txBody>
          <a:bodyPr/>
          <a:lstStyle/>
          <a:p>
            <a:r>
              <a:rPr lang="en-US" dirty="0"/>
              <a:t>Now there might be cases where you have multiple conditional renderings. For instance, the conditional rendering could apply based on different states. </a:t>
            </a:r>
          </a:p>
          <a:p>
            <a:r>
              <a:rPr lang="en-US" dirty="0"/>
              <a:t>Let’s imagine a notification component that can render an error, warning or info component based on the input state. You can use a switch case operator to handle the conditional rendering of these multiple states.</a:t>
            </a:r>
          </a:p>
        </p:txBody>
      </p:sp>
      <p:sp>
        <p:nvSpPr>
          <p:cNvPr id="8" name="Title 3">
            <a:extLst>
              <a:ext uri="{FF2B5EF4-FFF2-40B4-BE49-F238E27FC236}">
                <a16:creationId xmlns:a16="http://schemas.microsoft.com/office/drawing/2014/main" id="{610ACB98-FF01-48AF-903E-F19B49005189}"/>
              </a:ext>
            </a:extLst>
          </p:cNvPr>
          <p:cNvSpPr txBox="1">
            <a:spLocks/>
          </p:cNvSpPr>
          <p:nvPr/>
        </p:nvSpPr>
        <p:spPr>
          <a:xfrm>
            <a:off x="838200" y="152399"/>
            <a:ext cx="10820400" cy="575569"/>
          </a:xfrm>
          <a:prstGeom prst="rect">
            <a:avLst/>
          </a:prstGeom>
        </p:spPr>
        <p:txBody>
          <a:bodyPr lIns="0" anchor="t">
            <a:noAutofit/>
          </a:bodyPr>
          <a:lstStyle>
            <a:lvl1pPr algn="l" defTabSz="914400" rtl="0" eaLnBrk="1" latinLnBrk="0" hangingPunct="1">
              <a:lnSpc>
                <a:spcPts val="11000"/>
              </a:lnSpc>
              <a:spcBef>
                <a:spcPct val="0"/>
              </a:spcBef>
              <a:buNone/>
              <a:defRPr sz="12500" kern="1200">
                <a:solidFill>
                  <a:schemeClr val="tx1"/>
                </a:solidFill>
                <a:latin typeface="Proxima Nova Black" panose="02000506030000020004" pitchFamily="50" charset="0"/>
                <a:ea typeface="+mj-ea"/>
                <a:cs typeface="+mj-cs"/>
              </a:defRPr>
            </a:lvl1pPr>
          </a:lstStyle>
          <a:p>
            <a:pPr>
              <a:lnSpc>
                <a:spcPct val="150000"/>
              </a:lnSpc>
            </a:pPr>
            <a:r>
              <a:rPr lang="en-US" sz="4400" dirty="0"/>
              <a:t>Switch case operator</a:t>
            </a:r>
            <a:endParaRPr lang="uk-UA" sz="4400" dirty="0"/>
          </a:p>
        </p:txBody>
      </p:sp>
      <p:pic>
        <p:nvPicPr>
          <p:cNvPr id="2" name="Picture 1">
            <a:extLst>
              <a:ext uri="{FF2B5EF4-FFF2-40B4-BE49-F238E27FC236}">
                <a16:creationId xmlns:a16="http://schemas.microsoft.com/office/drawing/2014/main" id="{E6A1689B-A344-4B24-84FD-65AA6349244D}"/>
              </a:ext>
            </a:extLst>
          </p:cNvPr>
          <p:cNvPicPr>
            <a:picLocks noChangeAspect="1"/>
          </p:cNvPicPr>
          <p:nvPr/>
        </p:nvPicPr>
        <p:blipFill>
          <a:blip r:embed="rId2"/>
          <a:stretch>
            <a:fillRect/>
          </a:stretch>
        </p:blipFill>
        <p:spPr>
          <a:xfrm>
            <a:off x="6405331" y="1752233"/>
            <a:ext cx="4743450" cy="2733675"/>
          </a:xfrm>
          <a:prstGeom prst="rect">
            <a:avLst/>
          </a:prstGeom>
        </p:spPr>
      </p:pic>
      <p:sp>
        <p:nvSpPr>
          <p:cNvPr id="4" name="Rectangle 3">
            <a:extLst>
              <a:ext uri="{FF2B5EF4-FFF2-40B4-BE49-F238E27FC236}">
                <a16:creationId xmlns:a16="http://schemas.microsoft.com/office/drawing/2014/main" id="{44F1BDAF-D042-47A4-BF55-CC4A17F5EE85}"/>
              </a:ext>
            </a:extLst>
          </p:cNvPr>
          <p:cNvSpPr/>
          <p:nvPr/>
        </p:nvSpPr>
        <p:spPr>
          <a:xfrm>
            <a:off x="553374" y="5048508"/>
            <a:ext cx="9726967" cy="707886"/>
          </a:xfrm>
          <a:prstGeom prst="rect">
            <a:avLst/>
          </a:prstGeom>
        </p:spPr>
        <p:txBody>
          <a:bodyPr wrap="square">
            <a:spAutoFit/>
          </a:bodyPr>
          <a:lstStyle/>
          <a:p>
            <a:r>
              <a:rPr lang="en-US" sz="2000" dirty="0">
                <a:latin typeface="Open Sans" panose="020B0604020202020204" charset="0"/>
                <a:ea typeface="Open Sans" panose="020B0604020202020204" charset="0"/>
                <a:cs typeface="Open Sans" panose="020B0604020202020204" charset="0"/>
              </a:rPr>
              <a:t>Please note that you always have to use the default for the switch case operator. In React a component has always to return an element or null.</a:t>
            </a:r>
          </a:p>
        </p:txBody>
      </p:sp>
    </p:spTree>
    <p:extLst>
      <p:ext uri="{BB962C8B-B14F-4D97-AF65-F5344CB8AC3E}">
        <p14:creationId xmlns:p14="http://schemas.microsoft.com/office/powerpoint/2010/main" val="17636747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0283078-2131-4788-9CBB-F831A53A1DBE}"/>
              </a:ext>
            </a:extLst>
          </p:cNvPr>
          <p:cNvSpPr/>
          <p:nvPr/>
        </p:nvSpPr>
        <p:spPr>
          <a:xfrm>
            <a:off x="366945" y="1092166"/>
            <a:ext cx="4981575" cy="3785652"/>
          </a:xfrm>
          <a:prstGeom prst="rect">
            <a:avLst/>
          </a:prstGeom>
        </p:spPr>
        <p:txBody>
          <a:bodyPr wrap="square">
            <a:spAutoFit/>
          </a:bodyPr>
          <a:lstStyle/>
          <a:p>
            <a:r>
              <a:rPr lang="en-US" sz="2000" dirty="0">
                <a:latin typeface="Open Sans" panose="020B0604020202020204" charset="0"/>
                <a:ea typeface="Open Sans" panose="020B0604020202020204" charset="0"/>
                <a:cs typeface="Open Sans" panose="020B0604020202020204" charset="0"/>
              </a:rPr>
              <a:t>Now you have one generic component to show different kinds of notifications. </a:t>
            </a:r>
          </a:p>
          <a:p>
            <a:endParaRPr lang="en-US" sz="2000" dirty="0">
              <a:latin typeface="Open Sans" panose="020B0604020202020204" charset="0"/>
              <a:ea typeface="Open Sans" panose="020B0604020202020204" charset="0"/>
              <a:cs typeface="Open Sans" panose="020B0604020202020204" charset="0"/>
            </a:endParaRPr>
          </a:p>
          <a:p>
            <a:r>
              <a:rPr lang="en-US" sz="2000" dirty="0">
                <a:latin typeface="Open Sans" panose="020B0604020202020204" charset="0"/>
                <a:ea typeface="Open Sans" panose="020B0604020202020204" charset="0"/>
                <a:cs typeface="Open Sans" panose="020B0604020202020204" charset="0"/>
              </a:rPr>
              <a:t>For instance, based on the state prop the component could have different looks. An error could be red, a warning would be yellow and an info could be blue. </a:t>
            </a:r>
          </a:p>
          <a:p>
            <a:endParaRPr lang="en-US" sz="2000" dirty="0">
              <a:latin typeface="Open Sans" panose="020B0604020202020204" charset="0"/>
              <a:ea typeface="Open Sans" panose="020B0604020202020204" charset="0"/>
              <a:cs typeface="Open Sans" panose="020B0604020202020204" charset="0"/>
            </a:endParaRPr>
          </a:p>
          <a:p>
            <a:r>
              <a:rPr lang="en-US" sz="2000" dirty="0">
                <a:latin typeface="Open Sans" panose="020B0604020202020204" charset="0"/>
                <a:ea typeface="Open Sans" panose="020B0604020202020204" charset="0"/>
                <a:cs typeface="Open Sans" panose="020B0604020202020204" charset="0"/>
              </a:rPr>
              <a:t>An alternative way would be to inline the switch case. Therefore you would need a self invoking JavaScript function.</a:t>
            </a:r>
          </a:p>
        </p:txBody>
      </p:sp>
      <p:pic>
        <p:nvPicPr>
          <p:cNvPr id="6" name="Picture 5">
            <a:extLst>
              <a:ext uri="{FF2B5EF4-FFF2-40B4-BE49-F238E27FC236}">
                <a16:creationId xmlns:a16="http://schemas.microsoft.com/office/drawing/2014/main" id="{046392E2-40D6-42F7-9203-0FAB2D142EAF}"/>
              </a:ext>
            </a:extLst>
          </p:cNvPr>
          <p:cNvPicPr>
            <a:picLocks noChangeAspect="1"/>
          </p:cNvPicPr>
          <p:nvPr/>
        </p:nvPicPr>
        <p:blipFill>
          <a:blip r:embed="rId2"/>
          <a:stretch>
            <a:fillRect/>
          </a:stretch>
        </p:blipFill>
        <p:spPr>
          <a:xfrm>
            <a:off x="6096000" y="1092166"/>
            <a:ext cx="4981575" cy="4067175"/>
          </a:xfrm>
          <a:prstGeom prst="rect">
            <a:avLst/>
          </a:prstGeom>
        </p:spPr>
      </p:pic>
    </p:spTree>
    <p:extLst>
      <p:ext uri="{BB962C8B-B14F-4D97-AF65-F5344CB8AC3E}">
        <p14:creationId xmlns:p14="http://schemas.microsoft.com/office/powerpoint/2010/main" val="7611924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685797" y="1466483"/>
            <a:ext cx="4250187" cy="689126"/>
          </a:xfrm>
        </p:spPr>
        <p:txBody>
          <a:bodyPr/>
          <a:lstStyle/>
          <a:p>
            <a:r>
              <a:rPr lang="en-US" dirty="0"/>
              <a:t>In JavaScript an object can be used as an </a:t>
            </a:r>
            <a:r>
              <a:rPr lang="en-US" dirty="0" err="1"/>
              <a:t>enum</a:t>
            </a:r>
            <a:r>
              <a:rPr lang="en-US" dirty="0"/>
              <a:t> when the object is used as a map of key value pairs.</a:t>
            </a:r>
          </a:p>
          <a:p>
            <a:br>
              <a:rPr lang="en-US" dirty="0"/>
            </a:br>
            <a:endParaRPr lang="en-US" dirty="0"/>
          </a:p>
        </p:txBody>
      </p:sp>
      <p:sp>
        <p:nvSpPr>
          <p:cNvPr id="8" name="Title 3">
            <a:extLst>
              <a:ext uri="{FF2B5EF4-FFF2-40B4-BE49-F238E27FC236}">
                <a16:creationId xmlns:a16="http://schemas.microsoft.com/office/drawing/2014/main" id="{610ACB98-FF01-48AF-903E-F19B49005189}"/>
              </a:ext>
            </a:extLst>
          </p:cNvPr>
          <p:cNvSpPr txBox="1">
            <a:spLocks/>
          </p:cNvSpPr>
          <p:nvPr/>
        </p:nvSpPr>
        <p:spPr>
          <a:xfrm>
            <a:off x="838200" y="152399"/>
            <a:ext cx="10820400" cy="575569"/>
          </a:xfrm>
          <a:prstGeom prst="rect">
            <a:avLst/>
          </a:prstGeom>
        </p:spPr>
        <p:txBody>
          <a:bodyPr lIns="0" anchor="t">
            <a:noAutofit/>
          </a:bodyPr>
          <a:lstStyle>
            <a:lvl1pPr algn="l" defTabSz="914400" rtl="0" eaLnBrk="1" latinLnBrk="0" hangingPunct="1">
              <a:lnSpc>
                <a:spcPts val="11000"/>
              </a:lnSpc>
              <a:spcBef>
                <a:spcPct val="0"/>
              </a:spcBef>
              <a:buNone/>
              <a:defRPr sz="12500" kern="1200">
                <a:solidFill>
                  <a:schemeClr val="tx1"/>
                </a:solidFill>
                <a:latin typeface="Proxima Nova Black" panose="02000506030000020004" pitchFamily="50" charset="0"/>
                <a:ea typeface="+mj-ea"/>
                <a:cs typeface="+mj-cs"/>
              </a:defRPr>
            </a:lvl1pPr>
          </a:lstStyle>
          <a:p>
            <a:pPr>
              <a:lnSpc>
                <a:spcPct val="150000"/>
              </a:lnSpc>
            </a:pPr>
            <a:r>
              <a:rPr lang="en-US" sz="4400" dirty="0"/>
              <a:t>Conditional Rendering with enums</a:t>
            </a:r>
            <a:endParaRPr lang="uk-UA" sz="4400" dirty="0"/>
          </a:p>
        </p:txBody>
      </p:sp>
      <p:pic>
        <p:nvPicPr>
          <p:cNvPr id="2" name="Picture 1">
            <a:extLst>
              <a:ext uri="{FF2B5EF4-FFF2-40B4-BE49-F238E27FC236}">
                <a16:creationId xmlns:a16="http://schemas.microsoft.com/office/drawing/2014/main" id="{19BAA4B3-0830-45A2-B34D-0403DDD7DCD4}"/>
              </a:ext>
            </a:extLst>
          </p:cNvPr>
          <p:cNvPicPr>
            <a:picLocks noChangeAspect="1"/>
          </p:cNvPicPr>
          <p:nvPr/>
        </p:nvPicPr>
        <p:blipFill>
          <a:blip r:embed="rId2"/>
          <a:stretch>
            <a:fillRect/>
          </a:stretch>
        </p:blipFill>
        <p:spPr>
          <a:xfrm>
            <a:off x="533400" y="2598028"/>
            <a:ext cx="2152650" cy="1143000"/>
          </a:xfrm>
          <a:prstGeom prst="rect">
            <a:avLst/>
          </a:prstGeom>
        </p:spPr>
      </p:pic>
      <p:sp>
        <p:nvSpPr>
          <p:cNvPr id="3" name="Rectangle 2">
            <a:extLst>
              <a:ext uri="{FF2B5EF4-FFF2-40B4-BE49-F238E27FC236}">
                <a16:creationId xmlns:a16="http://schemas.microsoft.com/office/drawing/2014/main" id="{E0486476-5296-4323-AA0A-8E0DBA214D64}"/>
              </a:ext>
            </a:extLst>
          </p:cNvPr>
          <p:cNvSpPr/>
          <p:nvPr/>
        </p:nvSpPr>
        <p:spPr>
          <a:xfrm>
            <a:off x="5770485" y="1380212"/>
            <a:ext cx="5888115" cy="1938992"/>
          </a:xfrm>
          <a:prstGeom prst="rect">
            <a:avLst/>
          </a:prstGeom>
        </p:spPr>
        <p:txBody>
          <a:bodyPr wrap="square">
            <a:spAutoFit/>
          </a:bodyPr>
          <a:lstStyle/>
          <a:p>
            <a:r>
              <a:rPr lang="en-US" sz="2000" dirty="0">
                <a:latin typeface="Open Sans" panose="020B0604020202020204" charset="0"/>
                <a:ea typeface="Open Sans" panose="020B0604020202020204" charset="0"/>
                <a:cs typeface="Open Sans" panose="020B0604020202020204" charset="0"/>
              </a:rPr>
              <a:t>An </a:t>
            </a:r>
            <a:r>
              <a:rPr lang="en-US" sz="2000" dirty="0" err="1">
                <a:latin typeface="Open Sans" panose="020B0604020202020204" charset="0"/>
                <a:ea typeface="Open Sans" panose="020B0604020202020204" charset="0"/>
                <a:cs typeface="Open Sans" panose="020B0604020202020204" charset="0"/>
              </a:rPr>
              <a:t>enum</a:t>
            </a:r>
            <a:r>
              <a:rPr lang="en-US" sz="2000" dirty="0">
                <a:latin typeface="Open Sans" panose="020B0604020202020204" charset="0"/>
                <a:ea typeface="Open Sans" panose="020B0604020202020204" charset="0"/>
                <a:cs typeface="Open Sans" panose="020B0604020202020204" charset="0"/>
              </a:rPr>
              <a:t> is a great way to have multiple conditional renderings. Let’s consider the notification component again. This time we can use the </a:t>
            </a:r>
            <a:r>
              <a:rPr lang="en-US" sz="2000" dirty="0" err="1">
                <a:latin typeface="Open Sans" panose="020B0604020202020204" charset="0"/>
                <a:ea typeface="Open Sans" panose="020B0604020202020204" charset="0"/>
                <a:cs typeface="Open Sans" panose="020B0604020202020204" charset="0"/>
              </a:rPr>
              <a:t>enum</a:t>
            </a:r>
            <a:r>
              <a:rPr lang="en-US" sz="2000" dirty="0">
                <a:latin typeface="Open Sans" panose="020B0604020202020204" charset="0"/>
                <a:ea typeface="Open Sans" panose="020B0604020202020204" charset="0"/>
                <a:cs typeface="Open Sans" panose="020B0604020202020204" charset="0"/>
              </a:rPr>
              <a:t> as </a:t>
            </a:r>
            <a:r>
              <a:rPr lang="en-US" sz="2000" dirty="0" err="1">
                <a:latin typeface="Open Sans" panose="020B0604020202020204" charset="0"/>
                <a:ea typeface="Open Sans" panose="020B0604020202020204" charset="0"/>
                <a:cs typeface="Open Sans" panose="020B0604020202020204" charset="0"/>
              </a:rPr>
              <a:t>inlined</a:t>
            </a:r>
            <a:r>
              <a:rPr lang="en-US" sz="2000" dirty="0">
                <a:latin typeface="Open Sans" panose="020B0604020202020204" charset="0"/>
                <a:ea typeface="Open Sans" panose="020B0604020202020204" charset="0"/>
                <a:cs typeface="Open Sans" panose="020B0604020202020204" charset="0"/>
              </a:rPr>
              <a:t> object.</a:t>
            </a:r>
          </a:p>
          <a:p>
            <a:br>
              <a:rPr lang="en-US" sz="2000" dirty="0">
                <a:latin typeface="Open Sans" panose="020B0604020202020204" charset="0"/>
                <a:ea typeface="Open Sans" panose="020B0604020202020204" charset="0"/>
                <a:cs typeface="Open Sans" panose="020B0604020202020204" charset="0"/>
              </a:rPr>
            </a:br>
            <a:endParaRPr lang="en-US" sz="2000" dirty="0">
              <a:latin typeface="Open Sans" panose="020B0604020202020204" charset="0"/>
              <a:ea typeface="Open Sans" panose="020B0604020202020204" charset="0"/>
              <a:cs typeface="Open Sans" panose="020B0604020202020204" charset="0"/>
            </a:endParaRPr>
          </a:p>
        </p:txBody>
      </p:sp>
      <p:pic>
        <p:nvPicPr>
          <p:cNvPr id="4" name="Picture 3">
            <a:extLst>
              <a:ext uri="{FF2B5EF4-FFF2-40B4-BE49-F238E27FC236}">
                <a16:creationId xmlns:a16="http://schemas.microsoft.com/office/drawing/2014/main" id="{D2A59702-4C89-4B13-9AFA-6946DEE7B281}"/>
              </a:ext>
            </a:extLst>
          </p:cNvPr>
          <p:cNvPicPr>
            <a:picLocks noChangeAspect="1"/>
          </p:cNvPicPr>
          <p:nvPr/>
        </p:nvPicPr>
        <p:blipFill>
          <a:blip r:embed="rId3"/>
          <a:stretch>
            <a:fillRect/>
          </a:stretch>
        </p:blipFill>
        <p:spPr>
          <a:xfrm>
            <a:off x="5642499" y="2870065"/>
            <a:ext cx="4752975" cy="2447925"/>
          </a:xfrm>
          <a:prstGeom prst="rect">
            <a:avLst/>
          </a:prstGeom>
        </p:spPr>
      </p:pic>
      <p:sp>
        <p:nvSpPr>
          <p:cNvPr id="6" name="Rectangle 5">
            <a:extLst>
              <a:ext uri="{FF2B5EF4-FFF2-40B4-BE49-F238E27FC236}">
                <a16:creationId xmlns:a16="http://schemas.microsoft.com/office/drawing/2014/main" id="{0F9453B1-15F3-4985-9A97-9ED2C5677662}"/>
              </a:ext>
            </a:extLst>
          </p:cNvPr>
          <p:cNvSpPr/>
          <p:nvPr/>
        </p:nvSpPr>
        <p:spPr>
          <a:xfrm>
            <a:off x="533400" y="5477788"/>
            <a:ext cx="8388658" cy="1631216"/>
          </a:xfrm>
          <a:prstGeom prst="rect">
            <a:avLst/>
          </a:prstGeom>
        </p:spPr>
        <p:txBody>
          <a:bodyPr wrap="square">
            <a:spAutoFit/>
          </a:bodyPr>
          <a:lstStyle/>
          <a:p>
            <a:r>
              <a:rPr lang="en-US" sz="2000" dirty="0">
                <a:latin typeface="Open Sans" panose="020B0604020202020204" charset="0"/>
                <a:ea typeface="Open Sans" panose="020B0604020202020204" charset="0"/>
                <a:cs typeface="Open Sans" panose="020B0604020202020204" charset="0"/>
              </a:rPr>
              <a:t>The state property key helps us to retrieve the value from the object. That’s neat, isn’t it? It is much more readable compared to the switch case operator.</a:t>
            </a:r>
          </a:p>
          <a:p>
            <a:br>
              <a:rPr lang="en-US" sz="2000" dirty="0">
                <a:latin typeface="Open Sans" panose="020B0604020202020204" charset="0"/>
                <a:ea typeface="Open Sans" panose="020B0604020202020204" charset="0"/>
                <a:cs typeface="Open Sans" panose="020B0604020202020204" charset="0"/>
              </a:rPr>
            </a:br>
            <a:endParaRPr lang="en-US" sz="2000" dirty="0">
              <a:latin typeface="Open Sans" panose="020B0604020202020204" charset="0"/>
              <a:ea typeface="Open Sans" panose="020B0604020202020204" charset="0"/>
              <a:cs typeface="Open Sans" panose="020B0604020202020204" charset="0"/>
            </a:endParaRPr>
          </a:p>
        </p:txBody>
      </p:sp>
    </p:spTree>
    <p:extLst>
      <p:ext uri="{BB962C8B-B14F-4D97-AF65-F5344CB8AC3E}">
        <p14:creationId xmlns:p14="http://schemas.microsoft.com/office/powerpoint/2010/main" val="22692915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0752ABC-207B-46B4-A0EB-C1AFCB118BBF}"/>
              </a:ext>
            </a:extLst>
          </p:cNvPr>
          <p:cNvSpPr/>
          <p:nvPr/>
        </p:nvSpPr>
        <p:spPr>
          <a:xfrm>
            <a:off x="331434" y="636051"/>
            <a:ext cx="5581094" cy="1938992"/>
          </a:xfrm>
          <a:prstGeom prst="rect">
            <a:avLst/>
          </a:prstGeom>
        </p:spPr>
        <p:txBody>
          <a:bodyPr wrap="square">
            <a:spAutoFit/>
          </a:bodyPr>
          <a:lstStyle/>
          <a:p>
            <a:r>
              <a:rPr lang="en-US" sz="2000" dirty="0">
                <a:latin typeface="Open Sans" panose="020B0604020202020204" charset="0"/>
                <a:ea typeface="Open Sans" panose="020B0604020202020204" charset="0"/>
                <a:cs typeface="Open Sans" panose="020B0604020202020204" charset="0"/>
              </a:rPr>
              <a:t>In previous case we had to use an inline object, because the values of the object depend on the text property. That would be my recommended way anyway. However, if it wouldn’t depend on the text property, you could use an external static </a:t>
            </a:r>
            <a:r>
              <a:rPr lang="en-US" sz="2000" dirty="0" err="1">
                <a:latin typeface="Open Sans" panose="020B0604020202020204" charset="0"/>
                <a:ea typeface="Open Sans" panose="020B0604020202020204" charset="0"/>
                <a:cs typeface="Open Sans" panose="020B0604020202020204" charset="0"/>
              </a:rPr>
              <a:t>enum</a:t>
            </a:r>
            <a:r>
              <a:rPr lang="en-US" sz="2000" dirty="0">
                <a:latin typeface="Open Sans" panose="020B0604020202020204" charset="0"/>
                <a:ea typeface="Open Sans" panose="020B0604020202020204" charset="0"/>
                <a:cs typeface="Open Sans" panose="020B0604020202020204" charset="0"/>
              </a:rPr>
              <a:t> too.</a:t>
            </a:r>
          </a:p>
        </p:txBody>
      </p:sp>
      <p:pic>
        <p:nvPicPr>
          <p:cNvPr id="5" name="Picture 4">
            <a:extLst>
              <a:ext uri="{FF2B5EF4-FFF2-40B4-BE49-F238E27FC236}">
                <a16:creationId xmlns:a16="http://schemas.microsoft.com/office/drawing/2014/main" id="{745DA3C7-266D-40F8-8C7F-7192C79C2172}"/>
              </a:ext>
            </a:extLst>
          </p:cNvPr>
          <p:cNvPicPr>
            <a:picLocks noChangeAspect="1"/>
          </p:cNvPicPr>
          <p:nvPr/>
        </p:nvPicPr>
        <p:blipFill>
          <a:blip r:embed="rId2"/>
          <a:stretch>
            <a:fillRect/>
          </a:stretch>
        </p:blipFill>
        <p:spPr>
          <a:xfrm>
            <a:off x="354367" y="2725964"/>
            <a:ext cx="4191000" cy="2924175"/>
          </a:xfrm>
          <a:prstGeom prst="rect">
            <a:avLst/>
          </a:prstGeom>
        </p:spPr>
      </p:pic>
      <p:sp>
        <p:nvSpPr>
          <p:cNvPr id="7" name="Rectangle 6">
            <a:extLst>
              <a:ext uri="{FF2B5EF4-FFF2-40B4-BE49-F238E27FC236}">
                <a16:creationId xmlns:a16="http://schemas.microsoft.com/office/drawing/2014/main" id="{C378CCC6-126E-4826-85BB-C71B0230630F}"/>
              </a:ext>
            </a:extLst>
          </p:cNvPr>
          <p:cNvSpPr/>
          <p:nvPr/>
        </p:nvSpPr>
        <p:spPr>
          <a:xfrm>
            <a:off x="6579833" y="636051"/>
            <a:ext cx="4719961" cy="1015663"/>
          </a:xfrm>
          <a:prstGeom prst="rect">
            <a:avLst/>
          </a:prstGeom>
        </p:spPr>
        <p:txBody>
          <a:bodyPr wrap="square">
            <a:spAutoFit/>
          </a:bodyPr>
          <a:lstStyle/>
          <a:p>
            <a:r>
              <a:rPr lang="en-US" sz="2000" dirty="0">
                <a:latin typeface="Open Sans" panose="020B0604020202020204" charset="0"/>
                <a:ea typeface="Open Sans" panose="020B0604020202020204" charset="0"/>
                <a:cs typeface="Open Sans" panose="020B0604020202020204" charset="0"/>
              </a:rPr>
              <a:t>Although we could use a function to retrieve the value, if we would depend on the text property.</a:t>
            </a:r>
          </a:p>
        </p:txBody>
      </p:sp>
      <p:pic>
        <p:nvPicPr>
          <p:cNvPr id="8" name="Picture 7">
            <a:extLst>
              <a:ext uri="{FF2B5EF4-FFF2-40B4-BE49-F238E27FC236}">
                <a16:creationId xmlns:a16="http://schemas.microsoft.com/office/drawing/2014/main" id="{353452E3-EC6E-40B7-9CAE-C0EB39EB90BE}"/>
              </a:ext>
            </a:extLst>
          </p:cNvPr>
          <p:cNvPicPr>
            <a:picLocks noChangeAspect="1"/>
          </p:cNvPicPr>
          <p:nvPr/>
        </p:nvPicPr>
        <p:blipFill>
          <a:blip r:embed="rId3"/>
          <a:stretch>
            <a:fillRect/>
          </a:stretch>
        </p:blipFill>
        <p:spPr>
          <a:xfrm>
            <a:off x="6579833" y="1788422"/>
            <a:ext cx="5257800" cy="2924175"/>
          </a:xfrm>
          <a:prstGeom prst="rect">
            <a:avLst/>
          </a:prstGeom>
        </p:spPr>
      </p:pic>
    </p:spTree>
    <p:extLst>
      <p:ext uri="{BB962C8B-B14F-4D97-AF65-F5344CB8AC3E}">
        <p14:creationId xmlns:p14="http://schemas.microsoft.com/office/powerpoint/2010/main" val="30202959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0752ABC-207B-46B4-A0EB-C1AFCB118BBF}"/>
              </a:ext>
            </a:extLst>
          </p:cNvPr>
          <p:cNvSpPr/>
          <p:nvPr/>
        </p:nvSpPr>
        <p:spPr>
          <a:xfrm>
            <a:off x="331434" y="636051"/>
            <a:ext cx="10286259" cy="1015663"/>
          </a:xfrm>
          <a:prstGeom prst="rect">
            <a:avLst/>
          </a:prstGeom>
        </p:spPr>
        <p:txBody>
          <a:bodyPr wrap="square">
            <a:spAutoFit/>
          </a:bodyPr>
          <a:lstStyle/>
          <a:p>
            <a:r>
              <a:rPr lang="en-US" sz="2000" dirty="0">
                <a:latin typeface="Open Sans" panose="020B0604020202020204" charset="0"/>
                <a:ea typeface="Open Sans" panose="020B0604020202020204" charset="0"/>
                <a:cs typeface="Open Sans" panose="020B0604020202020204" charset="0"/>
              </a:rPr>
              <a:t>After all, the </a:t>
            </a:r>
            <a:r>
              <a:rPr lang="en-US" sz="2000" dirty="0" err="1">
                <a:latin typeface="Open Sans" panose="020B0604020202020204" charset="0"/>
                <a:ea typeface="Open Sans" panose="020B0604020202020204" charset="0"/>
                <a:cs typeface="Open Sans" panose="020B0604020202020204" charset="0"/>
              </a:rPr>
              <a:t>enum</a:t>
            </a:r>
            <a:r>
              <a:rPr lang="en-US" sz="2000" dirty="0">
                <a:latin typeface="Open Sans" panose="020B0604020202020204" charset="0"/>
                <a:ea typeface="Open Sans" panose="020B0604020202020204" charset="0"/>
                <a:cs typeface="Open Sans" panose="020B0604020202020204" charset="0"/>
              </a:rPr>
              <a:t> approach in comparison to the switch case statement is more readable. Objects as </a:t>
            </a:r>
            <a:r>
              <a:rPr lang="en-US" sz="2000" dirty="0" err="1">
                <a:latin typeface="Open Sans" panose="020B0604020202020204" charset="0"/>
                <a:ea typeface="Open Sans" panose="020B0604020202020204" charset="0"/>
                <a:cs typeface="Open Sans" panose="020B0604020202020204" charset="0"/>
              </a:rPr>
              <a:t>enums</a:t>
            </a:r>
            <a:r>
              <a:rPr lang="en-US" sz="2000" dirty="0">
                <a:latin typeface="Open Sans" panose="020B0604020202020204" charset="0"/>
                <a:ea typeface="Open Sans" panose="020B0604020202020204" charset="0"/>
                <a:cs typeface="Open Sans" panose="020B0604020202020204" charset="0"/>
              </a:rPr>
              <a:t> open up plenty of options to have multiple conditional renderings. Consider this last example to see what’s possible:</a:t>
            </a:r>
          </a:p>
        </p:txBody>
      </p:sp>
      <p:pic>
        <p:nvPicPr>
          <p:cNvPr id="2" name="Picture 1">
            <a:extLst>
              <a:ext uri="{FF2B5EF4-FFF2-40B4-BE49-F238E27FC236}">
                <a16:creationId xmlns:a16="http://schemas.microsoft.com/office/drawing/2014/main" id="{6FCB6A20-87B3-49B9-8D0D-FCD5164A74AB}"/>
              </a:ext>
            </a:extLst>
          </p:cNvPr>
          <p:cNvPicPr>
            <a:picLocks noChangeAspect="1"/>
          </p:cNvPicPr>
          <p:nvPr/>
        </p:nvPicPr>
        <p:blipFill>
          <a:blip r:embed="rId2"/>
          <a:stretch>
            <a:fillRect/>
          </a:stretch>
        </p:blipFill>
        <p:spPr>
          <a:xfrm>
            <a:off x="331434" y="1803784"/>
            <a:ext cx="5381625" cy="4067175"/>
          </a:xfrm>
          <a:prstGeom prst="rect">
            <a:avLst/>
          </a:prstGeom>
        </p:spPr>
      </p:pic>
    </p:spTree>
    <p:extLst>
      <p:ext uri="{BB962C8B-B14F-4D97-AF65-F5344CB8AC3E}">
        <p14:creationId xmlns:p14="http://schemas.microsoft.com/office/powerpoint/2010/main" val="38068696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838200" y="963610"/>
            <a:ext cx="9150661" cy="689126"/>
          </a:xfrm>
        </p:spPr>
        <p:txBody>
          <a:bodyPr/>
          <a:lstStyle/>
          <a:p>
            <a:r>
              <a:rPr lang="en-US" dirty="0"/>
              <a:t>As the name implies, IIFEs are functions that are executed immediately after they are defined, there’s no need to call them explicitly.</a:t>
            </a:r>
          </a:p>
        </p:txBody>
      </p:sp>
      <p:sp>
        <p:nvSpPr>
          <p:cNvPr id="8" name="Title 3">
            <a:extLst>
              <a:ext uri="{FF2B5EF4-FFF2-40B4-BE49-F238E27FC236}">
                <a16:creationId xmlns:a16="http://schemas.microsoft.com/office/drawing/2014/main" id="{610ACB98-FF01-48AF-903E-F19B49005189}"/>
              </a:ext>
            </a:extLst>
          </p:cNvPr>
          <p:cNvSpPr txBox="1">
            <a:spLocks/>
          </p:cNvSpPr>
          <p:nvPr/>
        </p:nvSpPr>
        <p:spPr>
          <a:xfrm>
            <a:off x="838200" y="152399"/>
            <a:ext cx="10820400" cy="575569"/>
          </a:xfrm>
          <a:prstGeom prst="rect">
            <a:avLst/>
          </a:prstGeom>
        </p:spPr>
        <p:txBody>
          <a:bodyPr lIns="0" anchor="t">
            <a:noAutofit/>
          </a:bodyPr>
          <a:lstStyle>
            <a:lvl1pPr algn="l" defTabSz="914400" rtl="0" eaLnBrk="1" latinLnBrk="0" hangingPunct="1">
              <a:lnSpc>
                <a:spcPts val="11000"/>
              </a:lnSpc>
              <a:spcBef>
                <a:spcPct val="0"/>
              </a:spcBef>
              <a:buNone/>
              <a:defRPr sz="12500" kern="1200">
                <a:solidFill>
                  <a:schemeClr val="tx1"/>
                </a:solidFill>
                <a:latin typeface="Proxima Nova Black" panose="02000506030000020004" pitchFamily="50" charset="0"/>
                <a:ea typeface="+mj-ea"/>
                <a:cs typeface="+mj-cs"/>
              </a:defRPr>
            </a:lvl1pPr>
          </a:lstStyle>
          <a:p>
            <a:pPr>
              <a:lnSpc>
                <a:spcPct val="100000"/>
              </a:lnSpc>
            </a:pPr>
            <a:r>
              <a:rPr lang="en-US" sz="3500" dirty="0"/>
              <a:t>Immediately-Invoked Function Expressions (IIFE)</a:t>
            </a:r>
            <a:endParaRPr lang="uk-UA" sz="3500" dirty="0"/>
          </a:p>
        </p:txBody>
      </p:sp>
      <p:pic>
        <p:nvPicPr>
          <p:cNvPr id="7" name="Picture 6">
            <a:extLst>
              <a:ext uri="{FF2B5EF4-FFF2-40B4-BE49-F238E27FC236}">
                <a16:creationId xmlns:a16="http://schemas.microsoft.com/office/drawing/2014/main" id="{D836B7BB-B3A2-42D6-9781-3D2A1873A32F}"/>
              </a:ext>
            </a:extLst>
          </p:cNvPr>
          <p:cNvPicPr>
            <a:picLocks noChangeAspect="1"/>
          </p:cNvPicPr>
          <p:nvPr/>
        </p:nvPicPr>
        <p:blipFill>
          <a:blip r:embed="rId2"/>
          <a:stretch>
            <a:fillRect/>
          </a:stretch>
        </p:blipFill>
        <p:spPr>
          <a:xfrm>
            <a:off x="4458808" y="2121267"/>
            <a:ext cx="2886075" cy="885825"/>
          </a:xfrm>
          <a:prstGeom prst="rect">
            <a:avLst/>
          </a:prstGeom>
        </p:spPr>
      </p:pic>
      <p:sp>
        <p:nvSpPr>
          <p:cNvPr id="9" name="Rectangle 8">
            <a:extLst>
              <a:ext uri="{FF2B5EF4-FFF2-40B4-BE49-F238E27FC236}">
                <a16:creationId xmlns:a16="http://schemas.microsoft.com/office/drawing/2014/main" id="{826B25BC-8597-492D-BEF0-3C37EE908CE8}"/>
              </a:ext>
            </a:extLst>
          </p:cNvPr>
          <p:cNvSpPr/>
          <p:nvPr/>
        </p:nvSpPr>
        <p:spPr>
          <a:xfrm>
            <a:off x="739806" y="1610725"/>
            <a:ext cx="9931153" cy="400110"/>
          </a:xfrm>
          <a:prstGeom prst="rect">
            <a:avLst/>
          </a:prstGeom>
        </p:spPr>
        <p:txBody>
          <a:bodyPr wrap="square">
            <a:spAutoFit/>
          </a:bodyPr>
          <a:lstStyle/>
          <a:p>
            <a:r>
              <a:rPr lang="en-US" sz="2000" dirty="0">
                <a:latin typeface="Open Sans" panose="020B0604020202020204" charset="0"/>
                <a:ea typeface="Open Sans" panose="020B0604020202020204" charset="0"/>
                <a:cs typeface="Open Sans" panose="020B0604020202020204" charset="0"/>
              </a:rPr>
              <a:t>Generally, this is how you define and execute (at a later point) a function:</a:t>
            </a:r>
          </a:p>
        </p:txBody>
      </p:sp>
      <p:sp>
        <p:nvSpPr>
          <p:cNvPr id="10" name="Rectangle 9">
            <a:extLst>
              <a:ext uri="{FF2B5EF4-FFF2-40B4-BE49-F238E27FC236}">
                <a16:creationId xmlns:a16="http://schemas.microsoft.com/office/drawing/2014/main" id="{255EBCEA-47C0-4C64-85CD-3C79F2D1A6CB}"/>
              </a:ext>
            </a:extLst>
          </p:cNvPr>
          <p:cNvSpPr/>
          <p:nvPr/>
        </p:nvSpPr>
        <p:spPr>
          <a:xfrm>
            <a:off x="646219" y="3264069"/>
            <a:ext cx="10899562" cy="1015663"/>
          </a:xfrm>
          <a:prstGeom prst="rect">
            <a:avLst/>
          </a:prstGeom>
        </p:spPr>
        <p:txBody>
          <a:bodyPr wrap="square">
            <a:spAutoFit/>
          </a:bodyPr>
          <a:lstStyle/>
          <a:p>
            <a:r>
              <a:rPr lang="en-US" sz="2000" dirty="0">
                <a:latin typeface="Open Sans" panose="020B0604020202020204" charset="0"/>
                <a:ea typeface="Open Sans" panose="020B0604020202020204" charset="0"/>
                <a:cs typeface="Open Sans" panose="020B0604020202020204" charset="0"/>
              </a:rPr>
              <a:t>But if you want to execute the function immediately after it is defined, you have to wrap the whole declaration in parenthesis (to convert it to an expression) and execute it by adding two more parentheses (passing any arguments the function may take.</a:t>
            </a:r>
          </a:p>
        </p:txBody>
      </p:sp>
      <p:sp>
        <p:nvSpPr>
          <p:cNvPr id="11" name="Rectangle 10">
            <a:extLst>
              <a:ext uri="{FF2B5EF4-FFF2-40B4-BE49-F238E27FC236}">
                <a16:creationId xmlns:a16="http://schemas.microsoft.com/office/drawing/2014/main" id="{11595575-4B7F-49A7-8B69-2BCD679EE580}"/>
              </a:ext>
            </a:extLst>
          </p:cNvPr>
          <p:cNvSpPr/>
          <p:nvPr/>
        </p:nvSpPr>
        <p:spPr>
          <a:xfrm>
            <a:off x="646219" y="4384266"/>
            <a:ext cx="6096000" cy="1015663"/>
          </a:xfrm>
          <a:prstGeom prst="rect">
            <a:avLst/>
          </a:prstGeom>
        </p:spPr>
        <p:txBody>
          <a:bodyPr>
            <a:spAutoFit/>
          </a:bodyPr>
          <a:lstStyle/>
          <a:p>
            <a:r>
              <a:rPr lang="en-US" sz="2000" dirty="0">
                <a:latin typeface="Open Sans" panose="020B0604020202020204" charset="0"/>
                <a:ea typeface="Open Sans" panose="020B0604020202020204" charset="0"/>
                <a:cs typeface="Open Sans" panose="020B0604020202020204" charset="0"/>
              </a:rPr>
              <a:t>Either this way:</a:t>
            </a:r>
          </a:p>
          <a:p>
            <a:br>
              <a:rPr lang="en-US" sz="2000" dirty="0">
                <a:latin typeface="Open Sans" panose="020B0604020202020204" charset="0"/>
                <a:ea typeface="Open Sans" panose="020B0604020202020204" charset="0"/>
                <a:cs typeface="Open Sans" panose="020B0604020202020204" charset="0"/>
              </a:rPr>
            </a:br>
            <a:endParaRPr lang="en-US" sz="2000" dirty="0">
              <a:latin typeface="Open Sans" panose="020B0604020202020204" charset="0"/>
              <a:ea typeface="Open Sans" panose="020B0604020202020204" charset="0"/>
              <a:cs typeface="Open Sans" panose="020B0604020202020204" charset="0"/>
            </a:endParaRPr>
          </a:p>
        </p:txBody>
      </p:sp>
      <p:pic>
        <p:nvPicPr>
          <p:cNvPr id="12" name="Picture 11">
            <a:extLst>
              <a:ext uri="{FF2B5EF4-FFF2-40B4-BE49-F238E27FC236}">
                <a16:creationId xmlns:a16="http://schemas.microsoft.com/office/drawing/2014/main" id="{D2009C6F-474C-4106-BE9A-671F5560F120}"/>
              </a:ext>
            </a:extLst>
          </p:cNvPr>
          <p:cNvPicPr>
            <a:picLocks noChangeAspect="1"/>
          </p:cNvPicPr>
          <p:nvPr/>
        </p:nvPicPr>
        <p:blipFill>
          <a:blip r:embed="rId3"/>
          <a:stretch>
            <a:fillRect/>
          </a:stretch>
        </p:blipFill>
        <p:spPr>
          <a:xfrm>
            <a:off x="646219" y="4892097"/>
            <a:ext cx="4610100" cy="685800"/>
          </a:xfrm>
          <a:prstGeom prst="rect">
            <a:avLst/>
          </a:prstGeom>
        </p:spPr>
      </p:pic>
      <p:sp>
        <p:nvSpPr>
          <p:cNvPr id="13" name="Rectangle 12">
            <a:extLst>
              <a:ext uri="{FF2B5EF4-FFF2-40B4-BE49-F238E27FC236}">
                <a16:creationId xmlns:a16="http://schemas.microsoft.com/office/drawing/2014/main" id="{9E0B62F7-A4F7-4FCC-A629-3F2714FEC397}"/>
              </a:ext>
            </a:extLst>
          </p:cNvPr>
          <p:cNvSpPr/>
          <p:nvPr/>
        </p:nvSpPr>
        <p:spPr>
          <a:xfrm>
            <a:off x="6057942" y="4384266"/>
            <a:ext cx="1596912" cy="400110"/>
          </a:xfrm>
          <a:prstGeom prst="rect">
            <a:avLst/>
          </a:prstGeom>
        </p:spPr>
        <p:txBody>
          <a:bodyPr wrap="none">
            <a:spAutoFit/>
          </a:bodyPr>
          <a:lstStyle/>
          <a:p>
            <a:r>
              <a:rPr lang="en-US" sz="2000" dirty="0">
                <a:latin typeface="Open Sans" panose="020B0604020202020204" charset="0"/>
                <a:ea typeface="Open Sans" panose="020B0604020202020204" charset="0"/>
                <a:cs typeface="Open Sans" panose="020B0604020202020204" charset="0"/>
              </a:rPr>
              <a:t>Or this way:</a:t>
            </a:r>
          </a:p>
        </p:txBody>
      </p:sp>
      <p:pic>
        <p:nvPicPr>
          <p:cNvPr id="14" name="Picture 13">
            <a:extLst>
              <a:ext uri="{FF2B5EF4-FFF2-40B4-BE49-F238E27FC236}">
                <a16:creationId xmlns:a16="http://schemas.microsoft.com/office/drawing/2014/main" id="{A4149E2B-7619-476B-9333-FF2C3B3D86C3}"/>
              </a:ext>
            </a:extLst>
          </p:cNvPr>
          <p:cNvPicPr>
            <a:picLocks noChangeAspect="1"/>
          </p:cNvPicPr>
          <p:nvPr/>
        </p:nvPicPr>
        <p:blipFill>
          <a:blip r:embed="rId4"/>
          <a:stretch>
            <a:fillRect/>
          </a:stretch>
        </p:blipFill>
        <p:spPr>
          <a:xfrm>
            <a:off x="6030063" y="4876443"/>
            <a:ext cx="4600575" cy="666750"/>
          </a:xfrm>
          <a:prstGeom prst="rect">
            <a:avLst/>
          </a:prstGeom>
        </p:spPr>
      </p:pic>
    </p:spTree>
    <p:extLst>
      <p:ext uri="{BB962C8B-B14F-4D97-AF65-F5344CB8AC3E}">
        <p14:creationId xmlns:p14="http://schemas.microsoft.com/office/powerpoint/2010/main" val="30176078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0752ABC-207B-46B4-A0EB-C1AFCB118BBF}"/>
              </a:ext>
            </a:extLst>
          </p:cNvPr>
          <p:cNvSpPr/>
          <p:nvPr/>
        </p:nvSpPr>
        <p:spPr>
          <a:xfrm>
            <a:off x="331433" y="636051"/>
            <a:ext cx="5030679" cy="1323439"/>
          </a:xfrm>
          <a:prstGeom prst="rect">
            <a:avLst/>
          </a:prstGeom>
        </p:spPr>
        <p:txBody>
          <a:bodyPr wrap="square">
            <a:spAutoFit/>
          </a:bodyPr>
          <a:lstStyle/>
          <a:p>
            <a:r>
              <a:rPr lang="en-US" sz="2000" dirty="0">
                <a:latin typeface="Open Sans" panose="020B0604020202020204" charset="0"/>
                <a:ea typeface="Open Sans" panose="020B0604020202020204" charset="0"/>
                <a:cs typeface="Open Sans" panose="020B0604020202020204" charset="0"/>
              </a:rPr>
              <a:t>Since the function won’t be called in any other place, you can drop the name:</a:t>
            </a:r>
          </a:p>
          <a:p>
            <a:br>
              <a:rPr lang="en-US" sz="2000" dirty="0">
                <a:latin typeface="Open Sans" panose="020B0604020202020204" charset="0"/>
                <a:ea typeface="Open Sans" panose="020B0604020202020204" charset="0"/>
                <a:cs typeface="Open Sans" panose="020B0604020202020204" charset="0"/>
              </a:rPr>
            </a:br>
            <a:endParaRPr lang="en-US" sz="2000" dirty="0">
              <a:latin typeface="Open Sans" panose="020B0604020202020204" charset="0"/>
              <a:ea typeface="Open Sans" panose="020B0604020202020204" charset="0"/>
              <a:cs typeface="Open Sans" panose="020B0604020202020204" charset="0"/>
            </a:endParaRPr>
          </a:p>
        </p:txBody>
      </p:sp>
      <p:pic>
        <p:nvPicPr>
          <p:cNvPr id="3" name="Picture 2">
            <a:extLst>
              <a:ext uri="{FF2B5EF4-FFF2-40B4-BE49-F238E27FC236}">
                <a16:creationId xmlns:a16="http://schemas.microsoft.com/office/drawing/2014/main" id="{3BCF71D6-DC70-4568-A9FE-169B15BE2029}"/>
              </a:ext>
            </a:extLst>
          </p:cNvPr>
          <p:cNvPicPr>
            <a:picLocks noChangeAspect="1"/>
          </p:cNvPicPr>
          <p:nvPr/>
        </p:nvPicPr>
        <p:blipFill>
          <a:blip r:embed="rId2"/>
          <a:stretch>
            <a:fillRect/>
          </a:stretch>
        </p:blipFill>
        <p:spPr>
          <a:xfrm>
            <a:off x="304846" y="1443157"/>
            <a:ext cx="3686175" cy="695325"/>
          </a:xfrm>
          <a:prstGeom prst="rect">
            <a:avLst/>
          </a:prstGeom>
        </p:spPr>
      </p:pic>
      <p:sp>
        <p:nvSpPr>
          <p:cNvPr id="5" name="Rectangle 4">
            <a:extLst>
              <a:ext uri="{FF2B5EF4-FFF2-40B4-BE49-F238E27FC236}">
                <a16:creationId xmlns:a16="http://schemas.microsoft.com/office/drawing/2014/main" id="{D8CC61F7-214E-4299-BCF7-F36648AF83DC}"/>
              </a:ext>
            </a:extLst>
          </p:cNvPr>
          <p:cNvSpPr/>
          <p:nvPr/>
        </p:nvSpPr>
        <p:spPr>
          <a:xfrm>
            <a:off x="6306105" y="636051"/>
            <a:ext cx="4569041" cy="1015663"/>
          </a:xfrm>
          <a:prstGeom prst="rect">
            <a:avLst/>
          </a:prstGeom>
        </p:spPr>
        <p:txBody>
          <a:bodyPr wrap="square">
            <a:spAutoFit/>
          </a:bodyPr>
          <a:lstStyle/>
          <a:p>
            <a:r>
              <a:rPr lang="en-US" sz="2000" dirty="0">
                <a:latin typeface="Open Sans" panose="020B0604020202020204" charset="0"/>
                <a:ea typeface="Open Sans" panose="020B0604020202020204" charset="0"/>
                <a:cs typeface="Open Sans" panose="020B0604020202020204" charset="0"/>
              </a:rPr>
              <a:t>Or you can also use arrow functions:</a:t>
            </a:r>
          </a:p>
          <a:p>
            <a:br>
              <a:rPr lang="en-US" sz="2000" dirty="0">
                <a:latin typeface="Open Sans" panose="020B0604020202020204" charset="0"/>
                <a:ea typeface="Open Sans" panose="020B0604020202020204" charset="0"/>
                <a:cs typeface="Open Sans" panose="020B0604020202020204" charset="0"/>
              </a:rPr>
            </a:br>
            <a:endParaRPr lang="en-US" sz="2000" dirty="0">
              <a:latin typeface="Open Sans" panose="020B0604020202020204" charset="0"/>
              <a:ea typeface="Open Sans" panose="020B0604020202020204" charset="0"/>
              <a:cs typeface="Open Sans" panose="020B0604020202020204" charset="0"/>
            </a:endParaRPr>
          </a:p>
        </p:txBody>
      </p:sp>
      <p:pic>
        <p:nvPicPr>
          <p:cNvPr id="6" name="Picture 5">
            <a:extLst>
              <a:ext uri="{FF2B5EF4-FFF2-40B4-BE49-F238E27FC236}">
                <a16:creationId xmlns:a16="http://schemas.microsoft.com/office/drawing/2014/main" id="{E971F268-68B9-48CF-8277-54B02EED6808}"/>
              </a:ext>
            </a:extLst>
          </p:cNvPr>
          <p:cNvPicPr>
            <a:picLocks noChangeAspect="1"/>
          </p:cNvPicPr>
          <p:nvPr/>
        </p:nvPicPr>
        <p:blipFill>
          <a:blip r:embed="rId3"/>
          <a:stretch>
            <a:fillRect/>
          </a:stretch>
        </p:blipFill>
        <p:spPr>
          <a:xfrm>
            <a:off x="6306105" y="1424107"/>
            <a:ext cx="3000375" cy="714375"/>
          </a:xfrm>
          <a:prstGeom prst="rect">
            <a:avLst/>
          </a:prstGeom>
        </p:spPr>
      </p:pic>
      <p:sp>
        <p:nvSpPr>
          <p:cNvPr id="7" name="Rectangle 6">
            <a:extLst>
              <a:ext uri="{FF2B5EF4-FFF2-40B4-BE49-F238E27FC236}">
                <a16:creationId xmlns:a16="http://schemas.microsoft.com/office/drawing/2014/main" id="{2D21D40B-CD3C-4CE2-A73E-78AE9D37FB37}"/>
              </a:ext>
            </a:extLst>
          </p:cNvPr>
          <p:cNvSpPr/>
          <p:nvPr/>
        </p:nvSpPr>
        <p:spPr>
          <a:xfrm>
            <a:off x="331433" y="2363803"/>
            <a:ext cx="10857391" cy="1015663"/>
          </a:xfrm>
          <a:prstGeom prst="rect">
            <a:avLst/>
          </a:prstGeom>
        </p:spPr>
        <p:txBody>
          <a:bodyPr wrap="square">
            <a:spAutoFit/>
          </a:bodyPr>
          <a:lstStyle/>
          <a:p>
            <a:r>
              <a:rPr lang="en-US" sz="2000" dirty="0">
                <a:latin typeface="Open Sans" panose="020B0604020202020204" charset="0"/>
                <a:ea typeface="Open Sans" panose="020B0604020202020204" charset="0"/>
                <a:cs typeface="Open Sans" panose="020B0604020202020204" charset="0"/>
              </a:rPr>
              <a:t>In React, you use curly braces to wrap an IIFE, put all the logic you want inside it (if/else, switch, ternary operators, </a:t>
            </a:r>
            <a:r>
              <a:rPr lang="en-US" sz="2000" dirty="0" err="1">
                <a:latin typeface="Open Sans" panose="020B0604020202020204" charset="0"/>
                <a:ea typeface="Open Sans" panose="020B0604020202020204" charset="0"/>
                <a:cs typeface="Open Sans" panose="020B0604020202020204" charset="0"/>
              </a:rPr>
              <a:t>etc</a:t>
            </a:r>
            <a:r>
              <a:rPr lang="en-US" sz="2000" dirty="0">
                <a:latin typeface="Open Sans" panose="020B0604020202020204" charset="0"/>
                <a:ea typeface="Open Sans" panose="020B0604020202020204" charset="0"/>
                <a:cs typeface="Open Sans" panose="020B0604020202020204" charset="0"/>
              </a:rPr>
              <a:t>), and return whatever you want to render.</a:t>
            </a:r>
          </a:p>
          <a:p>
            <a:r>
              <a:rPr lang="en-US" sz="2000" dirty="0">
                <a:latin typeface="Open Sans" panose="020B0604020202020204" charset="0"/>
                <a:ea typeface="Open Sans" panose="020B0604020202020204" charset="0"/>
                <a:cs typeface="Open Sans" panose="020B0604020202020204" charset="0"/>
              </a:rPr>
              <a:t>For example, here’s how the logic to render the save/edit button could look with an IIFE:</a:t>
            </a:r>
            <a:endParaRPr lang="en-US" sz="2000" b="0" i="0" dirty="0">
              <a:effectLst/>
              <a:latin typeface="Open Sans" panose="020B0604020202020204" charset="0"/>
              <a:ea typeface="Open Sans" panose="020B0604020202020204" charset="0"/>
              <a:cs typeface="Open Sans" panose="020B0604020202020204" charset="0"/>
            </a:endParaRPr>
          </a:p>
        </p:txBody>
      </p:sp>
      <p:pic>
        <p:nvPicPr>
          <p:cNvPr id="8" name="Picture 7">
            <a:extLst>
              <a:ext uri="{FF2B5EF4-FFF2-40B4-BE49-F238E27FC236}">
                <a16:creationId xmlns:a16="http://schemas.microsoft.com/office/drawing/2014/main" id="{3654D001-FE7D-48C2-8DEF-8C1A3197CC3E}"/>
              </a:ext>
            </a:extLst>
          </p:cNvPr>
          <p:cNvPicPr>
            <a:picLocks noChangeAspect="1"/>
          </p:cNvPicPr>
          <p:nvPr/>
        </p:nvPicPr>
        <p:blipFill>
          <a:blip r:embed="rId4"/>
          <a:stretch>
            <a:fillRect/>
          </a:stretch>
        </p:blipFill>
        <p:spPr>
          <a:xfrm>
            <a:off x="408370" y="3429000"/>
            <a:ext cx="4676775" cy="3143250"/>
          </a:xfrm>
          <a:prstGeom prst="rect">
            <a:avLst/>
          </a:prstGeom>
        </p:spPr>
      </p:pic>
    </p:spTree>
    <p:extLst>
      <p:ext uri="{BB962C8B-B14F-4D97-AF65-F5344CB8AC3E}">
        <p14:creationId xmlns:p14="http://schemas.microsoft.com/office/powerpoint/2010/main" val="1147060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838200" y="1345349"/>
            <a:ext cx="9150661" cy="689126"/>
          </a:xfrm>
        </p:spPr>
        <p:txBody>
          <a:bodyPr/>
          <a:lstStyle/>
          <a:p>
            <a:r>
              <a:rPr lang="en-US" dirty="0"/>
              <a:t>Sometimes, an IFFE might seem like a hacky solution.</a:t>
            </a:r>
          </a:p>
          <a:p>
            <a:r>
              <a:rPr lang="en-US" dirty="0"/>
              <a:t>After all, we’re using React, where the recommended approaches are things like splitting up the logic of your app in as many components as possible and using functional programming instead of imperative programming.</a:t>
            </a:r>
          </a:p>
          <a:p>
            <a:r>
              <a:rPr lang="en-US" dirty="0"/>
              <a:t>So moving the conditional rendering logic to a sub-component that renders different things based on its props would be a good option.</a:t>
            </a:r>
          </a:p>
          <a:p>
            <a:r>
              <a:rPr lang="en-US" dirty="0"/>
              <a:t>But here, I’m going to do something a bit different to show you how you can go from an imperative solution to more declarative and functional solutions.</a:t>
            </a:r>
          </a:p>
        </p:txBody>
      </p:sp>
      <p:sp>
        <p:nvSpPr>
          <p:cNvPr id="8" name="Title 3">
            <a:extLst>
              <a:ext uri="{FF2B5EF4-FFF2-40B4-BE49-F238E27FC236}">
                <a16:creationId xmlns:a16="http://schemas.microsoft.com/office/drawing/2014/main" id="{610ACB98-FF01-48AF-903E-F19B49005189}"/>
              </a:ext>
            </a:extLst>
          </p:cNvPr>
          <p:cNvSpPr txBox="1">
            <a:spLocks/>
          </p:cNvSpPr>
          <p:nvPr/>
        </p:nvSpPr>
        <p:spPr>
          <a:xfrm>
            <a:off x="838200" y="152399"/>
            <a:ext cx="10820400" cy="575569"/>
          </a:xfrm>
          <a:prstGeom prst="rect">
            <a:avLst/>
          </a:prstGeom>
        </p:spPr>
        <p:txBody>
          <a:bodyPr lIns="0" anchor="t">
            <a:noAutofit/>
          </a:bodyPr>
          <a:lstStyle>
            <a:lvl1pPr algn="l" defTabSz="914400" rtl="0" eaLnBrk="1" latinLnBrk="0" hangingPunct="1">
              <a:lnSpc>
                <a:spcPts val="11000"/>
              </a:lnSpc>
              <a:spcBef>
                <a:spcPct val="0"/>
              </a:spcBef>
              <a:buNone/>
              <a:defRPr sz="12500" kern="1200">
                <a:solidFill>
                  <a:schemeClr val="tx1"/>
                </a:solidFill>
                <a:latin typeface="Proxima Nova Black" panose="02000506030000020004" pitchFamily="50" charset="0"/>
                <a:ea typeface="+mj-ea"/>
                <a:cs typeface="+mj-cs"/>
              </a:defRPr>
            </a:lvl1pPr>
          </a:lstStyle>
          <a:p>
            <a:pPr>
              <a:lnSpc>
                <a:spcPct val="100000"/>
              </a:lnSpc>
            </a:pPr>
            <a:r>
              <a:rPr lang="en-US" sz="3500" dirty="0"/>
              <a:t>Subcomponents</a:t>
            </a:r>
            <a:endParaRPr lang="uk-UA" sz="3500" dirty="0"/>
          </a:p>
        </p:txBody>
      </p:sp>
    </p:spTree>
    <p:extLst>
      <p:ext uri="{BB962C8B-B14F-4D97-AF65-F5344CB8AC3E}">
        <p14:creationId xmlns:p14="http://schemas.microsoft.com/office/powerpoint/2010/main" val="31936690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0752ABC-207B-46B4-A0EB-C1AFCB118BBF}"/>
              </a:ext>
            </a:extLst>
          </p:cNvPr>
          <p:cNvSpPr/>
          <p:nvPr/>
        </p:nvSpPr>
        <p:spPr>
          <a:xfrm>
            <a:off x="324404" y="170450"/>
            <a:ext cx="4045258" cy="707886"/>
          </a:xfrm>
          <a:prstGeom prst="rect">
            <a:avLst/>
          </a:prstGeom>
        </p:spPr>
        <p:txBody>
          <a:bodyPr wrap="square">
            <a:spAutoFit/>
          </a:bodyPr>
          <a:lstStyle/>
          <a:p>
            <a:r>
              <a:rPr lang="en-US" sz="2000" dirty="0">
                <a:latin typeface="Open Sans" panose="020B0604020202020204" charset="0"/>
                <a:ea typeface="Open Sans" panose="020B0604020202020204" charset="0"/>
                <a:cs typeface="Open Sans" panose="020B0604020202020204" charset="0"/>
              </a:rPr>
              <a:t>I’m going to start by creating a </a:t>
            </a:r>
            <a:r>
              <a:rPr lang="en-US" sz="2000" dirty="0" err="1">
                <a:latin typeface="Open Sans" panose="020B0604020202020204" charset="0"/>
                <a:ea typeface="Open Sans" panose="020B0604020202020204" charset="0"/>
                <a:cs typeface="Open Sans" panose="020B0604020202020204" charset="0"/>
              </a:rPr>
              <a:t>SaveComponent</a:t>
            </a:r>
            <a:r>
              <a:rPr lang="en-US" sz="2000" dirty="0">
                <a:latin typeface="Open Sans" panose="020B0604020202020204" charset="0"/>
                <a:ea typeface="Open Sans" panose="020B0604020202020204" charset="0"/>
                <a:cs typeface="Open Sans" panose="020B0604020202020204" charset="0"/>
              </a:rPr>
              <a:t>:</a:t>
            </a:r>
          </a:p>
        </p:txBody>
      </p:sp>
      <p:pic>
        <p:nvPicPr>
          <p:cNvPr id="2" name="Picture 1">
            <a:extLst>
              <a:ext uri="{FF2B5EF4-FFF2-40B4-BE49-F238E27FC236}">
                <a16:creationId xmlns:a16="http://schemas.microsoft.com/office/drawing/2014/main" id="{200D6392-183D-463A-9B8A-BCAED6872C19}"/>
              </a:ext>
            </a:extLst>
          </p:cNvPr>
          <p:cNvPicPr>
            <a:picLocks noChangeAspect="1"/>
          </p:cNvPicPr>
          <p:nvPr/>
        </p:nvPicPr>
        <p:blipFill>
          <a:blip r:embed="rId2"/>
          <a:stretch>
            <a:fillRect/>
          </a:stretch>
        </p:blipFill>
        <p:spPr>
          <a:xfrm>
            <a:off x="324404" y="878336"/>
            <a:ext cx="4614486" cy="3313201"/>
          </a:xfrm>
          <a:prstGeom prst="rect">
            <a:avLst/>
          </a:prstGeom>
        </p:spPr>
      </p:pic>
      <p:sp>
        <p:nvSpPr>
          <p:cNvPr id="9" name="Rectangle 8">
            <a:extLst>
              <a:ext uri="{FF2B5EF4-FFF2-40B4-BE49-F238E27FC236}">
                <a16:creationId xmlns:a16="http://schemas.microsoft.com/office/drawing/2014/main" id="{157C1621-58F5-4D92-BF72-5242FEC61B0C}"/>
              </a:ext>
            </a:extLst>
          </p:cNvPr>
          <p:cNvSpPr/>
          <p:nvPr/>
        </p:nvSpPr>
        <p:spPr>
          <a:xfrm>
            <a:off x="233778" y="4172952"/>
            <a:ext cx="5545585" cy="1015663"/>
          </a:xfrm>
          <a:prstGeom prst="rect">
            <a:avLst/>
          </a:prstGeom>
        </p:spPr>
        <p:txBody>
          <a:bodyPr wrap="square">
            <a:spAutoFit/>
          </a:bodyPr>
          <a:lstStyle/>
          <a:p>
            <a:r>
              <a:rPr lang="en-US" sz="2000" dirty="0">
                <a:latin typeface="Open Sans" panose="020B0604020202020204" charset="0"/>
                <a:ea typeface="Open Sans" panose="020B0604020202020204" charset="0"/>
                <a:cs typeface="Open Sans" panose="020B0604020202020204" charset="0"/>
              </a:rPr>
              <a:t>As properties, it receives everything it needs to work. In the same way, there’s an </a:t>
            </a:r>
            <a:r>
              <a:rPr lang="en-US" sz="2000" dirty="0" err="1">
                <a:latin typeface="Open Sans" panose="020B0604020202020204" charset="0"/>
                <a:ea typeface="Open Sans" panose="020B0604020202020204" charset="0"/>
                <a:cs typeface="Open Sans" panose="020B0604020202020204" charset="0"/>
              </a:rPr>
              <a:t>EditComponent</a:t>
            </a:r>
            <a:r>
              <a:rPr lang="en-US" sz="2000" dirty="0">
                <a:latin typeface="Open Sans" panose="020B0604020202020204" charset="0"/>
                <a:ea typeface="Open Sans" panose="020B0604020202020204" charset="0"/>
                <a:cs typeface="Open Sans" panose="020B0604020202020204" charset="0"/>
              </a:rPr>
              <a:t>:</a:t>
            </a:r>
          </a:p>
        </p:txBody>
      </p:sp>
      <p:pic>
        <p:nvPicPr>
          <p:cNvPr id="10" name="Picture 9">
            <a:extLst>
              <a:ext uri="{FF2B5EF4-FFF2-40B4-BE49-F238E27FC236}">
                <a16:creationId xmlns:a16="http://schemas.microsoft.com/office/drawing/2014/main" id="{440EC2FF-AB31-490F-82F7-E43666FBA3DF}"/>
              </a:ext>
            </a:extLst>
          </p:cNvPr>
          <p:cNvPicPr>
            <a:picLocks noChangeAspect="1"/>
          </p:cNvPicPr>
          <p:nvPr/>
        </p:nvPicPr>
        <p:blipFill>
          <a:blip r:embed="rId3"/>
          <a:stretch>
            <a:fillRect/>
          </a:stretch>
        </p:blipFill>
        <p:spPr>
          <a:xfrm>
            <a:off x="331434" y="5192868"/>
            <a:ext cx="4359490" cy="1494682"/>
          </a:xfrm>
          <a:prstGeom prst="rect">
            <a:avLst/>
          </a:prstGeom>
        </p:spPr>
      </p:pic>
      <p:sp>
        <p:nvSpPr>
          <p:cNvPr id="11" name="Rectangle 10">
            <a:extLst>
              <a:ext uri="{FF2B5EF4-FFF2-40B4-BE49-F238E27FC236}">
                <a16:creationId xmlns:a16="http://schemas.microsoft.com/office/drawing/2014/main" id="{60B5EB18-44C8-4C54-B417-EE3D4AD2A4D5}"/>
              </a:ext>
            </a:extLst>
          </p:cNvPr>
          <p:cNvSpPr/>
          <p:nvPr/>
        </p:nvSpPr>
        <p:spPr>
          <a:xfrm>
            <a:off x="6003431" y="170450"/>
            <a:ext cx="5173852" cy="400110"/>
          </a:xfrm>
          <a:prstGeom prst="rect">
            <a:avLst/>
          </a:prstGeom>
        </p:spPr>
        <p:txBody>
          <a:bodyPr wrap="none">
            <a:spAutoFit/>
          </a:bodyPr>
          <a:lstStyle/>
          <a:p>
            <a:r>
              <a:rPr lang="en-US" sz="2000" dirty="0">
                <a:latin typeface="Open Sans" panose="020B0604020202020204" charset="0"/>
                <a:ea typeface="Open Sans" panose="020B0604020202020204" charset="0"/>
                <a:cs typeface="Open Sans" panose="020B0604020202020204" charset="0"/>
              </a:rPr>
              <a:t>Now the render method can look like this:</a:t>
            </a:r>
          </a:p>
        </p:txBody>
      </p:sp>
      <p:pic>
        <p:nvPicPr>
          <p:cNvPr id="13" name="Picture 12">
            <a:extLst>
              <a:ext uri="{FF2B5EF4-FFF2-40B4-BE49-F238E27FC236}">
                <a16:creationId xmlns:a16="http://schemas.microsoft.com/office/drawing/2014/main" id="{80464E97-4B08-413E-AF92-F8A7AC50D522}"/>
              </a:ext>
            </a:extLst>
          </p:cNvPr>
          <p:cNvPicPr>
            <a:picLocks noChangeAspect="1"/>
          </p:cNvPicPr>
          <p:nvPr/>
        </p:nvPicPr>
        <p:blipFill>
          <a:blip r:embed="rId4"/>
          <a:stretch>
            <a:fillRect/>
          </a:stretch>
        </p:blipFill>
        <p:spPr>
          <a:xfrm>
            <a:off x="6003431" y="825807"/>
            <a:ext cx="6096001" cy="4762500"/>
          </a:xfrm>
          <a:prstGeom prst="rect">
            <a:avLst/>
          </a:prstGeom>
        </p:spPr>
      </p:pic>
    </p:spTree>
    <p:extLst>
      <p:ext uri="{BB962C8B-B14F-4D97-AF65-F5344CB8AC3E}">
        <p14:creationId xmlns:p14="http://schemas.microsoft.com/office/powerpoint/2010/main" val="29133523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900344" y="821567"/>
            <a:ext cx="9150661" cy="689126"/>
          </a:xfrm>
        </p:spPr>
        <p:txBody>
          <a:bodyPr/>
          <a:lstStyle/>
          <a:p>
            <a:r>
              <a:rPr lang="en-US" dirty="0"/>
              <a:t>What about nested conditional renderings? Yes, it is possible. For instance, let’s have a look at the List component that can either show a list, an empty text or nothing.</a:t>
            </a:r>
          </a:p>
          <a:p>
            <a:br>
              <a:rPr lang="en-US" dirty="0"/>
            </a:br>
            <a:endParaRPr lang="en-US" dirty="0"/>
          </a:p>
        </p:txBody>
      </p:sp>
      <p:sp>
        <p:nvSpPr>
          <p:cNvPr id="8" name="Title 3">
            <a:extLst>
              <a:ext uri="{FF2B5EF4-FFF2-40B4-BE49-F238E27FC236}">
                <a16:creationId xmlns:a16="http://schemas.microsoft.com/office/drawing/2014/main" id="{610ACB98-FF01-48AF-903E-F19B49005189}"/>
              </a:ext>
            </a:extLst>
          </p:cNvPr>
          <p:cNvSpPr txBox="1">
            <a:spLocks/>
          </p:cNvSpPr>
          <p:nvPr/>
        </p:nvSpPr>
        <p:spPr>
          <a:xfrm>
            <a:off x="838200" y="152399"/>
            <a:ext cx="10820400" cy="575569"/>
          </a:xfrm>
          <a:prstGeom prst="rect">
            <a:avLst/>
          </a:prstGeom>
        </p:spPr>
        <p:txBody>
          <a:bodyPr lIns="0" anchor="t">
            <a:noAutofit/>
          </a:bodyPr>
          <a:lstStyle>
            <a:lvl1pPr algn="l" defTabSz="914400" rtl="0" eaLnBrk="1" latinLnBrk="0" hangingPunct="1">
              <a:lnSpc>
                <a:spcPts val="11000"/>
              </a:lnSpc>
              <a:spcBef>
                <a:spcPct val="0"/>
              </a:spcBef>
              <a:buNone/>
              <a:defRPr sz="12500" kern="1200">
                <a:solidFill>
                  <a:schemeClr val="tx1"/>
                </a:solidFill>
                <a:latin typeface="Proxima Nova Black" panose="02000506030000020004" pitchFamily="50" charset="0"/>
                <a:ea typeface="+mj-ea"/>
                <a:cs typeface="+mj-cs"/>
              </a:defRPr>
            </a:lvl1pPr>
          </a:lstStyle>
          <a:p>
            <a:pPr>
              <a:lnSpc>
                <a:spcPct val="100000"/>
              </a:lnSpc>
            </a:pPr>
            <a:r>
              <a:rPr lang="en-US" sz="3500" dirty="0"/>
              <a:t>Multi-Level Conditional Rendering</a:t>
            </a:r>
            <a:endParaRPr lang="uk-UA" sz="3500" dirty="0"/>
          </a:p>
        </p:txBody>
      </p:sp>
      <p:pic>
        <p:nvPicPr>
          <p:cNvPr id="2" name="Picture 1">
            <a:extLst>
              <a:ext uri="{FF2B5EF4-FFF2-40B4-BE49-F238E27FC236}">
                <a16:creationId xmlns:a16="http://schemas.microsoft.com/office/drawing/2014/main" id="{2C0CEB5E-8B86-4A65-817A-EFB53C76687D}"/>
              </a:ext>
            </a:extLst>
          </p:cNvPr>
          <p:cNvPicPr>
            <a:picLocks noChangeAspect="1"/>
          </p:cNvPicPr>
          <p:nvPr/>
        </p:nvPicPr>
        <p:blipFill>
          <a:blip r:embed="rId2"/>
          <a:stretch>
            <a:fillRect/>
          </a:stretch>
        </p:blipFill>
        <p:spPr>
          <a:xfrm>
            <a:off x="838200" y="1784172"/>
            <a:ext cx="8471794" cy="4594248"/>
          </a:xfrm>
          <a:prstGeom prst="rect">
            <a:avLst/>
          </a:prstGeom>
        </p:spPr>
      </p:pic>
    </p:spTree>
    <p:extLst>
      <p:ext uri="{BB962C8B-B14F-4D97-AF65-F5344CB8AC3E}">
        <p14:creationId xmlns:p14="http://schemas.microsoft.com/office/powerpoint/2010/main" val="34689611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0752ABC-207B-46B4-A0EB-C1AFCB118BBF}"/>
              </a:ext>
            </a:extLst>
          </p:cNvPr>
          <p:cNvSpPr/>
          <p:nvPr/>
        </p:nvSpPr>
        <p:spPr>
          <a:xfrm>
            <a:off x="349188" y="630813"/>
            <a:ext cx="10525958" cy="1015663"/>
          </a:xfrm>
          <a:prstGeom prst="rect">
            <a:avLst/>
          </a:prstGeom>
        </p:spPr>
        <p:txBody>
          <a:bodyPr wrap="square">
            <a:spAutoFit/>
          </a:bodyPr>
          <a:lstStyle/>
          <a:p>
            <a:r>
              <a:rPr lang="en-US" sz="2000" dirty="0">
                <a:latin typeface="Open Sans" panose="020B0604020202020204" charset="0"/>
                <a:ea typeface="Open Sans" panose="020B0604020202020204" charset="0"/>
                <a:cs typeface="Open Sans" panose="020B0604020202020204" charset="0"/>
              </a:rPr>
              <a:t>It works. However I would recommend to keep the nested conditional renderings to a minimum. It makes it less readable. My recommendation would be to split it up into smaller components which themselves have conditional renderings.</a:t>
            </a:r>
          </a:p>
        </p:txBody>
      </p:sp>
      <p:pic>
        <p:nvPicPr>
          <p:cNvPr id="3" name="Picture 2">
            <a:extLst>
              <a:ext uri="{FF2B5EF4-FFF2-40B4-BE49-F238E27FC236}">
                <a16:creationId xmlns:a16="http://schemas.microsoft.com/office/drawing/2014/main" id="{9DCCD2FD-5848-4B4D-AE18-AA741E28D748}"/>
              </a:ext>
            </a:extLst>
          </p:cNvPr>
          <p:cNvPicPr>
            <a:picLocks noChangeAspect="1"/>
          </p:cNvPicPr>
          <p:nvPr/>
        </p:nvPicPr>
        <p:blipFill>
          <a:blip r:embed="rId2"/>
          <a:stretch>
            <a:fillRect/>
          </a:stretch>
        </p:blipFill>
        <p:spPr>
          <a:xfrm>
            <a:off x="435005" y="1674897"/>
            <a:ext cx="7182589" cy="3508205"/>
          </a:xfrm>
          <a:prstGeom prst="rect">
            <a:avLst/>
          </a:prstGeom>
        </p:spPr>
      </p:pic>
      <p:sp>
        <p:nvSpPr>
          <p:cNvPr id="5" name="Rectangle 4">
            <a:extLst>
              <a:ext uri="{FF2B5EF4-FFF2-40B4-BE49-F238E27FC236}">
                <a16:creationId xmlns:a16="http://schemas.microsoft.com/office/drawing/2014/main" id="{E4DD167D-73D5-43CE-8C2C-FD4E8E347223}"/>
              </a:ext>
            </a:extLst>
          </p:cNvPr>
          <p:cNvSpPr/>
          <p:nvPr/>
        </p:nvSpPr>
        <p:spPr>
          <a:xfrm>
            <a:off x="269288" y="5380672"/>
            <a:ext cx="10099829" cy="1323439"/>
          </a:xfrm>
          <a:prstGeom prst="rect">
            <a:avLst/>
          </a:prstGeom>
        </p:spPr>
        <p:txBody>
          <a:bodyPr wrap="square">
            <a:spAutoFit/>
          </a:bodyPr>
          <a:lstStyle/>
          <a:p>
            <a:r>
              <a:rPr lang="en-US" sz="2000" dirty="0">
                <a:latin typeface="Open Sans" panose="020B0604020202020204" charset="0"/>
                <a:ea typeface="Open Sans" panose="020B0604020202020204" charset="0"/>
                <a:cs typeface="Open Sans" panose="020B0604020202020204" charset="0"/>
              </a:rPr>
              <a:t>Still, it doesn’t look that appealing. Let’s have a look at higher order components and how they would help to tidy it up.</a:t>
            </a:r>
          </a:p>
          <a:p>
            <a:br>
              <a:rPr lang="en-US" sz="2000" dirty="0">
                <a:latin typeface="Open Sans" panose="020B0604020202020204" charset="0"/>
                <a:ea typeface="Open Sans" panose="020B0604020202020204" charset="0"/>
                <a:cs typeface="Open Sans" panose="020B0604020202020204" charset="0"/>
              </a:rPr>
            </a:br>
            <a:endParaRPr lang="en-US" sz="2000" dirty="0">
              <a:latin typeface="Open Sans" panose="020B0604020202020204" charset="0"/>
              <a:ea typeface="Open Sans" panose="020B0604020202020204" charset="0"/>
              <a:cs typeface="Open Sans" panose="020B0604020202020204" charset="0"/>
            </a:endParaRPr>
          </a:p>
        </p:txBody>
      </p:sp>
    </p:spTree>
    <p:extLst>
      <p:ext uri="{BB962C8B-B14F-4D97-AF65-F5344CB8AC3E}">
        <p14:creationId xmlns:p14="http://schemas.microsoft.com/office/powerpoint/2010/main" val="39197150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900344" y="821567"/>
            <a:ext cx="10303275" cy="689126"/>
          </a:xfrm>
        </p:spPr>
        <p:txBody>
          <a:bodyPr/>
          <a:lstStyle/>
          <a:p>
            <a:r>
              <a:rPr lang="en-US" dirty="0"/>
              <a:t>Higher order components (HOCs) are a perfect match for conditional rendering in React. HOCs can have multiple use cases. Yet one use case could be to alter the look of a component. To make the use case more specific: it could be to apply a conditional rendering for a component. Let’s have a look at a HOC that either shows a loading indicator or a desired component.</a:t>
            </a:r>
          </a:p>
        </p:txBody>
      </p:sp>
      <p:sp>
        <p:nvSpPr>
          <p:cNvPr id="8" name="Title 3">
            <a:extLst>
              <a:ext uri="{FF2B5EF4-FFF2-40B4-BE49-F238E27FC236}">
                <a16:creationId xmlns:a16="http://schemas.microsoft.com/office/drawing/2014/main" id="{610ACB98-FF01-48AF-903E-F19B49005189}"/>
              </a:ext>
            </a:extLst>
          </p:cNvPr>
          <p:cNvSpPr txBox="1">
            <a:spLocks/>
          </p:cNvSpPr>
          <p:nvPr/>
        </p:nvSpPr>
        <p:spPr>
          <a:xfrm>
            <a:off x="838200" y="152399"/>
            <a:ext cx="10820400" cy="575569"/>
          </a:xfrm>
          <a:prstGeom prst="rect">
            <a:avLst/>
          </a:prstGeom>
        </p:spPr>
        <p:txBody>
          <a:bodyPr lIns="0" anchor="t">
            <a:noAutofit/>
          </a:bodyPr>
          <a:lstStyle>
            <a:lvl1pPr algn="l" defTabSz="914400" rtl="0" eaLnBrk="1" latinLnBrk="0" hangingPunct="1">
              <a:lnSpc>
                <a:spcPts val="11000"/>
              </a:lnSpc>
              <a:spcBef>
                <a:spcPct val="0"/>
              </a:spcBef>
              <a:buNone/>
              <a:defRPr sz="12500" kern="1200">
                <a:solidFill>
                  <a:schemeClr val="tx1"/>
                </a:solidFill>
                <a:latin typeface="Proxima Nova Black" panose="02000506030000020004" pitchFamily="50" charset="0"/>
                <a:ea typeface="+mj-ea"/>
                <a:cs typeface="+mj-cs"/>
              </a:defRPr>
            </a:lvl1pPr>
          </a:lstStyle>
          <a:p>
            <a:pPr>
              <a:lnSpc>
                <a:spcPct val="100000"/>
              </a:lnSpc>
            </a:pPr>
            <a:r>
              <a:rPr lang="en-US" sz="3500" dirty="0"/>
              <a:t>Higher-order components</a:t>
            </a:r>
            <a:endParaRPr lang="uk-UA" sz="3500" dirty="0"/>
          </a:p>
        </p:txBody>
      </p:sp>
      <p:pic>
        <p:nvPicPr>
          <p:cNvPr id="3" name="Picture 2">
            <a:extLst>
              <a:ext uri="{FF2B5EF4-FFF2-40B4-BE49-F238E27FC236}">
                <a16:creationId xmlns:a16="http://schemas.microsoft.com/office/drawing/2014/main" id="{FDDF5FC6-62B5-405E-9B27-B79E40FFB5DC}"/>
              </a:ext>
            </a:extLst>
          </p:cNvPr>
          <p:cNvPicPr>
            <a:picLocks noChangeAspect="1"/>
          </p:cNvPicPr>
          <p:nvPr/>
        </p:nvPicPr>
        <p:blipFill>
          <a:blip r:embed="rId2"/>
          <a:stretch>
            <a:fillRect/>
          </a:stretch>
        </p:blipFill>
        <p:spPr>
          <a:xfrm>
            <a:off x="779756" y="2487926"/>
            <a:ext cx="6307584" cy="3708305"/>
          </a:xfrm>
          <a:prstGeom prst="rect">
            <a:avLst/>
          </a:prstGeom>
        </p:spPr>
      </p:pic>
      <p:sp>
        <p:nvSpPr>
          <p:cNvPr id="4" name="Rectangle 3">
            <a:extLst>
              <a:ext uri="{FF2B5EF4-FFF2-40B4-BE49-F238E27FC236}">
                <a16:creationId xmlns:a16="http://schemas.microsoft.com/office/drawing/2014/main" id="{ADFB420A-BBA3-4603-A626-784D35F617A2}"/>
              </a:ext>
            </a:extLst>
          </p:cNvPr>
          <p:cNvSpPr/>
          <p:nvPr/>
        </p:nvSpPr>
        <p:spPr>
          <a:xfrm>
            <a:off x="7054049" y="2702757"/>
            <a:ext cx="4478044" cy="2862322"/>
          </a:xfrm>
          <a:prstGeom prst="rect">
            <a:avLst/>
          </a:prstGeom>
        </p:spPr>
        <p:txBody>
          <a:bodyPr wrap="square">
            <a:spAutoFit/>
          </a:bodyPr>
          <a:lstStyle/>
          <a:p>
            <a:r>
              <a:rPr lang="en-US" sz="2000" dirty="0">
                <a:latin typeface="Open Sans" panose="020B0604020202020204" charset="0"/>
                <a:ea typeface="Open Sans" panose="020B0604020202020204" charset="0"/>
                <a:cs typeface="Open Sans" panose="020B0604020202020204" charset="0"/>
              </a:rPr>
              <a:t>In the example, the List component can focus on rendering the list. It doesn’t have to bother with a loading state. Ultimately you could add more HOCs to shield away multiple conditional rendering edge cases.</a:t>
            </a:r>
          </a:p>
          <a:p>
            <a:br>
              <a:rPr lang="en-US" sz="2000" dirty="0">
                <a:latin typeface="Open Sans" panose="020B0604020202020204" charset="0"/>
                <a:ea typeface="Open Sans" panose="020B0604020202020204" charset="0"/>
                <a:cs typeface="Open Sans" panose="020B0604020202020204" charset="0"/>
              </a:rPr>
            </a:br>
            <a:endParaRPr lang="en-US" sz="2000" dirty="0">
              <a:latin typeface="Open Sans" panose="020B0604020202020204" charset="0"/>
              <a:ea typeface="Open Sans" panose="020B0604020202020204" charset="0"/>
              <a:cs typeface="Open Sans" panose="020B0604020202020204" charset="0"/>
            </a:endParaRPr>
          </a:p>
        </p:txBody>
      </p:sp>
    </p:spTree>
    <p:extLst>
      <p:ext uri="{BB962C8B-B14F-4D97-AF65-F5344CB8AC3E}">
        <p14:creationId xmlns:p14="http://schemas.microsoft.com/office/powerpoint/2010/main" val="27742592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0752ABC-207B-46B4-A0EB-C1AFCB118BBF}"/>
              </a:ext>
            </a:extLst>
          </p:cNvPr>
          <p:cNvSpPr/>
          <p:nvPr/>
        </p:nvSpPr>
        <p:spPr>
          <a:xfrm>
            <a:off x="664345" y="2459504"/>
            <a:ext cx="10863309" cy="1938992"/>
          </a:xfrm>
          <a:prstGeom prst="rect">
            <a:avLst/>
          </a:prstGeom>
        </p:spPr>
        <p:txBody>
          <a:bodyPr wrap="square">
            <a:spAutoFit/>
          </a:bodyPr>
          <a:lstStyle/>
          <a:p>
            <a:r>
              <a:rPr lang="en-US" sz="2000" dirty="0">
                <a:latin typeface="Open Sans" panose="020B0604020202020204" charset="0"/>
                <a:ea typeface="Open Sans" panose="020B0604020202020204" charset="0"/>
                <a:cs typeface="Open Sans" panose="020B0604020202020204" charset="0"/>
              </a:rPr>
              <a:t>A HOC can opt-in one or multiple conditional renderings. You could even use multiple HOCs to handle several conditional renderings. After all, a HOC shields away all the noise from your component. If you want to dig deeper into conditional renderings with higher order components, you should read the </a:t>
            </a:r>
            <a:r>
              <a:rPr lang="en-US" sz="2000" dirty="0">
                <a:latin typeface="Open Sans" panose="020B0604020202020204" charset="0"/>
                <a:ea typeface="Open Sans" panose="020B0604020202020204" charset="0"/>
                <a:cs typeface="Open Sans" panose="020B0604020202020204" charset="0"/>
                <a:hlinkClick r:id="rId2"/>
              </a:rPr>
              <a:t>conditional rendering with HOCs article</a:t>
            </a:r>
            <a:r>
              <a:rPr lang="en-US" sz="2000" dirty="0">
                <a:latin typeface="Open Sans" panose="020B0604020202020204" charset="0"/>
                <a:ea typeface="Open Sans" panose="020B0604020202020204" charset="0"/>
                <a:cs typeface="Open Sans" panose="020B0604020202020204" charset="0"/>
              </a:rPr>
              <a:t>.</a:t>
            </a:r>
          </a:p>
          <a:p>
            <a:br>
              <a:rPr lang="en-US" sz="2000" dirty="0">
                <a:latin typeface="Open Sans" panose="020B0604020202020204" charset="0"/>
                <a:ea typeface="Open Sans" panose="020B0604020202020204" charset="0"/>
                <a:cs typeface="Open Sans" panose="020B0604020202020204" charset="0"/>
              </a:rPr>
            </a:br>
            <a:endParaRPr lang="en-US" sz="2000" dirty="0">
              <a:latin typeface="Open Sans" panose="020B0604020202020204" charset="0"/>
              <a:ea typeface="Open Sans" panose="020B0604020202020204" charset="0"/>
              <a:cs typeface="Open Sans" panose="020B0604020202020204" charset="0"/>
            </a:endParaRPr>
          </a:p>
        </p:txBody>
      </p:sp>
    </p:spTree>
    <p:extLst>
      <p:ext uri="{BB962C8B-B14F-4D97-AF65-F5344CB8AC3E}">
        <p14:creationId xmlns:p14="http://schemas.microsoft.com/office/powerpoint/2010/main" val="6288223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900344" y="821567"/>
            <a:ext cx="10303275" cy="689126"/>
          </a:xfrm>
        </p:spPr>
        <p:txBody>
          <a:bodyPr/>
          <a:lstStyle/>
          <a:p>
            <a:r>
              <a:rPr lang="en-US" dirty="0"/>
              <a:t>Last but not least there exist external solutions to deal with conditional renderings. They add control components to enable conditional renderings without JavaScript in JSX. Then it is not question anymore on how to use if else in React.</a:t>
            </a:r>
          </a:p>
        </p:txBody>
      </p:sp>
      <p:sp>
        <p:nvSpPr>
          <p:cNvPr id="8" name="Title 3">
            <a:extLst>
              <a:ext uri="{FF2B5EF4-FFF2-40B4-BE49-F238E27FC236}">
                <a16:creationId xmlns:a16="http://schemas.microsoft.com/office/drawing/2014/main" id="{610ACB98-FF01-48AF-903E-F19B49005189}"/>
              </a:ext>
            </a:extLst>
          </p:cNvPr>
          <p:cNvSpPr txBox="1">
            <a:spLocks/>
          </p:cNvSpPr>
          <p:nvPr/>
        </p:nvSpPr>
        <p:spPr>
          <a:xfrm>
            <a:off x="838200" y="152399"/>
            <a:ext cx="10820400" cy="575569"/>
          </a:xfrm>
          <a:prstGeom prst="rect">
            <a:avLst/>
          </a:prstGeom>
        </p:spPr>
        <p:txBody>
          <a:bodyPr lIns="0" anchor="t">
            <a:noAutofit/>
          </a:bodyPr>
          <a:lstStyle>
            <a:lvl1pPr algn="l" defTabSz="914400" rtl="0" eaLnBrk="1" latinLnBrk="0" hangingPunct="1">
              <a:lnSpc>
                <a:spcPts val="11000"/>
              </a:lnSpc>
              <a:spcBef>
                <a:spcPct val="0"/>
              </a:spcBef>
              <a:buNone/>
              <a:defRPr sz="12500" kern="1200">
                <a:solidFill>
                  <a:schemeClr val="tx1"/>
                </a:solidFill>
                <a:latin typeface="Proxima Nova Black" panose="02000506030000020004" pitchFamily="50" charset="0"/>
                <a:ea typeface="+mj-ea"/>
                <a:cs typeface="+mj-cs"/>
              </a:defRPr>
            </a:lvl1pPr>
          </a:lstStyle>
          <a:p>
            <a:pPr>
              <a:lnSpc>
                <a:spcPct val="100000"/>
              </a:lnSpc>
            </a:pPr>
            <a:r>
              <a:rPr lang="en-US" sz="3500" dirty="0"/>
              <a:t>External Templating Components</a:t>
            </a:r>
            <a:endParaRPr lang="uk-UA" sz="3500" dirty="0"/>
          </a:p>
        </p:txBody>
      </p:sp>
      <p:pic>
        <p:nvPicPr>
          <p:cNvPr id="2" name="Picture 1">
            <a:extLst>
              <a:ext uri="{FF2B5EF4-FFF2-40B4-BE49-F238E27FC236}">
                <a16:creationId xmlns:a16="http://schemas.microsoft.com/office/drawing/2014/main" id="{31D02827-6850-423C-8E40-D46283ECCF03}"/>
              </a:ext>
            </a:extLst>
          </p:cNvPr>
          <p:cNvPicPr>
            <a:picLocks noChangeAspect="1"/>
          </p:cNvPicPr>
          <p:nvPr/>
        </p:nvPicPr>
        <p:blipFill>
          <a:blip r:embed="rId2"/>
          <a:stretch>
            <a:fillRect/>
          </a:stretch>
        </p:blipFill>
        <p:spPr>
          <a:xfrm>
            <a:off x="838200" y="1987349"/>
            <a:ext cx="6477000" cy="1800225"/>
          </a:xfrm>
          <a:prstGeom prst="rect">
            <a:avLst/>
          </a:prstGeom>
        </p:spPr>
      </p:pic>
      <p:sp>
        <p:nvSpPr>
          <p:cNvPr id="6" name="Rectangle 5">
            <a:extLst>
              <a:ext uri="{FF2B5EF4-FFF2-40B4-BE49-F238E27FC236}">
                <a16:creationId xmlns:a16="http://schemas.microsoft.com/office/drawing/2014/main" id="{31A4FCA6-80C1-4310-B9CC-719A08680FE4}"/>
              </a:ext>
            </a:extLst>
          </p:cNvPr>
          <p:cNvSpPr/>
          <p:nvPr/>
        </p:nvSpPr>
        <p:spPr>
          <a:xfrm>
            <a:off x="775316" y="4084558"/>
            <a:ext cx="10303274" cy="1631216"/>
          </a:xfrm>
          <a:prstGeom prst="rect">
            <a:avLst/>
          </a:prstGeom>
        </p:spPr>
        <p:txBody>
          <a:bodyPr wrap="square">
            <a:spAutoFit/>
          </a:bodyPr>
          <a:lstStyle/>
          <a:p>
            <a:r>
              <a:rPr lang="en-US" sz="2000" dirty="0">
                <a:latin typeface="Open Sans" panose="020B0604020202020204" charset="0"/>
                <a:ea typeface="Open Sans" panose="020B0604020202020204" charset="0"/>
                <a:cs typeface="Open Sans" panose="020B0604020202020204" charset="0"/>
              </a:rPr>
              <a:t>Some people use it. Personally I wouldn’t recommend it. JSX allows you to use the powerful set of JavaScript functionalities to handle conditional rendering. There is no need to add templating components to enable conditional rendering. A lot of people consider React including JSX as their library of choice, because they can handle the rendering with pure HTML and JS in JSX.</a:t>
            </a:r>
          </a:p>
        </p:txBody>
      </p:sp>
    </p:spTree>
    <p:extLst>
      <p:ext uri="{BB962C8B-B14F-4D97-AF65-F5344CB8AC3E}">
        <p14:creationId xmlns:p14="http://schemas.microsoft.com/office/powerpoint/2010/main" val="41152062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Conclusion</a:t>
            </a:r>
            <a:endParaRPr lang="uk-UA" dirty="0"/>
          </a:p>
        </p:txBody>
      </p:sp>
    </p:spTree>
    <p:extLst>
      <p:ext uri="{BB962C8B-B14F-4D97-AF65-F5344CB8AC3E}">
        <p14:creationId xmlns:p14="http://schemas.microsoft.com/office/powerpoint/2010/main" val="2216897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0752ABC-207B-46B4-A0EB-C1AFCB118BBF}"/>
              </a:ext>
            </a:extLst>
          </p:cNvPr>
          <p:cNvSpPr/>
          <p:nvPr/>
        </p:nvSpPr>
        <p:spPr>
          <a:xfrm>
            <a:off x="566691" y="568561"/>
            <a:ext cx="10863309" cy="4093428"/>
          </a:xfrm>
          <a:prstGeom prst="rect">
            <a:avLst/>
          </a:prstGeom>
        </p:spPr>
        <p:txBody>
          <a:bodyPr wrap="square">
            <a:spAutoFit/>
          </a:bodyPr>
          <a:lstStyle/>
          <a:p>
            <a:r>
              <a:rPr lang="en-US" sz="2000" dirty="0">
                <a:latin typeface="Open Sans" panose="020B0604020202020204" charset="0"/>
                <a:ea typeface="Open Sans" panose="020B0604020202020204" charset="0"/>
                <a:cs typeface="Open Sans" panose="020B0604020202020204" charset="0"/>
              </a:rPr>
              <a:t>Just as with many things in programming, there are many ways to implement conditional rendering in React.</a:t>
            </a:r>
          </a:p>
          <a:p>
            <a:endParaRPr lang="en-US" sz="2000" dirty="0">
              <a:latin typeface="Open Sans" panose="020B0604020202020204" charset="0"/>
              <a:ea typeface="Open Sans" panose="020B0604020202020204" charset="0"/>
              <a:cs typeface="Open Sans" panose="020B0604020202020204" charset="0"/>
            </a:endParaRPr>
          </a:p>
          <a:p>
            <a:r>
              <a:rPr lang="en-US" sz="2000" dirty="0">
                <a:latin typeface="Open Sans" panose="020B0604020202020204" charset="0"/>
                <a:ea typeface="Open Sans" panose="020B0604020202020204" charset="0"/>
                <a:cs typeface="Open Sans" panose="020B0604020202020204" charset="0"/>
              </a:rPr>
              <a:t>I’d say that with exception of the first method (if/else with many returns), you’re free to choose whatever method you want.</a:t>
            </a:r>
          </a:p>
          <a:p>
            <a:endParaRPr lang="en-US" sz="2000" dirty="0">
              <a:latin typeface="Open Sans" panose="020B0604020202020204" charset="0"/>
              <a:ea typeface="Open Sans" panose="020B0604020202020204" charset="0"/>
              <a:cs typeface="Open Sans" panose="020B0604020202020204" charset="0"/>
            </a:endParaRPr>
          </a:p>
          <a:p>
            <a:r>
              <a:rPr lang="en-US" sz="2000" dirty="0">
                <a:latin typeface="Open Sans" panose="020B0604020202020204" charset="0"/>
                <a:ea typeface="Open Sans" panose="020B0604020202020204" charset="0"/>
                <a:cs typeface="Open Sans" panose="020B0604020202020204" charset="0"/>
              </a:rPr>
              <a:t>You can decide which one is best for your situation based on:</a:t>
            </a:r>
          </a:p>
          <a:p>
            <a:endParaRPr lang="en-US" sz="2000" dirty="0">
              <a:latin typeface="Open Sans" panose="020B0604020202020204" charset="0"/>
              <a:ea typeface="Open Sans" panose="020B0604020202020204" charset="0"/>
              <a:cs typeface="Open Sans" panose="020B0604020202020204" charset="0"/>
            </a:endParaRPr>
          </a:p>
          <a:p>
            <a:pPr marL="342900" indent="-342900">
              <a:buFont typeface="Arial" panose="020B0604020202020204" pitchFamily="34" charset="0"/>
              <a:buChar char="•"/>
            </a:pPr>
            <a:r>
              <a:rPr lang="en-US" sz="2000" dirty="0">
                <a:latin typeface="Open Sans" panose="020B0604020202020204" charset="0"/>
                <a:ea typeface="Open Sans" panose="020B0604020202020204" charset="0"/>
                <a:cs typeface="Open Sans" panose="020B0604020202020204" charset="0"/>
              </a:rPr>
              <a:t>Your programming style</a:t>
            </a:r>
          </a:p>
          <a:p>
            <a:pPr marL="342900" indent="-342900">
              <a:buFont typeface="Arial" panose="020B0604020202020204" pitchFamily="34" charset="0"/>
              <a:buChar char="•"/>
            </a:pPr>
            <a:r>
              <a:rPr lang="en-US" sz="2000" dirty="0">
                <a:latin typeface="Open Sans" panose="020B0604020202020204" charset="0"/>
                <a:ea typeface="Open Sans" panose="020B0604020202020204" charset="0"/>
                <a:cs typeface="Open Sans" panose="020B0604020202020204" charset="0"/>
              </a:rPr>
              <a:t>How complex the conditional logic is</a:t>
            </a:r>
          </a:p>
          <a:p>
            <a:pPr marL="342900" indent="-342900">
              <a:buFont typeface="Arial" panose="020B0604020202020204" pitchFamily="34" charset="0"/>
              <a:buChar char="•"/>
            </a:pPr>
            <a:r>
              <a:rPr lang="en-US" sz="2000" dirty="0">
                <a:latin typeface="Open Sans" panose="020B0604020202020204" charset="0"/>
                <a:ea typeface="Open Sans" panose="020B0604020202020204" charset="0"/>
                <a:cs typeface="Open Sans" panose="020B0604020202020204" charset="0"/>
              </a:rPr>
              <a:t>How comfortable you are with JavaScript, JSX, and advanced React concepts (like HOCs)</a:t>
            </a:r>
          </a:p>
          <a:p>
            <a:endParaRPr lang="en-US" sz="2000" dirty="0">
              <a:latin typeface="Open Sans" panose="020B0604020202020204" charset="0"/>
              <a:ea typeface="Open Sans" panose="020B0604020202020204" charset="0"/>
              <a:cs typeface="Open Sans" panose="020B0604020202020204" charset="0"/>
            </a:endParaRPr>
          </a:p>
          <a:p>
            <a:r>
              <a:rPr lang="en-US" sz="2000" dirty="0">
                <a:latin typeface="Open Sans" panose="020B0604020202020204" charset="0"/>
                <a:ea typeface="Open Sans" panose="020B0604020202020204" charset="0"/>
                <a:cs typeface="Open Sans" panose="020B0604020202020204" charset="0"/>
              </a:rPr>
              <a:t>And all things being equal, always favor simplicity and readability.</a:t>
            </a:r>
          </a:p>
        </p:txBody>
      </p:sp>
    </p:spTree>
    <p:extLst>
      <p:ext uri="{BB962C8B-B14F-4D97-AF65-F5344CB8AC3E}">
        <p14:creationId xmlns:p14="http://schemas.microsoft.com/office/powerpoint/2010/main" val="799676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838200" y="1443004"/>
            <a:ext cx="10303275" cy="689126"/>
          </a:xfrm>
        </p:spPr>
        <p:txBody>
          <a:bodyPr/>
          <a:lstStyle/>
          <a:p>
            <a:pPr marL="342900" indent="-342900">
              <a:buFont typeface="Arial" panose="020B0604020202020204" pitchFamily="34" charset="0"/>
              <a:buChar char="•"/>
            </a:pPr>
            <a:r>
              <a:rPr lang="en-US" b="1" dirty="0"/>
              <a:t>If-else</a:t>
            </a:r>
          </a:p>
          <a:p>
            <a:pPr lvl="1">
              <a:buFont typeface="Courier New" panose="02070309020205020404" pitchFamily="49" charset="0"/>
              <a:buChar char="o"/>
            </a:pPr>
            <a:r>
              <a:rPr lang="en-US" dirty="0"/>
              <a:t>is the most basic conditional rendering</a:t>
            </a:r>
          </a:p>
          <a:p>
            <a:pPr lvl="1">
              <a:buFont typeface="Courier New" panose="02070309020205020404" pitchFamily="49" charset="0"/>
              <a:buChar char="o"/>
            </a:pPr>
            <a:r>
              <a:rPr lang="en-US" dirty="0"/>
              <a:t>beginner friendly</a:t>
            </a:r>
          </a:p>
          <a:p>
            <a:pPr lvl="1">
              <a:buFont typeface="Courier New" panose="02070309020205020404" pitchFamily="49" charset="0"/>
              <a:buChar char="o"/>
            </a:pPr>
            <a:r>
              <a:rPr lang="en-US" dirty="0"/>
              <a:t>use if to opt-out early from a render method by returning null</a:t>
            </a:r>
          </a:p>
          <a:p>
            <a:pPr marL="342900" indent="-342900">
              <a:buFont typeface="Arial" panose="020B0604020202020204" pitchFamily="34" charset="0"/>
              <a:buChar char="•"/>
            </a:pPr>
            <a:r>
              <a:rPr lang="en-US" b="1" dirty="0"/>
              <a:t>Ternary operator</a:t>
            </a:r>
          </a:p>
          <a:p>
            <a:pPr lvl="1">
              <a:buFont typeface="Courier New" panose="02070309020205020404" pitchFamily="49" charset="0"/>
              <a:buChar char="o"/>
            </a:pPr>
            <a:r>
              <a:rPr lang="en-US" dirty="0"/>
              <a:t>use it over an if-else statement</a:t>
            </a:r>
          </a:p>
          <a:p>
            <a:pPr lvl="1">
              <a:buFont typeface="Courier New" panose="02070309020205020404" pitchFamily="49" charset="0"/>
              <a:buChar char="o"/>
            </a:pPr>
            <a:r>
              <a:rPr lang="en-US" dirty="0"/>
              <a:t>it is more concise than if-else</a:t>
            </a:r>
          </a:p>
          <a:p>
            <a:pPr marL="342900" indent="-342900">
              <a:buFont typeface="Arial" panose="020B0604020202020204" pitchFamily="34" charset="0"/>
              <a:buChar char="•"/>
            </a:pPr>
            <a:r>
              <a:rPr lang="en-US" b="1" dirty="0"/>
              <a:t>Logical &amp;&amp; operator</a:t>
            </a:r>
          </a:p>
          <a:p>
            <a:pPr lvl="1">
              <a:buFont typeface="Courier New" panose="02070309020205020404" pitchFamily="49" charset="0"/>
              <a:buChar char="o"/>
            </a:pPr>
            <a:r>
              <a:rPr lang="en-US" dirty="0"/>
              <a:t>use it when one side of the ternary operation would return null</a:t>
            </a:r>
          </a:p>
          <a:p>
            <a:pPr lvl="1">
              <a:buFont typeface="Courier New" panose="02070309020205020404" pitchFamily="49" charset="0"/>
              <a:buChar char="o"/>
            </a:pPr>
            <a:r>
              <a:rPr lang="en-US" dirty="0"/>
              <a:t>but be careful that you don’t run into bugs when using multiple conditions</a:t>
            </a:r>
          </a:p>
        </p:txBody>
      </p:sp>
      <p:sp>
        <p:nvSpPr>
          <p:cNvPr id="8" name="Title 3">
            <a:extLst>
              <a:ext uri="{FF2B5EF4-FFF2-40B4-BE49-F238E27FC236}">
                <a16:creationId xmlns:a16="http://schemas.microsoft.com/office/drawing/2014/main" id="{610ACB98-FF01-48AF-903E-F19B49005189}"/>
              </a:ext>
            </a:extLst>
          </p:cNvPr>
          <p:cNvSpPr txBox="1">
            <a:spLocks/>
          </p:cNvSpPr>
          <p:nvPr/>
        </p:nvSpPr>
        <p:spPr>
          <a:xfrm>
            <a:off x="838200" y="152399"/>
            <a:ext cx="10820400" cy="575569"/>
          </a:xfrm>
          <a:prstGeom prst="rect">
            <a:avLst/>
          </a:prstGeom>
        </p:spPr>
        <p:txBody>
          <a:bodyPr lIns="0" anchor="t">
            <a:noAutofit/>
          </a:bodyPr>
          <a:lstStyle>
            <a:lvl1pPr algn="l" defTabSz="914400" rtl="0" eaLnBrk="1" latinLnBrk="0" hangingPunct="1">
              <a:lnSpc>
                <a:spcPts val="11000"/>
              </a:lnSpc>
              <a:spcBef>
                <a:spcPct val="0"/>
              </a:spcBef>
              <a:buNone/>
              <a:defRPr sz="12500" kern="1200">
                <a:solidFill>
                  <a:schemeClr val="tx1"/>
                </a:solidFill>
                <a:latin typeface="Proxima Nova Black" panose="02000506030000020004" pitchFamily="50" charset="0"/>
                <a:ea typeface="+mj-ea"/>
                <a:cs typeface="+mj-cs"/>
              </a:defRPr>
            </a:lvl1pPr>
          </a:lstStyle>
          <a:p>
            <a:pPr>
              <a:lnSpc>
                <a:spcPct val="100000"/>
              </a:lnSpc>
            </a:pPr>
            <a:r>
              <a:rPr lang="en-US" sz="3500" dirty="0"/>
              <a:t>When to use which type of conditional render? My opinionated answer:</a:t>
            </a:r>
            <a:endParaRPr lang="uk-UA" sz="3500" dirty="0"/>
          </a:p>
        </p:txBody>
      </p:sp>
    </p:spTree>
    <p:extLst>
      <p:ext uri="{BB962C8B-B14F-4D97-AF65-F5344CB8AC3E}">
        <p14:creationId xmlns:p14="http://schemas.microsoft.com/office/powerpoint/2010/main" val="911767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0752ABC-207B-46B4-A0EB-C1AFCB118BBF}"/>
              </a:ext>
            </a:extLst>
          </p:cNvPr>
          <p:cNvSpPr/>
          <p:nvPr/>
        </p:nvSpPr>
        <p:spPr>
          <a:xfrm>
            <a:off x="566691" y="568561"/>
            <a:ext cx="10863309" cy="5940088"/>
          </a:xfrm>
          <a:prstGeom prst="rect">
            <a:avLst/>
          </a:prstGeom>
        </p:spPr>
        <p:txBody>
          <a:bodyPr wrap="square">
            <a:spAutoFit/>
          </a:bodyPr>
          <a:lstStyle/>
          <a:p>
            <a:pPr marL="342900" indent="-342900">
              <a:buFont typeface="Arial" panose="020B0604020202020204" pitchFamily="34" charset="0"/>
              <a:buChar char="•"/>
            </a:pPr>
            <a:r>
              <a:rPr lang="en-US" sz="2000" b="1" dirty="0">
                <a:latin typeface="Open Sans" panose="020B0604020202020204" charset="0"/>
                <a:ea typeface="Open Sans" panose="020B0604020202020204" charset="0"/>
                <a:cs typeface="Open Sans" panose="020B0604020202020204" charset="0"/>
              </a:rPr>
              <a:t>Switch case</a:t>
            </a:r>
          </a:p>
          <a:p>
            <a:pPr marL="800100" lvl="1" indent="-342900">
              <a:buFont typeface="Courier New" panose="02070309020205020404" pitchFamily="49" charset="0"/>
              <a:buChar char="o"/>
            </a:pPr>
            <a:r>
              <a:rPr lang="en-US" sz="2000" dirty="0">
                <a:latin typeface="Open Sans" panose="020B0604020202020204" charset="0"/>
                <a:ea typeface="Open Sans" panose="020B0604020202020204" charset="0"/>
                <a:cs typeface="Open Sans" panose="020B0604020202020204" charset="0"/>
              </a:rPr>
              <a:t>verbose</a:t>
            </a:r>
          </a:p>
          <a:p>
            <a:pPr marL="800100" lvl="1" indent="-342900">
              <a:buFont typeface="Courier New" panose="02070309020205020404" pitchFamily="49" charset="0"/>
              <a:buChar char="o"/>
            </a:pPr>
            <a:r>
              <a:rPr lang="en-US" sz="2000" dirty="0">
                <a:latin typeface="Open Sans" panose="020B0604020202020204" charset="0"/>
                <a:ea typeface="Open Sans" panose="020B0604020202020204" charset="0"/>
                <a:cs typeface="Open Sans" panose="020B0604020202020204" charset="0"/>
              </a:rPr>
              <a:t>can only be </a:t>
            </a:r>
            <a:r>
              <a:rPr lang="en-US" sz="2000" dirty="0" err="1">
                <a:latin typeface="Open Sans" panose="020B0604020202020204" charset="0"/>
                <a:ea typeface="Open Sans" panose="020B0604020202020204" charset="0"/>
                <a:cs typeface="Open Sans" panose="020B0604020202020204" charset="0"/>
              </a:rPr>
              <a:t>inlined</a:t>
            </a:r>
            <a:r>
              <a:rPr lang="en-US" sz="2000" dirty="0">
                <a:latin typeface="Open Sans" panose="020B0604020202020204" charset="0"/>
                <a:ea typeface="Open Sans" panose="020B0604020202020204" charset="0"/>
                <a:cs typeface="Open Sans" panose="020B0604020202020204" charset="0"/>
              </a:rPr>
              <a:t> with self invoking function</a:t>
            </a:r>
          </a:p>
          <a:p>
            <a:pPr marL="800100" lvl="1" indent="-342900">
              <a:buFont typeface="Courier New" panose="02070309020205020404" pitchFamily="49" charset="0"/>
              <a:buChar char="o"/>
            </a:pPr>
            <a:r>
              <a:rPr lang="en-US" sz="2000" dirty="0">
                <a:latin typeface="Open Sans" panose="020B0604020202020204" charset="0"/>
                <a:ea typeface="Open Sans" panose="020B0604020202020204" charset="0"/>
                <a:cs typeface="Open Sans" panose="020B0604020202020204" charset="0"/>
              </a:rPr>
              <a:t>avoid it, use </a:t>
            </a:r>
            <a:r>
              <a:rPr lang="en-US" sz="2000" dirty="0" err="1">
                <a:latin typeface="Open Sans" panose="020B0604020202020204" charset="0"/>
                <a:ea typeface="Open Sans" panose="020B0604020202020204" charset="0"/>
                <a:cs typeface="Open Sans" panose="020B0604020202020204" charset="0"/>
              </a:rPr>
              <a:t>enums</a:t>
            </a:r>
            <a:r>
              <a:rPr lang="en-US" sz="2000" dirty="0">
                <a:latin typeface="Open Sans" panose="020B0604020202020204" charset="0"/>
                <a:ea typeface="Open Sans" panose="020B0604020202020204" charset="0"/>
                <a:cs typeface="Open Sans" panose="020B0604020202020204" charset="0"/>
              </a:rPr>
              <a:t> instead</a:t>
            </a:r>
          </a:p>
          <a:p>
            <a:pPr marL="342900" indent="-342900">
              <a:lnSpc>
                <a:spcPct val="150000"/>
              </a:lnSpc>
              <a:buFont typeface="Arial" panose="020B0604020202020204" pitchFamily="34" charset="0"/>
              <a:buChar char="•"/>
            </a:pPr>
            <a:r>
              <a:rPr lang="en-US" sz="2000" b="1" dirty="0" err="1">
                <a:latin typeface="Open Sans" panose="020B0604020202020204" charset="0"/>
                <a:ea typeface="Open Sans" panose="020B0604020202020204" charset="0"/>
                <a:cs typeface="Open Sans" panose="020B0604020202020204" charset="0"/>
              </a:rPr>
              <a:t>Enums</a:t>
            </a:r>
            <a:endParaRPr lang="en-US" sz="2000" b="1" dirty="0">
              <a:latin typeface="Open Sans" panose="020B0604020202020204" charset="0"/>
              <a:ea typeface="Open Sans" panose="020B0604020202020204" charset="0"/>
              <a:cs typeface="Open Sans" panose="020B0604020202020204" charset="0"/>
            </a:endParaRPr>
          </a:p>
          <a:p>
            <a:pPr marL="800100" lvl="1" indent="-342900">
              <a:buFont typeface="Courier New" panose="02070309020205020404" pitchFamily="49" charset="0"/>
              <a:buChar char="o"/>
            </a:pPr>
            <a:r>
              <a:rPr lang="en-US" sz="2000" dirty="0">
                <a:latin typeface="Open Sans" panose="020B0604020202020204" charset="0"/>
                <a:ea typeface="Open Sans" panose="020B0604020202020204" charset="0"/>
                <a:cs typeface="Open Sans" panose="020B0604020202020204" charset="0"/>
              </a:rPr>
              <a:t>perfect to map different states</a:t>
            </a:r>
          </a:p>
          <a:p>
            <a:pPr marL="800100" lvl="1" indent="-342900">
              <a:buFont typeface="Courier New" panose="02070309020205020404" pitchFamily="49" charset="0"/>
              <a:buChar char="o"/>
            </a:pPr>
            <a:r>
              <a:rPr lang="en-US" sz="2000" dirty="0">
                <a:latin typeface="Open Sans" panose="020B0604020202020204" charset="0"/>
                <a:ea typeface="Open Sans" panose="020B0604020202020204" charset="0"/>
                <a:cs typeface="Open Sans" panose="020B0604020202020204" charset="0"/>
              </a:rPr>
              <a:t>perfect to map more than one condition</a:t>
            </a:r>
          </a:p>
          <a:p>
            <a:pPr marL="342900" indent="-342900">
              <a:lnSpc>
                <a:spcPct val="150000"/>
              </a:lnSpc>
              <a:buFont typeface="Arial" panose="020B0604020202020204" pitchFamily="34" charset="0"/>
              <a:buChar char="•"/>
            </a:pPr>
            <a:r>
              <a:rPr lang="en-US" sz="2000" b="1" dirty="0">
                <a:latin typeface="Open Sans" panose="020B0604020202020204" charset="0"/>
                <a:ea typeface="Open Sans" panose="020B0604020202020204" charset="0"/>
                <a:cs typeface="Open Sans" panose="020B0604020202020204" charset="0"/>
              </a:rPr>
              <a:t>Multi-level/nested conditional renderings</a:t>
            </a:r>
          </a:p>
          <a:p>
            <a:pPr marL="800100" lvl="1" indent="-342900">
              <a:buFont typeface="Courier New" panose="02070309020205020404" pitchFamily="49" charset="0"/>
              <a:buChar char="o"/>
            </a:pPr>
            <a:r>
              <a:rPr lang="en-US" sz="2000" dirty="0">
                <a:latin typeface="Open Sans" panose="020B0604020202020204" charset="0"/>
                <a:ea typeface="Open Sans" panose="020B0604020202020204" charset="0"/>
                <a:cs typeface="Open Sans" panose="020B0604020202020204" charset="0"/>
              </a:rPr>
              <a:t>avoid them for the sake of readability</a:t>
            </a:r>
          </a:p>
          <a:p>
            <a:pPr marL="800100" lvl="1" indent="-342900">
              <a:buFont typeface="Courier New" panose="02070309020205020404" pitchFamily="49" charset="0"/>
              <a:buChar char="o"/>
            </a:pPr>
            <a:r>
              <a:rPr lang="en-US" sz="2000" dirty="0">
                <a:latin typeface="Open Sans" panose="020B0604020202020204" charset="0"/>
                <a:ea typeface="Open Sans" panose="020B0604020202020204" charset="0"/>
                <a:cs typeface="Open Sans" panose="020B0604020202020204" charset="0"/>
              </a:rPr>
              <a:t>split up components into more lightweight components with their own simple conditional rendering</a:t>
            </a:r>
          </a:p>
          <a:p>
            <a:pPr marL="800100" lvl="1" indent="-342900">
              <a:buFont typeface="Courier New" panose="02070309020205020404" pitchFamily="49" charset="0"/>
              <a:buChar char="o"/>
            </a:pPr>
            <a:r>
              <a:rPr lang="en-US" sz="2000" dirty="0">
                <a:latin typeface="Open Sans" panose="020B0604020202020204" charset="0"/>
                <a:ea typeface="Open Sans" panose="020B0604020202020204" charset="0"/>
                <a:cs typeface="Open Sans" panose="020B0604020202020204" charset="0"/>
              </a:rPr>
              <a:t>use HOCs</a:t>
            </a:r>
          </a:p>
          <a:p>
            <a:pPr marL="342900" indent="-342900">
              <a:lnSpc>
                <a:spcPct val="150000"/>
              </a:lnSpc>
              <a:buFont typeface="Arial" panose="020B0604020202020204" pitchFamily="34" charset="0"/>
              <a:buChar char="•"/>
            </a:pPr>
            <a:r>
              <a:rPr lang="en-US" sz="2000" b="1" dirty="0">
                <a:latin typeface="Open Sans" panose="020B0604020202020204" charset="0"/>
                <a:ea typeface="Open Sans" panose="020B0604020202020204" charset="0"/>
                <a:cs typeface="Open Sans" panose="020B0604020202020204" charset="0"/>
              </a:rPr>
              <a:t>HOCs</a:t>
            </a:r>
          </a:p>
          <a:p>
            <a:pPr marL="800100" lvl="1" indent="-342900">
              <a:buFont typeface="Courier New" panose="02070309020205020404" pitchFamily="49" charset="0"/>
              <a:buChar char="o"/>
            </a:pPr>
            <a:r>
              <a:rPr lang="en-US" sz="2000" dirty="0">
                <a:latin typeface="Open Sans" panose="020B0604020202020204" charset="0"/>
                <a:ea typeface="Open Sans" panose="020B0604020202020204" charset="0"/>
                <a:cs typeface="Open Sans" panose="020B0604020202020204" charset="0"/>
              </a:rPr>
              <a:t>use them to shield away conditional rendering</a:t>
            </a:r>
          </a:p>
          <a:p>
            <a:pPr marL="800100" lvl="1" indent="-342900">
              <a:buFont typeface="Courier New" panose="02070309020205020404" pitchFamily="49" charset="0"/>
              <a:buChar char="o"/>
            </a:pPr>
            <a:r>
              <a:rPr lang="en-US" sz="2000" dirty="0">
                <a:latin typeface="Open Sans" panose="020B0604020202020204" charset="0"/>
                <a:ea typeface="Open Sans" panose="020B0604020202020204" charset="0"/>
                <a:cs typeface="Open Sans" panose="020B0604020202020204" charset="0"/>
              </a:rPr>
              <a:t>components can focus on their main purpose</a:t>
            </a:r>
          </a:p>
          <a:p>
            <a:pPr marL="342900" indent="-342900">
              <a:lnSpc>
                <a:spcPct val="150000"/>
              </a:lnSpc>
              <a:buFont typeface="Arial" panose="020B0604020202020204" pitchFamily="34" charset="0"/>
              <a:buChar char="•"/>
            </a:pPr>
            <a:r>
              <a:rPr lang="en-US" sz="2000" b="1" dirty="0">
                <a:latin typeface="Open Sans" panose="020B0604020202020204" charset="0"/>
                <a:ea typeface="Open Sans" panose="020B0604020202020204" charset="0"/>
                <a:cs typeface="Open Sans" panose="020B0604020202020204" charset="0"/>
              </a:rPr>
              <a:t>External templating components</a:t>
            </a:r>
          </a:p>
          <a:p>
            <a:pPr marL="800100" lvl="1" indent="-342900">
              <a:buFont typeface="Courier New" panose="02070309020205020404" pitchFamily="49" charset="0"/>
              <a:buChar char="o"/>
            </a:pPr>
            <a:r>
              <a:rPr lang="en-US" sz="2000" dirty="0">
                <a:latin typeface="Open Sans" panose="020B0604020202020204" charset="0"/>
                <a:ea typeface="Open Sans" panose="020B0604020202020204" charset="0"/>
                <a:cs typeface="Open Sans" panose="020B0604020202020204" charset="0"/>
              </a:rPr>
              <a:t>avoid them and be comfortable with JSX and JavaScript</a:t>
            </a:r>
          </a:p>
        </p:txBody>
      </p:sp>
    </p:spTree>
    <p:extLst>
      <p:ext uri="{BB962C8B-B14F-4D97-AF65-F5344CB8AC3E}">
        <p14:creationId xmlns:p14="http://schemas.microsoft.com/office/powerpoint/2010/main" val="35742644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CHILDREN TYPES</a:t>
            </a:r>
            <a:endParaRPr lang="uk-UA" dirty="0"/>
          </a:p>
        </p:txBody>
      </p:sp>
    </p:spTree>
    <p:extLst>
      <p:ext uri="{BB962C8B-B14F-4D97-AF65-F5344CB8AC3E}">
        <p14:creationId xmlns:p14="http://schemas.microsoft.com/office/powerpoint/2010/main" val="33233518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610ACB98-FF01-48AF-903E-F19B49005189}"/>
              </a:ext>
            </a:extLst>
          </p:cNvPr>
          <p:cNvSpPr txBox="1">
            <a:spLocks/>
          </p:cNvSpPr>
          <p:nvPr/>
        </p:nvSpPr>
        <p:spPr>
          <a:xfrm>
            <a:off x="838200" y="152399"/>
            <a:ext cx="10820400" cy="575569"/>
          </a:xfrm>
          <a:prstGeom prst="rect">
            <a:avLst/>
          </a:prstGeom>
        </p:spPr>
        <p:txBody>
          <a:bodyPr lIns="0" anchor="t">
            <a:noAutofit/>
          </a:bodyPr>
          <a:lstStyle>
            <a:lvl1pPr algn="l" defTabSz="914400" rtl="0" eaLnBrk="1" latinLnBrk="0" hangingPunct="1">
              <a:lnSpc>
                <a:spcPts val="11000"/>
              </a:lnSpc>
              <a:spcBef>
                <a:spcPct val="0"/>
              </a:spcBef>
              <a:buNone/>
              <a:defRPr sz="12500" kern="1200">
                <a:solidFill>
                  <a:schemeClr val="tx1"/>
                </a:solidFill>
                <a:latin typeface="Proxima Nova Black" panose="02000506030000020004" pitchFamily="50" charset="0"/>
                <a:ea typeface="+mj-ea"/>
                <a:cs typeface="+mj-cs"/>
              </a:defRPr>
            </a:lvl1pPr>
          </a:lstStyle>
          <a:p>
            <a:pPr>
              <a:lnSpc>
                <a:spcPct val="100000"/>
              </a:lnSpc>
            </a:pPr>
            <a:r>
              <a:rPr lang="en-US" sz="3500" dirty="0"/>
              <a:t>Children types</a:t>
            </a:r>
            <a:endParaRPr lang="uk-UA" sz="3500" dirty="0"/>
          </a:p>
        </p:txBody>
      </p:sp>
      <p:pic>
        <p:nvPicPr>
          <p:cNvPr id="11" name="Picture 10">
            <a:extLst>
              <a:ext uri="{FF2B5EF4-FFF2-40B4-BE49-F238E27FC236}">
                <a16:creationId xmlns:a16="http://schemas.microsoft.com/office/drawing/2014/main" id="{4E13870E-15FA-4A3F-9C67-53B4C0718CFF}"/>
              </a:ext>
            </a:extLst>
          </p:cNvPr>
          <p:cNvPicPr>
            <a:picLocks noChangeAspect="1"/>
          </p:cNvPicPr>
          <p:nvPr/>
        </p:nvPicPr>
        <p:blipFill>
          <a:blip r:embed="rId2"/>
          <a:stretch>
            <a:fillRect/>
          </a:stretch>
        </p:blipFill>
        <p:spPr>
          <a:xfrm>
            <a:off x="838200" y="962626"/>
            <a:ext cx="7658100" cy="4524375"/>
          </a:xfrm>
          <a:prstGeom prst="rect">
            <a:avLst/>
          </a:prstGeom>
        </p:spPr>
      </p:pic>
    </p:spTree>
    <p:extLst>
      <p:ext uri="{BB962C8B-B14F-4D97-AF65-F5344CB8AC3E}">
        <p14:creationId xmlns:p14="http://schemas.microsoft.com/office/powerpoint/2010/main" val="24725128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QUESTIONS ?</a:t>
            </a:r>
            <a:endParaRPr lang="uk-UA" dirty="0"/>
          </a:p>
        </p:txBody>
      </p:sp>
    </p:spTree>
    <p:extLst>
      <p:ext uri="{BB962C8B-B14F-4D97-AF65-F5344CB8AC3E}">
        <p14:creationId xmlns:p14="http://schemas.microsoft.com/office/powerpoint/2010/main" val="34348024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USED MATERIALS</a:t>
            </a:r>
            <a:endParaRPr lang="uk-UA" dirty="0"/>
          </a:p>
        </p:txBody>
      </p:sp>
      <p:sp>
        <p:nvSpPr>
          <p:cNvPr id="2" name="Rectangle 1">
            <a:extLst>
              <a:ext uri="{FF2B5EF4-FFF2-40B4-BE49-F238E27FC236}">
                <a16:creationId xmlns:a16="http://schemas.microsoft.com/office/drawing/2014/main" id="{DB40ABE4-A9F8-4A95-B31B-CF861D743B3B}"/>
              </a:ext>
            </a:extLst>
          </p:cNvPr>
          <p:cNvSpPr/>
          <p:nvPr/>
        </p:nvSpPr>
        <p:spPr>
          <a:xfrm>
            <a:off x="685799" y="4162548"/>
            <a:ext cx="9207844" cy="986873"/>
          </a:xfrm>
          <a:prstGeom prst="rect">
            <a:avLst/>
          </a:prstGeom>
        </p:spPr>
        <p:txBody>
          <a:bodyPr wrap="square">
            <a:spAutoFit/>
          </a:bodyPr>
          <a:lstStyle/>
          <a:p>
            <a:pPr defTabSz="438911">
              <a:lnSpc>
                <a:spcPct val="90000"/>
              </a:lnSpc>
              <a:spcBef>
                <a:spcPts val="1000"/>
              </a:spcBef>
              <a:defRPr sz="1536"/>
            </a:pPr>
            <a:r>
              <a:rPr lang="en-US" dirty="0">
                <a:hlinkClick r:id="rId2"/>
              </a:rPr>
              <a:t>https://blog.logrocket.com/conditional-rendering-in-react-c6b0e5af381e</a:t>
            </a:r>
            <a:endParaRPr lang="en-US" dirty="0"/>
          </a:p>
          <a:p>
            <a:pPr defTabSz="438911">
              <a:lnSpc>
                <a:spcPct val="90000"/>
              </a:lnSpc>
              <a:spcBef>
                <a:spcPts val="1000"/>
              </a:spcBef>
              <a:defRPr sz="1536"/>
            </a:pPr>
            <a:r>
              <a:rPr lang="en-US" dirty="0">
                <a:hlinkClick r:id="rId3"/>
              </a:rPr>
              <a:t>https://hackernoon.com/conditional-rendering-on-react-57a864c2d04d</a:t>
            </a:r>
            <a:endParaRPr lang="en-US" dirty="0"/>
          </a:p>
          <a:p>
            <a:pPr defTabSz="438911">
              <a:lnSpc>
                <a:spcPct val="90000"/>
              </a:lnSpc>
              <a:spcBef>
                <a:spcPts val="1000"/>
              </a:spcBef>
              <a:defRPr sz="1536"/>
            </a:pPr>
            <a:r>
              <a:rPr lang="en-US" dirty="0">
                <a:hlinkClick r:id="rId4"/>
              </a:rPr>
              <a:t>https://www.robinwieruch.de/conditional-rendering-react/</a:t>
            </a:r>
            <a:endParaRPr lang="en-US" dirty="0">
              <a:solidFill>
                <a:schemeClr val="accent6">
                  <a:lumMod val="75000"/>
                </a:schemeClr>
              </a:solidFill>
            </a:endParaRPr>
          </a:p>
        </p:txBody>
      </p:sp>
    </p:spTree>
    <p:extLst>
      <p:ext uri="{BB962C8B-B14F-4D97-AF65-F5344CB8AC3E}">
        <p14:creationId xmlns:p14="http://schemas.microsoft.com/office/powerpoint/2010/main" val="23366664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THANK YOU</a:t>
            </a:r>
            <a:endParaRPr lang="uk-UA" dirty="0"/>
          </a:p>
        </p:txBody>
      </p:sp>
    </p:spTree>
    <p:extLst>
      <p:ext uri="{BB962C8B-B14F-4D97-AF65-F5344CB8AC3E}">
        <p14:creationId xmlns:p14="http://schemas.microsoft.com/office/powerpoint/2010/main" val="3285299940"/>
      </p:ext>
    </p:extLst>
  </p:cSld>
  <p:clrMapOvr>
    <a:masterClrMapping/>
  </p:clrMapOvr>
</p:sld>
</file>

<file path=ppt/theme/theme1.xml><?xml version="1.0" encoding="utf-8"?>
<a:theme xmlns:a="http://schemas.openxmlformats.org/drawingml/2006/main" name="DARK THEME">
  <a:themeElements>
    <a:clrScheme name="SOFTSERVE">
      <a:dk1>
        <a:sysClr val="windowText" lastClr="000000"/>
      </a:dk1>
      <a:lt1>
        <a:sysClr val="window" lastClr="FFFFFF"/>
      </a:lt1>
      <a:dk2>
        <a:srgbClr val="000000"/>
      </a:dk2>
      <a:lt2>
        <a:srgbClr val="FFFFFF"/>
      </a:lt2>
      <a:accent1>
        <a:srgbClr val="00B188"/>
      </a:accent1>
      <a:accent2>
        <a:srgbClr val="9F26B5"/>
      </a:accent2>
      <a:accent3>
        <a:srgbClr val="4E5FAB"/>
      </a:accent3>
      <a:accent4>
        <a:srgbClr val="95D600"/>
      </a:accent4>
      <a:accent5>
        <a:srgbClr val="D41B5D"/>
      </a:accent5>
      <a:accent6>
        <a:srgbClr val="00A6CE"/>
      </a:accent6>
      <a:hlink>
        <a:srgbClr val="00A6CE"/>
      </a:hlink>
      <a:folHlink>
        <a:srgbClr val="4E5FAB"/>
      </a:folHlink>
    </a:clrScheme>
    <a:fontScheme name="Custom 1">
      <a:majorFont>
        <a:latin typeface="Proxima Nova Black"/>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oftServeTemplate" id="{1EECC8DE-A8A5-45A7-969A-C21752D4B3E4}" vid="{444DEE5D-51F1-4029-8FDB-DB417F7B394A}"/>
    </a:ext>
  </a:extLst>
</a:theme>
</file>

<file path=ppt/theme/theme2.xml><?xml version="1.0" encoding="utf-8"?>
<a:theme xmlns:a="http://schemas.openxmlformats.org/drawingml/2006/main" name="LIGHT-THEME">
  <a:themeElements>
    <a:clrScheme name="SOFTSERVE">
      <a:dk1>
        <a:sysClr val="windowText" lastClr="000000"/>
      </a:dk1>
      <a:lt1>
        <a:sysClr val="window" lastClr="FFFFFF"/>
      </a:lt1>
      <a:dk2>
        <a:srgbClr val="000000"/>
      </a:dk2>
      <a:lt2>
        <a:srgbClr val="FFFFFF"/>
      </a:lt2>
      <a:accent1>
        <a:srgbClr val="00B188"/>
      </a:accent1>
      <a:accent2>
        <a:srgbClr val="9F26B5"/>
      </a:accent2>
      <a:accent3>
        <a:srgbClr val="4E5FAB"/>
      </a:accent3>
      <a:accent4>
        <a:srgbClr val="95D600"/>
      </a:accent4>
      <a:accent5>
        <a:srgbClr val="D41B5D"/>
      </a:accent5>
      <a:accent6>
        <a:srgbClr val="00A6CE"/>
      </a:accent6>
      <a:hlink>
        <a:srgbClr val="00A6CE"/>
      </a:hlink>
      <a:folHlink>
        <a:srgbClr val="4E5FAB"/>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oftServeTemplate" id="{1EECC8DE-A8A5-45A7-969A-C21752D4B3E4}" vid="{0103479C-70CD-40C7-BA0E-A151EE336BCC}"/>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Документ" ma:contentTypeID="0x0101004195FC54A15F344D83577B1CDDD67A5D" ma:contentTypeVersion="9" ma:contentTypeDescription="Создание документа." ma:contentTypeScope="" ma:versionID="961ec8db58076c7d3e9f84b9cd82fd45">
  <xsd:schema xmlns:xsd="http://www.w3.org/2001/XMLSchema" xmlns:xs="http://www.w3.org/2001/XMLSchema" xmlns:p="http://schemas.microsoft.com/office/2006/metadata/properties" xmlns:ns2="341e6018-ac0a-4dfb-8409-db9e0d25502e" xmlns:ns3="835f28f2-30f1-4728-84d2-86d96e143488" targetNamespace="http://schemas.microsoft.com/office/2006/metadata/properties" ma:root="true" ma:fieldsID="bd9f0c80ada20ee560e77d723f3ef44e" ns2:_="" ns3:_="">
    <xsd:import namespace="341e6018-ac0a-4dfb-8409-db9e0d25502e"/>
    <xsd:import namespace="835f28f2-30f1-4728-84d2-86d96e143488"/>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ServiceAutoTags" minOccurs="0"/>
                <xsd:element ref="ns3:MediaServiceLocation" minOccurs="0"/>
                <xsd:element ref="ns3:MediaServiceOCR" minOccurs="0"/>
                <xsd:element ref="ns3:_x041a__x043e__x043c__x0435__x0442__x0430__x0440_"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41e6018-ac0a-4dfb-8409-db9e0d25502e" elementFormDefault="qualified">
    <xsd:import namespace="http://schemas.microsoft.com/office/2006/documentManagement/types"/>
    <xsd:import namespace="http://schemas.microsoft.com/office/infopath/2007/PartnerControls"/>
    <xsd:element name="SharedWithUsers" ma:index="8" nillable="true" ma:displayName="Общий доступ с использованием"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Совместно с подробностями"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835f28f2-30f1-4728-84d2-86d96e143488" elementFormDefault="qualified">
    <xsd:import namespace="http://schemas.microsoft.com/office/2006/documentManagement/types"/>
    <xsd:import namespace="http://schemas.microsoft.com/office/infopath/2007/PartnerControls"/>
    <xsd:element name="MediaServiceMetadata" ma:index="10" nillable="true" ma:displayName="MediaServiceMetadata" ma:description="" ma:hidden="true" ma:internalName="MediaServiceMetadata" ma:readOnly="true">
      <xsd:simpleType>
        <xsd:restriction base="dms:Note"/>
      </xsd:simpleType>
    </xsd:element>
    <xsd:element name="MediaServiceFastMetadata" ma:index="11" nillable="true" ma:displayName="MediaServiceFastMetadata" ma:description="" ma:hidden="true" ma:internalName="MediaServiceFastMetadata" ma:readOnly="true">
      <xsd:simpleType>
        <xsd:restriction base="dms:Note"/>
      </xsd:simpleType>
    </xsd:element>
    <xsd:element name="MediaServiceDateTaken" ma:index="12" nillable="true" ma:displayName="MediaServiceDateTaken" ma:description="" ma:hidden="true" ma:internalName="MediaServiceDateTaken" ma:readOnly="true">
      <xsd:simpleType>
        <xsd:restriction base="dms:Text"/>
      </xsd:simpleType>
    </xsd:element>
    <xsd:element name="MediaServiceAutoTags" ma:index="13" nillable="true" ma:displayName="MediaServiceAutoTags" ma:description="" ma:internalName="MediaServiceAutoTags" ma:readOnly="true">
      <xsd:simpleType>
        <xsd:restriction base="dms:Text"/>
      </xsd:simpleType>
    </xsd:element>
    <xsd:element name="MediaServiceLocation" ma:index="14" nillable="true" ma:displayName="MediaServiceLocation" ma:description="" ma:internalName="MediaServiceLocation" ma:readOnly="true">
      <xsd:simpleType>
        <xsd:restriction base="dms:Text"/>
      </xsd:simpleType>
    </xsd:element>
    <xsd:element name="MediaServiceOCR" ma:index="15" nillable="true" ma:displayName="MediaServiceOCR" ma:internalName="MediaServiceOCR" ma:readOnly="true">
      <xsd:simpleType>
        <xsd:restriction base="dms:Note">
          <xsd:maxLength value="255"/>
        </xsd:restriction>
      </xsd:simpleType>
    </xsd:element>
    <xsd:element name="_x041a__x043e__x043c__x0435__x0442__x0430__x0440_" ma:index="16" nillable="true" ma:displayName="Кометар" ma:internalName="_x041a__x043e__x043c__x0435__x0442__x0430__x0440_">
      <xsd:simpleType>
        <xsd:restriction base="dms:Text">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Тип контента"/>
        <xsd:element ref="dc:title" minOccurs="0" maxOccurs="1" ma:index="4" ma:displayName="Название"/>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x041a__x043e__x043c__x0435__x0442__x0430__x0440_ xmlns="835f28f2-30f1-4728-84d2-86d96e143488" xsi:nil="true"/>
  </documentManagement>
</p:properties>
</file>

<file path=customXml/itemProps1.xml><?xml version="1.0" encoding="utf-8"?>
<ds:datastoreItem xmlns:ds="http://schemas.openxmlformats.org/officeDocument/2006/customXml" ds:itemID="{CAFDAB34-20E1-438F-BCB2-ECDA5496F36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41e6018-ac0a-4dfb-8409-db9e0d25502e"/>
    <ds:schemaRef ds:uri="835f28f2-30f1-4728-84d2-86d96e14348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96B3B9E-03D8-4766-BF45-6129617CF026}">
  <ds:schemaRefs>
    <ds:schemaRef ds:uri="http://schemas.microsoft.com/sharepoint/v3/contenttype/forms"/>
  </ds:schemaRefs>
</ds:datastoreItem>
</file>

<file path=customXml/itemProps3.xml><?xml version="1.0" encoding="utf-8"?>
<ds:datastoreItem xmlns:ds="http://schemas.openxmlformats.org/officeDocument/2006/customXml" ds:itemID="{B3A1340B-3A1B-4156-ADE3-51DF6C2C795D}">
  <ds:schemaRefs>
    <ds:schemaRef ds:uri="http://schemas.microsoft.com/office/infopath/2007/PartnerControls"/>
    <ds:schemaRef ds:uri="http://purl.org/dc/dcmitype/"/>
    <ds:schemaRef ds:uri="http://schemas.microsoft.com/office/2006/documentManagement/types"/>
    <ds:schemaRef ds:uri="http://purl.org/dc/elements/1.1/"/>
    <ds:schemaRef ds:uri="http://schemas.microsoft.com/office/2006/metadata/properties"/>
    <ds:schemaRef ds:uri="http://schemas.openxmlformats.org/package/2006/metadata/core-properties"/>
    <ds:schemaRef ds:uri="http://purl.org/dc/terms/"/>
    <ds:schemaRef ds:uri="835f28f2-30f1-4728-84d2-86d96e143488"/>
    <ds:schemaRef ds:uri="341e6018-ac0a-4dfb-8409-db9e0d25502e"/>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SoftServeTemplate_Black</Template>
  <TotalTime>683</TotalTime>
  <Words>1987</Words>
  <Application>Microsoft Office PowerPoint</Application>
  <PresentationFormat>Widescreen</PresentationFormat>
  <Paragraphs>148</Paragraphs>
  <Slides>33</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33</vt:i4>
      </vt:variant>
    </vt:vector>
  </HeadingPairs>
  <TitlesOfParts>
    <vt:vector size="40" baseType="lpstr">
      <vt:lpstr>Open Sans</vt:lpstr>
      <vt:lpstr>Calibri</vt:lpstr>
      <vt:lpstr>Arial</vt:lpstr>
      <vt:lpstr>Courier New</vt:lpstr>
      <vt:lpstr>Proxima Nova Black</vt:lpstr>
      <vt:lpstr>DARK THEME</vt:lpstr>
      <vt:lpstr>LIGHT-THEME</vt:lpstr>
      <vt:lpstr>Conditional Rendering in React  </vt:lpstr>
      <vt:lpstr>What is conditional rendering in React? </vt:lpstr>
      <vt:lpstr>PowerPoint Presentation</vt:lpstr>
      <vt:lpstr>LIST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lpstr>PowerPoint Presentation</vt:lpstr>
      <vt:lpstr>PowerPoint Presentation</vt:lpstr>
      <vt:lpstr>PowerPoint Presentation</vt:lpstr>
      <vt:lpstr>CHILDREN TYPES</vt:lpstr>
      <vt:lpstr>PowerPoint Presentation</vt:lpstr>
      <vt:lpstr>QUESTIONS ?</vt:lpstr>
      <vt:lpstr>USED MATERIALS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Liubov Koliasa</dc:creator>
  <cp:lastModifiedBy>Vitaliy Tkachuk</cp:lastModifiedBy>
  <cp:revision>82</cp:revision>
  <dcterms:created xsi:type="dcterms:W3CDTF">2018-12-11T16:43:22Z</dcterms:created>
  <dcterms:modified xsi:type="dcterms:W3CDTF">2019-04-22T11:13:59Z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0x0101004195FC54A15F344D83577B1CDDD67A5D</vt:lpwstr>
  </property>
</Properties>
</file>